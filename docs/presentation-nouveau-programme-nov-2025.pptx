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0102be9308_0_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g30102be9308_0_4: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0102be9308_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0102be9308_0_1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0102be9308_0_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g30102be9308_0_2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1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1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0102be9308_0_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0102be9308_0_43: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102be9308_0_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g30102be9308_0_5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0102be9308_0_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g30102be9308_0_67: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0102be9308_0_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30102be9308_0_79: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0102be9308_0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0102be9308_0_105: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0102be9308_0_1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g30102be9308_0_141: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0102be9308_0_1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g30102be9308_0_120:notes"/>
          <p:cNvSpPr/>
          <p:nvPr>
            <p:ph idx="2" type="sldImg"/>
          </p:nvPr>
        </p:nvSpPr>
        <p:spPr>
          <a:xfrm>
            <a:off x="2032400" y="514350"/>
            <a:ext cx="8128500" cy="2571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2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30: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3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3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488314" y="149593"/>
            <a:ext cx="11215370" cy="9251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body"/>
          </p:nvPr>
        </p:nvSpPr>
        <p:spPr>
          <a:xfrm>
            <a:off x="466788" y="2167130"/>
            <a:ext cx="11258422" cy="445643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 name="Google Shape;14;p2"/>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7" name="Shape 17"/>
        <p:cNvGrpSpPr/>
        <p:nvPr/>
      </p:nvGrpSpPr>
      <p:grpSpPr>
        <a:xfrm>
          <a:off x="0" y="0"/>
          <a:ext cx="0" cy="0"/>
          <a:chOff x="0" y="0"/>
          <a:chExt cx="0" cy="0"/>
        </a:xfrm>
      </p:grpSpPr>
      <p:sp>
        <p:nvSpPr>
          <p:cNvPr id="18" name="Google Shape;18;p3"/>
          <p:cNvSpPr txBox="1"/>
          <p:nvPr>
            <p:ph type="title"/>
          </p:nvPr>
        </p:nvSpPr>
        <p:spPr>
          <a:xfrm>
            <a:off x="488314" y="149593"/>
            <a:ext cx="11215370" cy="9251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2" name="Shape 22"/>
        <p:cNvGrpSpPr/>
        <p:nvPr/>
      </p:nvGrpSpPr>
      <p:grpSpPr>
        <a:xfrm>
          <a:off x="0" y="0"/>
          <a:ext cx="0" cy="0"/>
          <a:chOff x="0" y="0"/>
          <a:chExt cx="0" cy="0"/>
        </a:xfrm>
      </p:grpSpPr>
      <p:sp>
        <p:nvSpPr>
          <p:cNvPr id="23" name="Google Shape;23;p4"/>
          <p:cNvSpPr txBox="1"/>
          <p:nvPr>
            <p:ph type="title"/>
          </p:nvPr>
        </p:nvSpPr>
        <p:spPr>
          <a:xfrm>
            <a:off x="488314" y="149593"/>
            <a:ext cx="11215370" cy="925194"/>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40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838200" y="1823720"/>
            <a:ext cx="5181600" cy="435356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4"/>
          <p:cNvSpPr txBox="1"/>
          <p:nvPr>
            <p:ph idx="2" type="body"/>
          </p:nvPr>
        </p:nvSpPr>
        <p:spPr>
          <a:xfrm>
            <a:off x="6278879"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4"/>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9" name="Shape 29"/>
        <p:cNvGrpSpPr/>
        <p:nvPr/>
      </p:nvGrpSpPr>
      <p:grpSpPr>
        <a:xfrm>
          <a:off x="0" y="0"/>
          <a:ext cx="0" cy="0"/>
          <a:chOff x="0" y="0"/>
          <a:chExt cx="0" cy="0"/>
        </a:xfrm>
      </p:grpSpPr>
      <p:sp>
        <p:nvSpPr>
          <p:cNvPr id="30" name="Google Shape;30;p5"/>
          <p:cNvSpPr txBox="1"/>
          <p:nvPr>
            <p:ph type="ctrTitle"/>
          </p:nvPr>
        </p:nvSpPr>
        <p:spPr>
          <a:xfrm>
            <a:off x="914400" y="2125980"/>
            <a:ext cx="10363200" cy="144017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subTitle"/>
          </p:nvPr>
        </p:nvSpPr>
        <p:spPr>
          <a:xfrm>
            <a:off x="1828800" y="3840480"/>
            <a:ext cx="8534399"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 name="Shape 35"/>
        <p:cNvGrpSpPr/>
        <p:nvPr/>
      </p:nvGrpSpPr>
      <p:grpSpPr>
        <a:xfrm>
          <a:off x="0" y="0"/>
          <a:ext cx="0" cy="0"/>
          <a:chOff x="0" y="0"/>
          <a:chExt cx="0" cy="0"/>
        </a:xfrm>
      </p:grpSpPr>
      <p:sp>
        <p:nvSpPr>
          <p:cNvPr id="36" name="Google Shape;36;p6"/>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88314" y="149593"/>
            <a:ext cx="11215370" cy="92519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66788" y="2167130"/>
            <a:ext cx="11258422" cy="445643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
          <p:cNvSpPr txBox="1"/>
          <p:nvPr>
            <p:ph idx="11" type="ftr"/>
          </p:nvPr>
        </p:nvSpPr>
        <p:spPr>
          <a:xfrm>
            <a:off x="4145280" y="6377940"/>
            <a:ext cx="3901439" cy="342900"/>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SzPts val="1400"/>
              <a:buNone/>
              <a:defRPr b="0" i="0" sz="1800" u="none" cap="none" strike="noStrike">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 name="Google Shape;9;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800" u="none" cap="none" strike="noStrike">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0" name="Google Shape;10;p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spcBef>
                <a:spcPts val="0"/>
              </a:spcBef>
              <a:buNone/>
              <a:defRPr b="0" i="0" sz="1800" u="none" cap="none" strike="noStrike">
                <a:solidFill>
                  <a:srgbClr val="888888"/>
                </a:solidFill>
              </a:defRPr>
            </a:lvl1pPr>
            <a:lvl2pPr indent="0" lvl="1" marL="0" marR="0" rtl="0" algn="r">
              <a:spcBef>
                <a:spcPts val="0"/>
              </a:spcBef>
              <a:buNone/>
              <a:defRPr b="0" i="0" sz="1800" u="none" cap="none" strike="noStrike">
                <a:solidFill>
                  <a:srgbClr val="888888"/>
                </a:solidFill>
              </a:defRPr>
            </a:lvl2pPr>
            <a:lvl3pPr indent="0" lvl="2" marL="0" marR="0" rtl="0" algn="r">
              <a:spcBef>
                <a:spcPts val="0"/>
              </a:spcBef>
              <a:buNone/>
              <a:defRPr b="0" i="0" sz="1800" u="none" cap="none" strike="noStrike">
                <a:solidFill>
                  <a:srgbClr val="888888"/>
                </a:solidFill>
              </a:defRPr>
            </a:lvl3pPr>
            <a:lvl4pPr indent="0" lvl="3" marL="0" marR="0" rtl="0" algn="r">
              <a:spcBef>
                <a:spcPts val="0"/>
              </a:spcBef>
              <a:buNone/>
              <a:defRPr b="0" i="0" sz="1800" u="none" cap="none" strike="noStrike">
                <a:solidFill>
                  <a:srgbClr val="888888"/>
                </a:solidFill>
              </a:defRPr>
            </a:lvl4pPr>
            <a:lvl5pPr indent="0" lvl="4" marL="0" marR="0" rtl="0" algn="r">
              <a:spcBef>
                <a:spcPts val="0"/>
              </a:spcBef>
              <a:buNone/>
              <a:defRPr b="0" i="0" sz="1800" u="none" cap="none" strike="noStrike">
                <a:solidFill>
                  <a:srgbClr val="888888"/>
                </a:solidFill>
              </a:defRPr>
            </a:lvl5pPr>
            <a:lvl6pPr indent="0" lvl="5" marL="0" marR="0" rtl="0" algn="r">
              <a:spcBef>
                <a:spcPts val="0"/>
              </a:spcBef>
              <a:buNone/>
              <a:defRPr b="0" i="0" sz="1800" u="none" cap="none" strike="noStrike">
                <a:solidFill>
                  <a:srgbClr val="888888"/>
                </a:solidFill>
              </a:defRPr>
            </a:lvl6pPr>
            <a:lvl7pPr indent="0" lvl="6" marL="0" marR="0" rtl="0" algn="r">
              <a:spcBef>
                <a:spcPts val="0"/>
              </a:spcBef>
              <a:buNone/>
              <a:defRPr b="0" i="0" sz="1800" u="none" cap="none" strike="noStrike">
                <a:solidFill>
                  <a:srgbClr val="888888"/>
                </a:solidFill>
              </a:defRPr>
            </a:lvl7pPr>
            <a:lvl8pPr indent="0" lvl="7" marL="0" marR="0" rtl="0" algn="r">
              <a:spcBef>
                <a:spcPts val="0"/>
              </a:spcBef>
              <a:buNone/>
              <a:defRPr b="0" i="0" sz="1800" u="none" cap="none" strike="noStrike">
                <a:solidFill>
                  <a:srgbClr val="888888"/>
                </a:solidFill>
              </a:defRPr>
            </a:lvl8pPr>
            <a:lvl9pPr indent="0" lvl="8" marL="0" marR="0" rtl="0" algn="r">
              <a:spcBef>
                <a:spcPts val="0"/>
              </a:spcBef>
              <a:buNone/>
              <a:defRPr b="0" i="0" sz="1800" u="none" cap="none" strike="noStrike">
                <a:solidFill>
                  <a:srgbClr val="888888"/>
                </a:solidFil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png"/><Relationship Id="rId7" Type="http://schemas.openxmlformats.org/officeDocument/2006/relationships/image" Target="../media/image13.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2.png"/><Relationship Id="rId13" Type="http://schemas.openxmlformats.org/officeDocument/2006/relationships/image" Target="../media/image30.png"/><Relationship Id="rId12" Type="http://schemas.openxmlformats.org/officeDocument/2006/relationships/image" Target="../media/image46.png"/><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8.png"/><Relationship Id="rId9" Type="http://schemas.openxmlformats.org/officeDocument/2006/relationships/image" Target="../media/image20.png"/><Relationship Id="rId15" Type="http://schemas.openxmlformats.org/officeDocument/2006/relationships/image" Target="../media/image27.png"/><Relationship Id="rId14" Type="http://schemas.openxmlformats.org/officeDocument/2006/relationships/image" Target="../media/image26.png"/><Relationship Id="rId17" Type="http://schemas.openxmlformats.org/officeDocument/2006/relationships/image" Target="../media/image23.png"/><Relationship Id="rId16"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25.png"/><Relationship Id="rId7" Type="http://schemas.openxmlformats.org/officeDocument/2006/relationships/image" Target="../media/image24.png"/><Relationship Id="rId8"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7.png"/><Relationship Id="rId4" Type="http://schemas.openxmlformats.org/officeDocument/2006/relationships/image" Target="../media/image32.png"/><Relationship Id="rId5" Type="http://schemas.openxmlformats.org/officeDocument/2006/relationships/image" Target="../media/image45.png"/><Relationship Id="rId6" Type="http://schemas.openxmlformats.org/officeDocument/2006/relationships/image" Target="../media/image35.png"/><Relationship Id="rId7"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37.png"/><Relationship Id="rId5"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9.jpg"/></Relationships>
</file>

<file path=ppt/slides/_rels/slide23.xml.rels><?xml version="1.0" encoding="UTF-8" standalone="yes"?><Relationships xmlns="http://schemas.openxmlformats.org/package/2006/relationships"><Relationship Id="rId20" Type="http://schemas.openxmlformats.org/officeDocument/2006/relationships/image" Target="../media/image56.png"/><Relationship Id="rId11" Type="http://schemas.openxmlformats.org/officeDocument/2006/relationships/image" Target="../media/image51.png"/><Relationship Id="rId10" Type="http://schemas.openxmlformats.org/officeDocument/2006/relationships/image" Target="../media/image48.png"/><Relationship Id="rId21" Type="http://schemas.openxmlformats.org/officeDocument/2006/relationships/image" Target="../media/image62.png"/><Relationship Id="rId13" Type="http://schemas.openxmlformats.org/officeDocument/2006/relationships/image" Target="../media/image61.png"/><Relationship Id="rId12" Type="http://schemas.openxmlformats.org/officeDocument/2006/relationships/image" Target="../media/image57.png"/><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image" Target="../media/image44.png"/><Relationship Id="rId9" Type="http://schemas.openxmlformats.org/officeDocument/2006/relationships/image" Target="../media/image58.png"/><Relationship Id="rId15" Type="http://schemas.openxmlformats.org/officeDocument/2006/relationships/image" Target="../media/image65.png"/><Relationship Id="rId14" Type="http://schemas.openxmlformats.org/officeDocument/2006/relationships/image" Target="../media/image55.png"/><Relationship Id="rId17" Type="http://schemas.openxmlformats.org/officeDocument/2006/relationships/image" Target="../media/image80.png"/><Relationship Id="rId16" Type="http://schemas.openxmlformats.org/officeDocument/2006/relationships/image" Target="../media/image67.png"/><Relationship Id="rId5" Type="http://schemas.openxmlformats.org/officeDocument/2006/relationships/image" Target="../media/image53.png"/><Relationship Id="rId19" Type="http://schemas.openxmlformats.org/officeDocument/2006/relationships/image" Target="../media/image71.png"/><Relationship Id="rId6" Type="http://schemas.openxmlformats.org/officeDocument/2006/relationships/image" Target="../media/image50.png"/><Relationship Id="rId18" Type="http://schemas.openxmlformats.org/officeDocument/2006/relationships/image" Target="../media/image60.png"/><Relationship Id="rId7" Type="http://schemas.openxmlformats.org/officeDocument/2006/relationships/image" Target="../media/image41.png"/><Relationship Id="rId8" Type="http://schemas.openxmlformats.org/officeDocument/2006/relationships/image" Target="../media/image52.png"/></Relationships>
</file>

<file path=ppt/slides/_rels/slide24.xml.rels><?xml version="1.0" encoding="UTF-8" standalone="yes"?><Relationships xmlns="http://schemas.openxmlformats.org/package/2006/relationships"><Relationship Id="rId11" Type="http://schemas.openxmlformats.org/officeDocument/2006/relationships/image" Target="../media/image79.png"/><Relationship Id="rId10" Type="http://schemas.openxmlformats.org/officeDocument/2006/relationships/image" Target="../media/image66.png"/><Relationship Id="rId13" Type="http://schemas.openxmlformats.org/officeDocument/2006/relationships/image" Target="../media/image77.png"/><Relationship Id="rId12" Type="http://schemas.openxmlformats.org/officeDocument/2006/relationships/image" Target="../media/image73.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3.png"/><Relationship Id="rId4" Type="http://schemas.openxmlformats.org/officeDocument/2006/relationships/image" Target="../media/image74.png"/><Relationship Id="rId9" Type="http://schemas.openxmlformats.org/officeDocument/2006/relationships/image" Target="../media/image59.png"/><Relationship Id="rId15" Type="http://schemas.openxmlformats.org/officeDocument/2006/relationships/image" Target="../media/image78.png"/><Relationship Id="rId14" Type="http://schemas.openxmlformats.org/officeDocument/2006/relationships/image" Target="../media/image75.png"/><Relationship Id="rId17" Type="http://schemas.openxmlformats.org/officeDocument/2006/relationships/image" Target="../media/image81.png"/><Relationship Id="rId16" Type="http://schemas.openxmlformats.org/officeDocument/2006/relationships/image" Target="../media/image86.png"/><Relationship Id="rId5" Type="http://schemas.openxmlformats.org/officeDocument/2006/relationships/image" Target="../media/image64.png"/><Relationship Id="rId19" Type="http://schemas.openxmlformats.org/officeDocument/2006/relationships/image" Target="../media/image87.jpg"/><Relationship Id="rId6" Type="http://schemas.openxmlformats.org/officeDocument/2006/relationships/image" Target="../media/image70.png"/><Relationship Id="rId18" Type="http://schemas.openxmlformats.org/officeDocument/2006/relationships/image" Target="../media/image76.png"/><Relationship Id="rId7" Type="http://schemas.openxmlformats.org/officeDocument/2006/relationships/image" Target="../media/image69.png"/><Relationship Id="rId8" Type="http://schemas.openxmlformats.org/officeDocument/2006/relationships/image" Target="../media/image72.png"/></Relationships>
</file>

<file path=ppt/slides/_rels/slide25.xml.rels><?xml version="1.0" encoding="UTF-8" standalone="yes"?><Relationships xmlns="http://schemas.openxmlformats.org/package/2006/relationships"><Relationship Id="rId11" Type="http://schemas.openxmlformats.org/officeDocument/2006/relationships/image" Target="../media/image85.png"/><Relationship Id="rId10" Type="http://schemas.openxmlformats.org/officeDocument/2006/relationships/image" Target="../media/image88.png"/><Relationship Id="rId13" Type="http://schemas.openxmlformats.org/officeDocument/2006/relationships/image" Target="../media/image91.png"/><Relationship Id="rId12" Type="http://schemas.openxmlformats.org/officeDocument/2006/relationships/image" Target="../media/image84.png"/><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2.png"/><Relationship Id="rId4" Type="http://schemas.openxmlformats.org/officeDocument/2006/relationships/image" Target="../media/image107.png"/><Relationship Id="rId9" Type="http://schemas.openxmlformats.org/officeDocument/2006/relationships/image" Target="../media/image94.png"/><Relationship Id="rId15" Type="http://schemas.openxmlformats.org/officeDocument/2006/relationships/image" Target="../media/image93.png"/><Relationship Id="rId14" Type="http://schemas.openxmlformats.org/officeDocument/2006/relationships/image" Target="../media/image100.png"/><Relationship Id="rId17" Type="http://schemas.openxmlformats.org/officeDocument/2006/relationships/image" Target="../media/image90.png"/><Relationship Id="rId16" Type="http://schemas.openxmlformats.org/officeDocument/2006/relationships/image" Target="../media/image95.png"/><Relationship Id="rId5" Type="http://schemas.openxmlformats.org/officeDocument/2006/relationships/image" Target="../media/image83.png"/><Relationship Id="rId6" Type="http://schemas.openxmlformats.org/officeDocument/2006/relationships/image" Target="../media/image89.png"/><Relationship Id="rId18" Type="http://schemas.openxmlformats.org/officeDocument/2006/relationships/image" Target="../media/image98.png"/><Relationship Id="rId7" Type="http://schemas.openxmlformats.org/officeDocument/2006/relationships/image" Target="../media/image102.png"/><Relationship Id="rId8" Type="http://schemas.openxmlformats.org/officeDocument/2006/relationships/image" Target="../media/image92.png"/></Relationships>
</file>

<file path=ppt/slides/_rels/slide26.xml.rels><?xml version="1.0" encoding="UTF-8" standalone="yes"?><Relationships xmlns="http://schemas.openxmlformats.org/package/2006/relationships"><Relationship Id="rId11" Type="http://schemas.openxmlformats.org/officeDocument/2006/relationships/image" Target="../media/image115.png"/><Relationship Id="rId10" Type="http://schemas.openxmlformats.org/officeDocument/2006/relationships/image" Target="../media/image109.png"/><Relationship Id="rId13" Type="http://schemas.openxmlformats.org/officeDocument/2006/relationships/image" Target="../media/image111.png"/><Relationship Id="rId12" Type="http://schemas.openxmlformats.org/officeDocument/2006/relationships/image" Target="../media/image103.png"/><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6.png"/><Relationship Id="rId4" Type="http://schemas.openxmlformats.org/officeDocument/2006/relationships/image" Target="../media/image101.png"/><Relationship Id="rId9" Type="http://schemas.openxmlformats.org/officeDocument/2006/relationships/image" Target="../media/image128.png"/><Relationship Id="rId15" Type="http://schemas.openxmlformats.org/officeDocument/2006/relationships/image" Target="../media/image129.png"/><Relationship Id="rId14" Type="http://schemas.openxmlformats.org/officeDocument/2006/relationships/image" Target="../media/image114.png"/><Relationship Id="rId17" Type="http://schemas.openxmlformats.org/officeDocument/2006/relationships/image" Target="../media/image113.png"/><Relationship Id="rId16" Type="http://schemas.openxmlformats.org/officeDocument/2006/relationships/image" Target="../media/image108.png"/><Relationship Id="rId5" Type="http://schemas.openxmlformats.org/officeDocument/2006/relationships/image" Target="../media/image106.png"/><Relationship Id="rId6" Type="http://schemas.openxmlformats.org/officeDocument/2006/relationships/image" Target="../media/image97.png"/><Relationship Id="rId18" Type="http://schemas.openxmlformats.org/officeDocument/2006/relationships/image" Target="../media/image110.png"/><Relationship Id="rId7" Type="http://schemas.openxmlformats.org/officeDocument/2006/relationships/image" Target="../media/image99.png"/><Relationship Id="rId8" Type="http://schemas.openxmlformats.org/officeDocument/2006/relationships/image" Target="../media/image104.png"/></Relationships>
</file>

<file path=ppt/slides/_rels/slide27.xml.rels><?xml version="1.0" encoding="UTF-8" standalone="yes"?><Relationships xmlns="http://schemas.openxmlformats.org/package/2006/relationships"><Relationship Id="rId11" Type="http://schemas.openxmlformats.org/officeDocument/2006/relationships/image" Target="../media/image117.png"/><Relationship Id="rId10" Type="http://schemas.openxmlformats.org/officeDocument/2006/relationships/image" Target="../media/image119.png"/><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5.png"/><Relationship Id="rId4" Type="http://schemas.openxmlformats.org/officeDocument/2006/relationships/image" Target="../media/image112.png"/><Relationship Id="rId9" Type="http://schemas.openxmlformats.org/officeDocument/2006/relationships/image" Target="../media/image116.png"/><Relationship Id="rId5" Type="http://schemas.openxmlformats.org/officeDocument/2006/relationships/image" Target="../media/image125.png"/><Relationship Id="rId6" Type="http://schemas.openxmlformats.org/officeDocument/2006/relationships/image" Target="../media/image124.png"/><Relationship Id="rId7" Type="http://schemas.openxmlformats.org/officeDocument/2006/relationships/image" Target="../media/image122.png"/><Relationship Id="rId8" Type="http://schemas.openxmlformats.org/officeDocument/2006/relationships/image" Target="../media/image118.png"/></Relationships>
</file>

<file path=ppt/slides/_rels/slide28.xml.rels><?xml version="1.0" encoding="UTF-8" standalone="yes"?><Relationships xmlns="http://schemas.openxmlformats.org/package/2006/relationships"><Relationship Id="rId10" Type="http://schemas.openxmlformats.org/officeDocument/2006/relationships/image" Target="../media/image126.png"/><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1.png"/><Relationship Id="rId4" Type="http://schemas.openxmlformats.org/officeDocument/2006/relationships/image" Target="../media/image123.png"/><Relationship Id="rId9" Type="http://schemas.openxmlformats.org/officeDocument/2006/relationships/image" Target="../media/image130.png"/><Relationship Id="rId5" Type="http://schemas.openxmlformats.org/officeDocument/2006/relationships/image" Target="../media/image120.png"/><Relationship Id="rId6" Type="http://schemas.openxmlformats.org/officeDocument/2006/relationships/image" Target="../media/image131.png"/><Relationship Id="rId7" Type="http://schemas.openxmlformats.org/officeDocument/2006/relationships/image" Target="../media/image127.png"/><Relationship Id="rId8" Type="http://schemas.openxmlformats.org/officeDocument/2006/relationships/image" Target="../media/image1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7"/>
          <p:cNvSpPr txBox="1"/>
          <p:nvPr/>
        </p:nvSpPr>
        <p:spPr>
          <a:xfrm>
            <a:off x="467359" y="2169377"/>
            <a:ext cx="8159100" cy="1280700"/>
          </a:xfrm>
          <a:prstGeom prst="rect">
            <a:avLst/>
          </a:prstGeom>
          <a:noFill/>
          <a:ln>
            <a:noFill/>
          </a:ln>
        </p:spPr>
        <p:txBody>
          <a:bodyPr anchorCtr="0" anchor="t" bIns="0" lIns="0" spcFirstLastPara="1" rIns="0" wrap="square" tIns="0">
            <a:spAutoFit/>
          </a:bodyPr>
          <a:lstStyle/>
          <a:p>
            <a:pPr indent="0" lvl="0" marL="12700" marR="5080" rtl="0" algn="l">
              <a:lnSpc>
                <a:spcPct val="108000"/>
              </a:lnSpc>
              <a:spcBef>
                <a:spcPts val="0"/>
              </a:spcBef>
              <a:spcAft>
                <a:spcPts val="0"/>
              </a:spcAft>
              <a:buNone/>
            </a:pPr>
            <a:r>
              <a:rPr b="1" lang="en-US" sz="4000"/>
              <a:t>PRÉSENTATION</a:t>
            </a:r>
            <a:r>
              <a:rPr b="1" i="0" lang="en-US" sz="4000" u="none" cap="none" strike="noStrike">
                <a:latin typeface="Arial"/>
                <a:ea typeface="Arial"/>
                <a:cs typeface="Arial"/>
                <a:sym typeface="Arial"/>
              </a:rPr>
              <a:t> DU NOUVEAU PROGRAMME DE TECHNOLOGIE</a:t>
            </a:r>
            <a:endParaRPr b="0" i="0" sz="4000" u="none" cap="none" strike="noStrike">
              <a:latin typeface="Arial"/>
              <a:ea typeface="Arial"/>
              <a:cs typeface="Arial"/>
              <a:sym typeface="Arial"/>
            </a:endParaRPr>
          </a:p>
        </p:txBody>
      </p:sp>
      <p:sp>
        <p:nvSpPr>
          <p:cNvPr id="44" name="Google Shape;44;p7"/>
          <p:cNvSpPr txBox="1"/>
          <p:nvPr/>
        </p:nvSpPr>
        <p:spPr>
          <a:xfrm>
            <a:off x="467359" y="3857620"/>
            <a:ext cx="6414000" cy="1845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3200"/>
              <a:t>Novembre 2025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Times New Roman"/>
              <a:ea typeface="Times New Roman"/>
              <a:cs typeface="Times New Roman"/>
              <a:sym typeface="Times New Roman"/>
            </a:endParaRPr>
          </a:p>
          <a:p>
            <a:pPr indent="0" lvl="0" marL="12700" marR="0" rtl="0" algn="l">
              <a:lnSpc>
                <a:spcPct val="100000"/>
              </a:lnSpc>
              <a:spcBef>
                <a:spcPts val="2865"/>
              </a:spcBef>
              <a:spcAft>
                <a:spcPts val="0"/>
              </a:spcAft>
              <a:buNone/>
            </a:pPr>
            <a:r>
              <a:rPr b="0" i="1" lang="en-US" sz="3200" u="none" cap="none" strike="noStrike">
                <a:latin typeface="Arial"/>
                <a:ea typeface="Arial"/>
                <a:cs typeface="Arial"/>
                <a:sym typeface="Arial"/>
              </a:rPr>
              <a:t>BONJOUR À TOUTES ET À TOUS</a:t>
            </a:r>
            <a:endParaRPr b="0" i="0" sz="3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8" name="Shape 48"/>
        <p:cNvGrpSpPr/>
        <p:nvPr/>
      </p:nvGrpSpPr>
      <p:grpSpPr>
        <a:xfrm>
          <a:off x="0" y="0"/>
          <a:ext cx="0" cy="0"/>
          <a:chOff x="0" y="0"/>
          <a:chExt cx="0" cy="0"/>
        </a:xfrm>
      </p:grpSpPr>
      <p:sp>
        <p:nvSpPr>
          <p:cNvPr id="49" name="Google Shape;49;p8"/>
          <p:cNvSpPr txBox="1"/>
          <p:nvPr>
            <p:ph type="title"/>
          </p:nvPr>
        </p:nvSpPr>
        <p:spPr>
          <a:xfrm>
            <a:off x="1544052" y="505750"/>
            <a:ext cx="8442300" cy="523200"/>
          </a:xfrm>
          <a:prstGeom prst="rect">
            <a:avLst/>
          </a:prstGeom>
          <a:noFill/>
          <a:ln>
            <a:noFill/>
          </a:ln>
        </p:spPr>
        <p:txBody>
          <a:bodyPr anchorCtr="0" anchor="t" bIns="0" lIns="0" spcFirstLastPara="1" rIns="0" wrap="square" tIns="0">
            <a:spAutoFit/>
          </a:bodyPr>
          <a:lstStyle/>
          <a:p>
            <a:pPr indent="0" lvl="0" marL="615315" rtl="0" algn="l">
              <a:lnSpc>
                <a:spcPct val="100000"/>
              </a:lnSpc>
              <a:spcBef>
                <a:spcPts val="0"/>
              </a:spcBef>
              <a:spcAft>
                <a:spcPts val="0"/>
              </a:spcAft>
              <a:buNone/>
            </a:pPr>
            <a:r>
              <a:rPr lang="en-US">
                <a:latin typeface="Arial"/>
                <a:ea typeface="Arial"/>
                <a:cs typeface="Arial"/>
                <a:sym typeface="Arial"/>
              </a:rPr>
              <a:t>Les </a:t>
            </a:r>
            <a:r>
              <a:rPr lang="en-US"/>
              <a:t>points à travailler et à expliciter</a:t>
            </a:r>
            <a:endParaRPr/>
          </a:p>
        </p:txBody>
      </p:sp>
      <p:sp>
        <p:nvSpPr>
          <p:cNvPr id="50" name="Google Shape;50;p8"/>
          <p:cNvSpPr/>
          <p:nvPr/>
        </p:nvSpPr>
        <p:spPr>
          <a:xfrm>
            <a:off x="434340" y="1290319"/>
            <a:ext cx="3599434" cy="219481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1" name="Google Shape;51;p8"/>
          <p:cNvSpPr txBox="1"/>
          <p:nvPr/>
        </p:nvSpPr>
        <p:spPr>
          <a:xfrm>
            <a:off x="1176972" y="1980195"/>
            <a:ext cx="2114550" cy="775335"/>
          </a:xfrm>
          <a:prstGeom prst="rect">
            <a:avLst/>
          </a:prstGeom>
          <a:noFill/>
          <a:ln>
            <a:noFill/>
          </a:ln>
        </p:spPr>
        <p:txBody>
          <a:bodyPr anchorCtr="0" anchor="t" bIns="0" lIns="0" spcFirstLastPara="1" rIns="0" wrap="square" tIns="0">
            <a:spAutoFit/>
          </a:bodyPr>
          <a:lstStyle/>
          <a:p>
            <a:pPr indent="0" lvl="0" marL="0" marR="0" rtl="0" algn="ctr">
              <a:lnSpc>
                <a:spcPct val="111724"/>
              </a:lnSpc>
              <a:spcBef>
                <a:spcPts val="0"/>
              </a:spcBef>
              <a:spcAft>
                <a:spcPts val="0"/>
              </a:spcAft>
              <a:buNone/>
            </a:pPr>
            <a:r>
              <a:rPr lang="en-US" sz="2900">
                <a:latin typeface="Arial"/>
                <a:ea typeface="Arial"/>
                <a:cs typeface="Arial"/>
                <a:sym typeface="Arial"/>
              </a:rPr>
              <a:t>Structuration</a:t>
            </a:r>
            <a:endParaRPr sz="2900">
              <a:latin typeface="Arial"/>
              <a:ea typeface="Arial"/>
              <a:cs typeface="Arial"/>
              <a:sym typeface="Arial"/>
            </a:endParaRPr>
          </a:p>
          <a:p>
            <a:pPr indent="0" lvl="0" marL="0" marR="0" rtl="0" algn="ctr">
              <a:lnSpc>
                <a:spcPct val="111724"/>
              </a:lnSpc>
              <a:spcBef>
                <a:spcPts val="0"/>
              </a:spcBef>
              <a:spcAft>
                <a:spcPts val="0"/>
              </a:spcAft>
              <a:buNone/>
            </a:pPr>
            <a:r>
              <a:rPr lang="en-US" sz="2900">
                <a:latin typeface="Arial"/>
                <a:ea typeface="Arial"/>
                <a:cs typeface="Arial"/>
                <a:sym typeface="Arial"/>
              </a:rPr>
              <a:t>didactique</a:t>
            </a:r>
            <a:endParaRPr sz="2900">
              <a:latin typeface="Arial"/>
              <a:ea typeface="Arial"/>
              <a:cs typeface="Arial"/>
              <a:sym typeface="Arial"/>
            </a:endParaRPr>
          </a:p>
        </p:txBody>
      </p:sp>
      <p:sp>
        <p:nvSpPr>
          <p:cNvPr id="52" name="Google Shape;52;p8"/>
          <p:cNvSpPr/>
          <p:nvPr/>
        </p:nvSpPr>
        <p:spPr>
          <a:xfrm>
            <a:off x="4193540" y="1252219"/>
            <a:ext cx="3701034" cy="227355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3" name="Google Shape;53;p8"/>
          <p:cNvSpPr txBox="1"/>
          <p:nvPr/>
        </p:nvSpPr>
        <p:spPr>
          <a:xfrm>
            <a:off x="4439680" y="1418600"/>
            <a:ext cx="3308700" cy="1579500"/>
          </a:xfrm>
          <a:prstGeom prst="rect">
            <a:avLst/>
          </a:prstGeom>
          <a:noFill/>
          <a:ln>
            <a:noFill/>
          </a:ln>
        </p:spPr>
        <p:txBody>
          <a:bodyPr anchorCtr="0" anchor="t" bIns="0" lIns="0" spcFirstLastPara="1" rIns="0" wrap="square" tIns="0">
            <a:spAutoFit/>
          </a:bodyPr>
          <a:lstStyle/>
          <a:p>
            <a:pPr indent="0" lvl="0" marL="12700" marR="5080" rtl="0" algn="l">
              <a:lnSpc>
                <a:spcPct val="103448"/>
              </a:lnSpc>
              <a:spcBef>
                <a:spcPts val="0"/>
              </a:spcBef>
              <a:spcAft>
                <a:spcPts val="0"/>
              </a:spcAft>
              <a:buNone/>
            </a:pPr>
            <a:r>
              <a:rPr lang="en-US" sz="2900">
                <a:latin typeface="Arial"/>
                <a:ea typeface="Arial"/>
                <a:cs typeface="Arial"/>
                <a:sym typeface="Arial"/>
              </a:rPr>
              <a:t>Structuration pédagogique</a:t>
            </a:r>
            <a:endParaRPr sz="2900">
              <a:latin typeface="Arial"/>
              <a:ea typeface="Arial"/>
              <a:cs typeface="Arial"/>
              <a:sym typeface="Arial"/>
            </a:endParaRPr>
          </a:p>
          <a:p>
            <a:pPr indent="-196850" lvl="0" marL="241300" marR="0" rtl="0" algn="l">
              <a:lnSpc>
                <a:spcPct val="100000"/>
              </a:lnSpc>
              <a:spcBef>
                <a:spcPts val="775"/>
              </a:spcBef>
              <a:spcAft>
                <a:spcPts val="0"/>
              </a:spcAft>
              <a:buSzPts val="1800"/>
              <a:buFont typeface="Arial"/>
              <a:buChar char="•"/>
            </a:pPr>
            <a:r>
              <a:rPr lang="en-US" sz="1800">
                <a:latin typeface="Arial"/>
                <a:ea typeface="Arial"/>
                <a:cs typeface="Arial"/>
                <a:sym typeface="Arial"/>
              </a:rPr>
              <a:t>Des exemples</a:t>
            </a:r>
            <a:endParaRPr sz="1800">
              <a:latin typeface="Arial"/>
              <a:ea typeface="Arial"/>
              <a:cs typeface="Arial"/>
              <a:sym typeface="Arial"/>
            </a:endParaRPr>
          </a:p>
          <a:p>
            <a:pPr indent="-196850" lvl="0" marL="241300" marR="0" rtl="0" algn="l">
              <a:lnSpc>
                <a:spcPct val="111739"/>
              </a:lnSpc>
              <a:spcBef>
                <a:spcPts val="20"/>
              </a:spcBef>
              <a:spcAft>
                <a:spcPts val="0"/>
              </a:spcAft>
              <a:buSzPts val="1800"/>
              <a:buFont typeface="Arial"/>
              <a:buChar char="•"/>
            </a:pPr>
            <a:r>
              <a:rPr lang="en-US" sz="1800">
                <a:latin typeface="Arial"/>
                <a:ea typeface="Arial"/>
                <a:cs typeface="Arial"/>
                <a:sym typeface="Arial"/>
              </a:rPr>
              <a:t>Des outils de</a:t>
            </a:r>
            <a:r>
              <a:rPr lang="en-US" sz="1800"/>
              <a:t> </a:t>
            </a:r>
            <a:r>
              <a:rPr lang="en-US" sz="1800">
                <a:latin typeface="Arial"/>
                <a:ea typeface="Arial"/>
                <a:cs typeface="Arial"/>
                <a:sym typeface="Arial"/>
              </a:rPr>
              <a:t>formalisation</a:t>
            </a:r>
            <a:endParaRPr sz="1800">
              <a:latin typeface="Arial"/>
              <a:ea typeface="Arial"/>
              <a:cs typeface="Arial"/>
              <a:sym typeface="Arial"/>
            </a:endParaRPr>
          </a:p>
        </p:txBody>
      </p:sp>
      <p:sp>
        <p:nvSpPr>
          <p:cNvPr id="54" name="Google Shape;54;p8"/>
          <p:cNvSpPr/>
          <p:nvPr/>
        </p:nvSpPr>
        <p:spPr>
          <a:xfrm>
            <a:off x="8155940" y="1290319"/>
            <a:ext cx="3599434" cy="219481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5" name="Google Shape;55;p8"/>
          <p:cNvSpPr txBox="1"/>
          <p:nvPr/>
        </p:nvSpPr>
        <p:spPr>
          <a:xfrm>
            <a:off x="8736076" y="1980195"/>
            <a:ext cx="2440940" cy="775335"/>
          </a:xfrm>
          <a:prstGeom prst="rect">
            <a:avLst/>
          </a:prstGeom>
          <a:noFill/>
          <a:ln>
            <a:noFill/>
          </a:ln>
        </p:spPr>
        <p:txBody>
          <a:bodyPr anchorCtr="0" anchor="t" bIns="0" lIns="0" spcFirstLastPara="1" rIns="0" wrap="square" tIns="0">
            <a:spAutoFit/>
          </a:bodyPr>
          <a:lstStyle/>
          <a:p>
            <a:pPr indent="0" lvl="0" marL="0" marR="0" rtl="0" algn="ctr">
              <a:lnSpc>
                <a:spcPct val="111724"/>
              </a:lnSpc>
              <a:spcBef>
                <a:spcPts val="0"/>
              </a:spcBef>
              <a:spcAft>
                <a:spcPts val="0"/>
              </a:spcAft>
              <a:buNone/>
            </a:pPr>
            <a:r>
              <a:rPr lang="en-US" sz="2900">
                <a:latin typeface="Arial"/>
                <a:ea typeface="Arial"/>
                <a:cs typeface="Arial"/>
                <a:sym typeface="Arial"/>
              </a:rPr>
              <a:t>Conseil sur les</a:t>
            </a:r>
            <a:endParaRPr sz="2900">
              <a:latin typeface="Arial"/>
              <a:ea typeface="Arial"/>
              <a:cs typeface="Arial"/>
              <a:sym typeface="Arial"/>
            </a:endParaRPr>
          </a:p>
          <a:p>
            <a:pPr indent="0" lvl="0" marL="3810" marR="0" rtl="0" algn="ctr">
              <a:lnSpc>
                <a:spcPct val="111724"/>
              </a:lnSpc>
              <a:spcBef>
                <a:spcPts val="0"/>
              </a:spcBef>
              <a:spcAft>
                <a:spcPts val="0"/>
              </a:spcAft>
              <a:buNone/>
            </a:pPr>
            <a:r>
              <a:rPr lang="en-US" sz="2900">
                <a:latin typeface="Arial"/>
                <a:ea typeface="Arial"/>
                <a:cs typeface="Arial"/>
                <a:sym typeface="Arial"/>
              </a:rPr>
              <a:t>équipements</a:t>
            </a:r>
            <a:endParaRPr sz="2900">
              <a:latin typeface="Arial"/>
              <a:ea typeface="Arial"/>
              <a:cs typeface="Arial"/>
              <a:sym typeface="Arial"/>
            </a:endParaRPr>
          </a:p>
        </p:txBody>
      </p:sp>
      <p:sp>
        <p:nvSpPr>
          <p:cNvPr id="56" name="Google Shape;56;p8"/>
          <p:cNvSpPr/>
          <p:nvPr/>
        </p:nvSpPr>
        <p:spPr>
          <a:xfrm>
            <a:off x="434340" y="3749040"/>
            <a:ext cx="3599434" cy="219481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7" name="Google Shape;57;p8"/>
          <p:cNvSpPr txBox="1"/>
          <p:nvPr/>
        </p:nvSpPr>
        <p:spPr>
          <a:xfrm>
            <a:off x="1197292" y="4438022"/>
            <a:ext cx="2072005" cy="775335"/>
          </a:xfrm>
          <a:prstGeom prst="rect">
            <a:avLst/>
          </a:prstGeom>
          <a:noFill/>
          <a:ln>
            <a:noFill/>
          </a:ln>
        </p:spPr>
        <p:txBody>
          <a:bodyPr anchorCtr="0" anchor="t" bIns="0" lIns="0" spcFirstLastPara="1" rIns="0" wrap="square" tIns="0">
            <a:spAutoFit/>
          </a:bodyPr>
          <a:lstStyle/>
          <a:p>
            <a:pPr indent="0" lvl="0" marL="0" marR="0" rtl="0" algn="ctr">
              <a:lnSpc>
                <a:spcPct val="111724"/>
              </a:lnSpc>
              <a:spcBef>
                <a:spcPts val="0"/>
              </a:spcBef>
              <a:spcAft>
                <a:spcPts val="0"/>
              </a:spcAft>
              <a:buNone/>
            </a:pPr>
            <a:r>
              <a:rPr lang="en-US" sz="2900">
                <a:latin typeface="Arial"/>
                <a:ea typeface="Arial"/>
                <a:cs typeface="Arial"/>
                <a:sym typeface="Arial"/>
              </a:rPr>
              <a:t>Enseigner la</a:t>
            </a:r>
            <a:endParaRPr sz="2900">
              <a:latin typeface="Arial"/>
              <a:ea typeface="Arial"/>
              <a:cs typeface="Arial"/>
              <a:sym typeface="Arial"/>
            </a:endParaRPr>
          </a:p>
          <a:p>
            <a:pPr indent="0" lvl="0" marL="0" marR="0" rtl="0" algn="ctr">
              <a:lnSpc>
                <a:spcPct val="111724"/>
              </a:lnSpc>
              <a:spcBef>
                <a:spcPts val="0"/>
              </a:spcBef>
              <a:spcAft>
                <a:spcPts val="0"/>
              </a:spcAft>
              <a:buNone/>
            </a:pPr>
            <a:r>
              <a:rPr lang="en-US" sz="2900">
                <a:latin typeface="Arial"/>
                <a:ea typeface="Arial"/>
                <a:cs typeface="Arial"/>
                <a:sym typeface="Arial"/>
              </a:rPr>
              <a:t>réparation</a:t>
            </a:r>
            <a:endParaRPr sz="2900">
              <a:latin typeface="Arial"/>
              <a:ea typeface="Arial"/>
              <a:cs typeface="Arial"/>
              <a:sym typeface="Arial"/>
            </a:endParaRPr>
          </a:p>
        </p:txBody>
      </p:sp>
      <p:sp>
        <p:nvSpPr>
          <p:cNvPr id="58" name="Google Shape;58;p8"/>
          <p:cNvSpPr/>
          <p:nvPr/>
        </p:nvSpPr>
        <p:spPr>
          <a:xfrm>
            <a:off x="4295140" y="3749040"/>
            <a:ext cx="3599434" cy="219481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9" name="Google Shape;59;p8"/>
          <p:cNvSpPr txBox="1"/>
          <p:nvPr/>
        </p:nvSpPr>
        <p:spPr>
          <a:xfrm>
            <a:off x="4988178" y="4438022"/>
            <a:ext cx="2216150" cy="775335"/>
          </a:xfrm>
          <a:prstGeom prst="rect">
            <a:avLst/>
          </a:prstGeom>
          <a:noFill/>
          <a:ln>
            <a:noFill/>
          </a:ln>
        </p:spPr>
        <p:txBody>
          <a:bodyPr anchorCtr="0" anchor="t" bIns="0" lIns="0" spcFirstLastPara="1" rIns="0" wrap="square" tIns="0">
            <a:spAutoFit/>
          </a:bodyPr>
          <a:lstStyle/>
          <a:p>
            <a:pPr indent="0" lvl="0" marL="3175" marR="0" rtl="0" algn="ctr">
              <a:lnSpc>
                <a:spcPct val="111724"/>
              </a:lnSpc>
              <a:spcBef>
                <a:spcPts val="0"/>
              </a:spcBef>
              <a:spcAft>
                <a:spcPts val="0"/>
              </a:spcAft>
              <a:buNone/>
            </a:pPr>
            <a:r>
              <a:rPr lang="en-US" sz="2900">
                <a:latin typeface="Arial"/>
                <a:ea typeface="Arial"/>
                <a:cs typeface="Arial"/>
                <a:sym typeface="Arial"/>
              </a:rPr>
              <a:t>Enseigner</a:t>
            </a:r>
            <a:endParaRPr sz="2900">
              <a:latin typeface="Arial"/>
              <a:ea typeface="Arial"/>
              <a:cs typeface="Arial"/>
              <a:sym typeface="Arial"/>
            </a:endParaRPr>
          </a:p>
          <a:p>
            <a:pPr indent="0" lvl="0" marL="0" marR="0" rtl="0" algn="ctr">
              <a:lnSpc>
                <a:spcPct val="111724"/>
              </a:lnSpc>
              <a:spcBef>
                <a:spcPts val="0"/>
              </a:spcBef>
              <a:spcAft>
                <a:spcPts val="0"/>
              </a:spcAft>
              <a:buNone/>
            </a:pPr>
            <a:r>
              <a:rPr lang="en-US" sz="2900">
                <a:latin typeface="Arial"/>
                <a:ea typeface="Arial"/>
                <a:cs typeface="Arial"/>
                <a:sym typeface="Arial"/>
              </a:rPr>
              <a:t>l’informatique</a:t>
            </a:r>
            <a:endParaRPr sz="2900">
              <a:latin typeface="Arial"/>
              <a:ea typeface="Arial"/>
              <a:cs typeface="Arial"/>
              <a:sym typeface="Arial"/>
            </a:endParaRPr>
          </a:p>
        </p:txBody>
      </p:sp>
      <p:sp>
        <p:nvSpPr>
          <p:cNvPr id="60" name="Google Shape;60;p8"/>
          <p:cNvSpPr/>
          <p:nvPr/>
        </p:nvSpPr>
        <p:spPr>
          <a:xfrm>
            <a:off x="8155940" y="3749040"/>
            <a:ext cx="3599434" cy="21948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1" name="Google Shape;61;p8"/>
          <p:cNvSpPr txBox="1"/>
          <p:nvPr/>
        </p:nvSpPr>
        <p:spPr>
          <a:xfrm>
            <a:off x="8840469" y="4438022"/>
            <a:ext cx="2235835" cy="775335"/>
          </a:xfrm>
          <a:prstGeom prst="rect">
            <a:avLst/>
          </a:prstGeom>
          <a:noFill/>
          <a:ln>
            <a:noFill/>
          </a:ln>
        </p:spPr>
        <p:txBody>
          <a:bodyPr anchorCtr="0" anchor="t" bIns="0" lIns="0" spcFirstLastPara="1" rIns="0" wrap="square" tIns="0">
            <a:spAutoFit/>
          </a:bodyPr>
          <a:lstStyle/>
          <a:p>
            <a:pPr indent="0" lvl="0" marL="0" marR="0" rtl="0" algn="ctr">
              <a:lnSpc>
                <a:spcPct val="111724"/>
              </a:lnSpc>
              <a:spcBef>
                <a:spcPts val="0"/>
              </a:spcBef>
              <a:spcAft>
                <a:spcPts val="0"/>
              </a:spcAft>
              <a:buNone/>
            </a:pPr>
            <a:r>
              <a:rPr lang="en-US" sz="2900">
                <a:latin typeface="Arial"/>
                <a:ea typeface="Arial"/>
                <a:cs typeface="Arial"/>
                <a:sym typeface="Arial"/>
              </a:rPr>
              <a:t>Les temps de</a:t>
            </a:r>
            <a:endParaRPr sz="2900">
              <a:latin typeface="Arial"/>
              <a:ea typeface="Arial"/>
              <a:cs typeface="Arial"/>
              <a:sym typeface="Arial"/>
            </a:endParaRPr>
          </a:p>
          <a:p>
            <a:pPr indent="0" lvl="0" marL="635" marR="0" rtl="0" algn="ctr">
              <a:lnSpc>
                <a:spcPct val="111724"/>
              </a:lnSpc>
              <a:spcBef>
                <a:spcPts val="0"/>
              </a:spcBef>
              <a:spcAft>
                <a:spcPts val="0"/>
              </a:spcAft>
              <a:buNone/>
            </a:pPr>
            <a:r>
              <a:rPr lang="en-US" sz="2900">
                <a:latin typeface="Arial"/>
                <a:ea typeface="Arial"/>
                <a:cs typeface="Arial"/>
                <a:sym typeface="Arial"/>
              </a:rPr>
              <a:t>formation</a:t>
            </a:r>
            <a:endParaRPr sz="29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5" name="Shape 65"/>
        <p:cNvGrpSpPr/>
        <p:nvPr/>
      </p:nvGrpSpPr>
      <p:grpSpPr>
        <a:xfrm>
          <a:off x="0" y="0"/>
          <a:ext cx="0" cy="0"/>
          <a:chOff x="0" y="0"/>
          <a:chExt cx="0" cy="0"/>
        </a:xfrm>
      </p:grpSpPr>
      <p:sp>
        <p:nvSpPr>
          <p:cNvPr id="66" name="Google Shape;66;p9"/>
          <p:cNvSpPr txBox="1"/>
          <p:nvPr>
            <p:ph type="title"/>
          </p:nvPr>
        </p:nvSpPr>
        <p:spPr>
          <a:xfrm>
            <a:off x="488314" y="149593"/>
            <a:ext cx="11215500" cy="1120500"/>
          </a:xfrm>
          <a:prstGeom prst="rect">
            <a:avLst/>
          </a:prstGeom>
          <a:noFill/>
          <a:ln>
            <a:noFill/>
          </a:ln>
        </p:spPr>
        <p:txBody>
          <a:bodyPr anchorCtr="0" anchor="t" bIns="0" lIns="0" spcFirstLastPara="1" rIns="0" wrap="square" tIns="0">
            <a:spAutoFit/>
          </a:bodyPr>
          <a:lstStyle/>
          <a:p>
            <a:pPr indent="0" lvl="0" marL="615315" rtl="0" algn="ctr">
              <a:lnSpc>
                <a:spcPct val="114088"/>
              </a:lnSpc>
              <a:spcBef>
                <a:spcPts val="0"/>
              </a:spcBef>
              <a:spcAft>
                <a:spcPts val="0"/>
              </a:spcAft>
              <a:buNone/>
            </a:pPr>
            <a:r>
              <a:rPr lang="en-US"/>
              <a:t>Un nouveau programme : une histoire, un contexte,</a:t>
            </a:r>
            <a:endParaRPr/>
          </a:p>
          <a:p>
            <a:pPr indent="0" lvl="0" marL="615315" rtl="0" algn="ctr">
              <a:lnSpc>
                <a:spcPct val="114088"/>
              </a:lnSpc>
              <a:spcBef>
                <a:spcPts val="0"/>
              </a:spcBef>
              <a:spcAft>
                <a:spcPts val="0"/>
              </a:spcAft>
              <a:buNone/>
            </a:pPr>
            <a:r>
              <a:rPr lang="en-US"/>
              <a:t>des objectifs</a:t>
            </a:r>
            <a:endParaRPr/>
          </a:p>
        </p:txBody>
      </p:sp>
      <p:sp>
        <p:nvSpPr>
          <p:cNvPr id="67" name="Google Shape;67;p9"/>
          <p:cNvSpPr/>
          <p:nvPr/>
        </p:nvSpPr>
        <p:spPr>
          <a:xfrm>
            <a:off x="347975" y="1259851"/>
            <a:ext cx="3685800" cy="2350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68" name="Google Shape;68;p9"/>
          <p:cNvSpPr txBox="1"/>
          <p:nvPr/>
        </p:nvSpPr>
        <p:spPr>
          <a:xfrm>
            <a:off x="561975" y="1403885"/>
            <a:ext cx="3131820" cy="191960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500">
                <a:latin typeface="Arial"/>
                <a:ea typeface="Arial"/>
                <a:cs typeface="Arial"/>
                <a:sym typeface="Arial"/>
              </a:rPr>
              <a:t>Des enjeux multiples :</a:t>
            </a:r>
            <a:endParaRPr sz="2500">
              <a:latin typeface="Arial"/>
              <a:ea typeface="Arial"/>
              <a:cs typeface="Arial"/>
              <a:sym typeface="Arial"/>
            </a:endParaRPr>
          </a:p>
          <a:p>
            <a:pPr indent="-228600" lvl="0" marL="241300" marR="0" rtl="0" algn="l">
              <a:lnSpc>
                <a:spcPct val="112000"/>
              </a:lnSpc>
              <a:spcBef>
                <a:spcPts val="680"/>
              </a:spcBef>
              <a:spcAft>
                <a:spcPts val="0"/>
              </a:spcAft>
              <a:buSzPts val="2000"/>
              <a:buFont typeface="Arial"/>
              <a:buChar char="•"/>
            </a:pPr>
            <a:r>
              <a:rPr lang="en-US" sz="2000">
                <a:latin typeface="Arial"/>
                <a:ea typeface="Arial"/>
                <a:cs typeface="Arial"/>
                <a:sym typeface="Arial"/>
              </a:rPr>
              <a:t>La technologie d’hier,</a:t>
            </a:r>
            <a:endParaRPr sz="2000">
              <a:latin typeface="Arial"/>
              <a:ea typeface="Arial"/>
              <a:cs typeface="Arial"/>
              <a:sym typeface="Arial"/>
            </a:endParaRPr>
          </a:p>
          <a:p>
            <a:pPr indent="0" lvl="0" marL="0" marR="12065" rtl="0" algn="ctr">
              <a:lnSpc>
                <a:spcPct val="112000"/>
              </a:lnSpc>
              <a:spcBef>
                <a:spcPts val="0"/>
              </a:spcBef>
              <a:spcAft>
                <a:spcPts val="0"/>
              </a:spcAft>
              <a:buNone/>
            </a:pPr>
            <a:r>
              <a:rPr lang="en-US" sz="2000">
                <a:latin typeface="Arial"/>
                <a:ea typeface="Arial"/>
                <a:cs typeface="Arial"/>
                <a:sym typeface="Arial"/>
              </a:rPr>
              <a:t>d’aujourd’hui et demain</a:t>
            </a:r>
            <a:endParaRPr sz="2000">
              <a:latin typeface="Arial"/>
              <a:ea typeface="Arial"/>
              <a:cs typeface="Arial"/>
              <a:sym typeface="Arial"/>
            </a:endParaRPr>
          </a:p>
          <a:p>
            <a:pPr indent="-228600" lvl="0" marL="241300" marR="0" rtl="0" algn="l">
              <a:lnSpc>
                <a:spcPct val="100000"/>
              </a:lnSpc>
              <a:spcBef>
                <a:spcPts val="0"/>
              </a:spcBef>
              <a:spcAft>
                <a:spcPts val="0"/>
              </a:spcAft>
              <a:buSzPts val="2000"/>
              <a:buFont typeface="Arial"/>
              <a:buChar char="•"/>
            </a:pPr>
            <a:r>
              <a:rPr lang="en-US" sz="2000">
                <a:latin typeface="Arial"/>
                <a:ea typeface="Arial"/>
                <a:cs typeface="Arial"/>
                <a:sym typeface="Arial"/>
              </a:rPr>
              <a:t>Citoyenneté</a:t>
            </a:r>
            <a:endParaRPr sz="2000">
              <a:latin typeface="Arial"/>
              <a:ea typeface="Arial"/>
              <a:cs typeface="Arial"/>
              <a:sym typeface="Arial"/>
            </a:endParaRPr>
          </a:p>
          <a:p>
            <a:pPr indent="-228600" lvl="0" marL="241300" marR="0" rtl="0" algn="l">
              <a:lnSpc>
                <a:spcPct val="100000"/>
              </a:lnSpc>
              <a:spcBef>
                <a:spcPts val="20"/>
              </a:spcBef>
              <a:spcAft>
                <a:spcPts val="0"/>
              </a:spcAft>
              <a:buSzPts val="2000"/>
              <a:buFont typeface="Arial"/>
              <a:buChar char="•"/>
            </a:pPr>
            <a:r>
              <a:rPr lang="en-US" sz="2000">
                <a:latin typeface="Arial"/>
                <a:ea typeface="Arial"/>
                <a:cs typeface="Arial"/>
                <a:sym typeface="Arial"/>
              </a:rPr>
              <a:t>Développement Durable</a:t>
            </a:r>
            <a:endParaRPr sz="2000">
              <a:latin typeface="Arial"/>
              <a:ea typeface="Arial"/>
              <a:cs typeface="Arial"/>
              <a:sym typeface="Arial"/>
            </a:endParaRPr>
          </a:p>
          <a:p>
            <a:pPr indent="-228600" lvl="0" marL="241300" marR="0" rtl="0" algn="l">
              <a:lnSpc>
                <a:spcPct val="100000"/>
              </a:lnSpc>
              <a:spcBef>
                <a:spcPts val="20"/>
              </a:spcBef>
              <a:spcAft>
                <a:spcPts val="0"/>
              </a:spcAft>
              <a:buSzPts val="2000"/>
              <a:buFont typeface="Arial"/>
              <a:buChar char="•"/>
            </a:pPr>
            <a:r>
              <a:rPr lang="en-US" sz="2000">
                <a:latin typeface="Arial"/>
                <a:ea typeface="Arial"/>
                <a:cs typeface="Arial"/>
                <a:sym typeface="Arial"/>
              </a:rPr>
              <a:t>Orientation</a:t>
            </a:r>
            <a:endParaRPr sz="2000">
              <a:latin typeface="Arial"/>
              <a:ea typeface="Arial"/>
              <a:cs typeface="Arial"/>
              <a:sym typeface="Arial"/>
            </a:endParaRPr>
          </a:p>
        </p:txBody>
      </p:sp>
      <p:sp>
        <p:nvSpPr>
          <p:cNvPr id="69" name="Google Shape;69;p9"/>
          <p:cNvSpPr/>
          <p:nvPr/>
        </p:nvSpPr>
        <p:spPr>
          <a:xfrm>
            <a:off x="4208779" y="1259839"/>
            <a:ext cx="3685794" cy="222529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0" name="Google Shape;70;p9"/>
          <p:cNvSpPr txBox="1"/>
          <p:nvPr/>
        </p:nvSpPr>
        <p:spPr>
          <a:xfrm>
            <a:off x="4424426" y="1403885"/>
            <a:ext cx="1991995" cy="1327150"/>
          </a:xfrm>
          <a:prstGeom prst="rect">
            <a:avLst/>
          </a:prstGeom>
          <a:noFill/>
          <a:ln>
            <a:noFill/>
          </a:ln>
        </p:spPr>
        <p:txBody>
          <a:bodyPr anchorCtr="0" anchor="t" bIns="0" lIns="0" spcFirstLastPara="1" rIns="0" wrap="square" tIns="0">
            <a:spAutoFit/>
          </a:bodyPr>
          <a:lstStyle/>
          <a:p>
            <a:pPr indent="0" lvl="0" marL="12700" marR="0" rtl="0" algn="l">
              <a:lnSpc>
                <a:spcPct val="111600"/>
              </a:lnSpc>
              <a:spcBef>
                <a:spcPts val="0"/>
              </a:spcBef>
              <a:spcAft>
                <a:spcPts val="0"/>
              </a:spcAft>
              <a:buNone/>
            </a:pPr>
            <a:r>
              <a:rPr lang="en-US" sz="2500">
                <a:latin typeface="Arial"/>
                <a:ea typeface="Arial"/>
                <a:cs typeface="Arial"/>
                <a:sym typeface="Arial"/>
              </a:rPr>
              <a:t>9 attendus à</a:t>
            </a:r>
            <a:endParaRPr sz="2500">
              <a:latin typeface="Arial"/>
              <a:ea typeface="Arial"/>
              <a:cs typeface="Arial"/>
              <a:sym typeface="Arial"/>
            </a:endParaRPr>
          </a:p>
          <a:p>
            <a:pPr indent="0" lvl="0" marL="12700" marR="0" rtl="0" algn="l">
              <a:lnSpc>
                <a:spcPct val="111600"/>
              </a:lnSpc>
              <a:spcBef>
                <a:spcPts val="0"/>
              </a:spcBef>
              <a:spcAft>
                <a:spcPts val="0"/>
              </a:spcAft>
              <a:buNone/>
            </a:pPr>
            <a:r>
              <a:rPr lang="en-US" sz="2500">
                <a:latin typeface="Arial"/>
                <a:ea typeface="Arial"/>
                <a:cs typeface="Arial"/>
                <a:sym typeface="Arial"/>
              </a:rPr>
              <a:t>transmettre</a:t>
            </a:r>
            <a:endParaRPr sz="2500">
              <a:latin typeface="Arial"/>
              <a:ea typeface="Arial"/>
              <a:cs typeface="Arial"/>
              <a:sym typeface="Arial"/>
            </a:endParaRPr>
          </a:p>
          <a:p>
            <a:pPr indent="-228600" lvl="0" marL="241300" marR="5080" rtl="0" algn="l">
              <a:lnSpc>
                <a:spcPct val="104000"/>
              </a:lnSpc>
              <a:spcBef>
                <a:spcPts val="1015"/>
              </a:spcBef>
              <a:spcAft>
                <a:spcPts val="0"/>
              </a:spcAft>
              <a:buSzPts val="2000"/>
              <a:buFont typeface="Arial"/>
              <a:buChar char="•"/>
            </a:pPr>
            <a:r>
              <a:rPr lang="en-US" sz="2000">
                <a:latin typeface="Arial"/>
                <a:ea typeface="Arial"/>
                <a:cs typeface="Arial"/>
                <a:sym typeface="Arial"/>
              </a:rPr>
              <a:t>Des repères de progressivité</a:t>
            </a:r>
            <a:endParaRPr sz="2000">
              <a:latin typeface="Arial"/>
              <a:ea typeface="Arial"/>
              <a:cs typeface="Arial"/>
              <a:sym typeface="Arial"/>
            </a:endParaRPr>
          </a:p>
        </p:txBody>
      </p:sp>
      <p:sp>
        <p:nvSpPr>
          <p:cNvPr id="71" name="Google Shape;71;p9"/>
          <p:cNvSpPr/>
          <p:nvPr/>
        </p:nvSpPr>
        <p:spPr>
          <a:xfrm>
            <a:off x="8082280" y="1290319"/>
            <a:ext cx="3822954" cy="219481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2" name="Google Shape;72;p9"/>
          <p:cNvSpPr txBox="1"/>
          <p:nvPr/>
        </p:nvSpPr>
        <p:spPr>
          <a:xfrm>
            <a:off x="8299068" y="1704236"/>
            <a:ext cx="3315970" cy="1329690"/>
          </a:xfrm>
          <a:prstGeom prst="rect">
            <a:avLst/>
          </a:prstGeom>
          <a:noFill/>
          <a:ln>
            <a:noFill/>
          </a:ln>
        </p:spPr>
        <p:txBody>
          <a:bodyPr anchorCtr="0" anchor="t" bIns="0" lIns="0" spcFirstLastPara="1" rIns="0" wrap="square" tIns="0">
            <a:spAutoFit/>
          </a:bodyPr>
          <a:lstStyle/>
          <a:p>
            <a:pPr indent="3810" lvl="0" marL="12700" marR="5080" rtl="0" algn="ctr">
              <a:lnSpc>
                <a:spcPct val="86300"/>
              </a:lnSpc>
              <a:spcBef>
                <a:spcPts val="0"/>
              </a:spcBef>
              <a:spcAft>
                <a:spcPts val="0"/>
              </a:spcAft>
              <a:buNone/>
            </a:pPr>
            <a:r>
              <a:rPr lang="en-US" sz="2500">
                <a:latin typeface="Arial"/>
                <a:ea typeface="Arial"/>
                <a:cs typeface="Arial"/>
                <a:sym typeface="Arial"/>
              </a:rPr>
              <a:t>Un historique de la discipline : « apprendre à faire et faire pour apprendre »</a:t>
            </a:r>
            <a:endParaRPr sz="2500">
              <a:latin typeface="Arial"/>
              <a:ea typeface="Arial"/>
              <a:cs typeface="Arial"/>
              <a:sym typeface="Arial"/>
            </a:endParaRPr>
          </a:p>
        </p:txBody>
      </p:sp>
      <p:sp>
        <p:nvSpPr>
          <p:cNvPr id="73" name="Google Shape;73;p9"/>
          <p:cNvSpPr/>
          <p:nvPr/>
        </p:nvSpPr>
        <p:spPr>
          <a:xfrm>
            <a:off x="396240" y="3749040"/>
            <a:ext cx="3754374" cy="219481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4" name="Google Shape;74;p9"/>
          <p:cNvSpPr txBox="1"/>
          <p:nvPr/>
        </p:nvSpPr>
        <p:spPr>
          <a:xfrm>
            <a:off x="610234" y="4491509"/>
            <a:ext cx="3246120" cy="671195"/>
          </a:xfrm>
          <a:prstGeom prst="rect">
            <a:avLst/>
          </a:prstGeom>
          <a:noFill/>
          <a:ln>
            <a:noFill/>
          </a:ln>
        </p:spPr>
        <p:txBody>
          <a:bodyPr anchorCtr="0" anchor="t" bIns="0" lIns="0" spcFirstLastPara="1" rIns="0" wrap="square" tIns="0">
            <a:spAutoFit/>
          </a:bodyPr>
          <a:lstStyle/>
          <a:p>
            <a:pPr indent="0" lvl="0" marL="0" marR="0" rtl="0" algn="ctr">
              <a:lnSpc>
                <a:spcPct val="111600"/>
              </a:lnSpc>
              <a:spcBef>
                <a:spcPts val="0"/>
              </a:spcBef>
              <a:spcAft>
                <a:spcPts val="0"/>
              </a:spcAft>
              <a:buNone/>
            </a:pPr>
            <a:r>
              <a:rPr lang="en-US" sz="2500">
                <a:latin typeface="Arial"/>
                <a:ea typeface="Arial"/>
                <a:cs typeface="Arial"/>
                <a:sym typeface="Arial"/>
              </a:rPr>
              <a:t>Une rupture potentielle</a:t>
            </a:r>
            <a:endParaRPr sz="2500">
              <a:latin typeface="Arial"/>
              <a:ea typeface="Arial"/>
              <a:cs typeface="Arial"/>
              <a:sym typeface="Arial"/>
            </a:endParaRPr>
          </a:p>
          <a:p>
            <a:pPr indent="0" lvl="0" marL="0" marR="0" rtl="0" algn="ctr">
              <a:lnSpc>
                <a:spcPct val="111600"/>
              </a:lnSpc>
              <a:spcBef>
                <a:spcPts val="0"/>
              </a:spcBef>
              <a:spcAft>
                <a:spcPts val="0"/>
              </a:spcAft>
              <a:buNone/>
            </a:pPr>
            <a:r>
              <a:rPr lang="en-US" sz="2500">
                <a:latin typeface="Arial"/>
                <a:ea typeface="Arial"/>
                <a:cs typeface="Arial"/>
                <a:sym typeface="Arial"/>
              </a:rPr>
              <a:t>entre le cycle 3 et 4</a:t>
            </a:r>
            <a:endParaRPr sz="2500">
              <a:latin typeface="Arial"/>
              <a:ea typeface="Arial"/>
              <a:cs typeface="Arial"/>
              <a:sym typeface="Arial"/>
            </a:endParaRPr>
          </a:p>
        </p:txBody>
      </p:sp>
      <p:sp>
        <p:nvSpPr>
          <p:cNvPr id="75" name="Google Shape;75;p9"/>
          <p:cNvSpPr/>
          <p:nvPr/>
        </p:nvSpPr>
        <p:spPr>
          <a:xfrm>
            <a:off x="4208779" y="3716020"/>
            <a:ext cx="3685794" cy="222783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6" name="Google Shape;76;p9"/>
          <p:cNvSpPr txBox="1"/>
          <p:nvPr/>
        </p:nvSpPr>
        <p:spPr>
          <a:xfrm>
            <a:off x="4424426" y="3861712"/>
            <a:ext cx="3176905" cy="1635125"/>
          </a:xfrm>
          <a:prstGeom prst="rect">
            <a:avLst/>
          </a:prstGeom>
          <a:noFill/>
          <a:ln>
            <a:noFill/>
          </a:ln>
        </p:spPr>
        <p:txBody>
          <a:bodyPr anchorCtr="0" anchor="t" bIns="0" lIns="0" spcFirstLastPara="1" rIns="0" wrap="square" tIns="0">
            <a:spAutoFit/>
          </a:bodyPr>
          <a:lstStyle/>
          <a:p>
            <a:pPr indent="0" lvl="0" marL="12700" marR="0" rtl="0" algn="l">
              <a:lnSpc>
                <a:spcPct val="111600"/>
              </a:lnSpc>
              <a:spcBef>
                <a:spcPts val="0"/>
              </a:spcBef>
              <a:spcAft>
                <a:spcPts val="0"/>
              </a:spcAft>
              <a:buNone/>
            </a:pPr>
            <a:r>
              <a:rPr lang="en-US" sz="2500">
                <a:latin typeface="Arial"/>
                <a:ea typeface="Arial"/>
                <a:cs typeface="Arial"/>
                <a:sym typeface="Arial"/>
              </a:rPr>
              <a:t>Une dotation horaire</a:t>
            </a:r>
            <a:endParaRPr sz="2500">
              <a:latin typeface="Arial"/>
              <a:ea typeface="Arial"/>
              <a:cs typeface="Arial"/>
              <a:sym typeface="Arial"/>
            </a:endParaRPr>
          </a:p>
          <a:p>
            <a:pPr indent="0" lvl="0" marL="12700" marR="0" rtl="0" algn="l">
              <a:lnSpc>
                <a:spcPct val="111600"/>
              </a:lnSpc>
              <a:spcBef>
                <a:spcPts val="0"/>
              </a:spcBef>
              <a:spcAft>
                <a:spcPts val="0"/>
              </a:spcAft>
              <a:buNone/>
            </a:pPr>
            <a:r>
              <a:rPr lang="en-US" sz="2500">
                <a:latin typeface="Arial"/>
                <a:ea typeface="Arial"/>
                <a:cs typeface="Arial"/>
                <a:sym typeface="Arial"/>
              </a:rPr>
              <a:t>restreinte :</a:t>
            </a:r>
            <a:endParaRPr sz="2500">
              <a:latin typeface="Arial"/>
              <a:ea typeface="Arial"/>
              <a:cs typeface="Arial"/>
              <a:sym typeface="Arial"/>
            </a:endParaRPr>
          </a:p>
          <a:p>
            <a:pPr indent="-228600" lvl="0" marL="241300" marR="0" rtl="0" algn="l">
              <a:lnSpc>
                <a:spcPct val="100000"/>
              </a:lnSpc>
              <a:spcBef>
                <a:spcPts val="680"/>
              </a:spcBef>
              <a:spcAft>
                <a:spcPts val="0"/>
              </a:spcAft>
              <a:buSzPts val="2000"/>
              <a:buFont typeface="Arial"/>
              <a:buChar char="•"/>
            </a:pPr>
            <a:r>
              <a:rPr lang="en-US" sz="2000">
                <a:latin typeface="Arial"/>
                <a:ea typeface="Arial"/>
                <a:cs typeface="Arial"/>
                <a:sym typeface="Arial"/>
              </a:rPr>
              <a:t>32 semaines et 48 heures</a:t>
            </a:r>
            <a:endParaRPr sz="2000">
              <a:latin typeface="Arial"/>
              <a:ea typeface="Arial"/>
              <a:cs typeface="Arial"/>
              <a:sym typeface="Arial"/>
            </a:endParaRPr>
          </a:p>
          <a:p>
            <a:pPr indent="-228600" lvl="0" marL="241300" marR="218440" rtl="0" algn="l">
              <a:lnSpc>
                <a:spcPct val="104000"/>
              </a:lnSpc>
              <a:spcBef>
                <a:spcPts val="355"/>
              </a:spcBef>
              <a:spcAft>
                <a:spcPts val="0"/>
              </a:spcAft>
              <a:buSzPts val="2000"/>
              <a:buFont typeface="Arial"/>
              <a:buChar char="•"/>
            </a:pPr>
            <a:r>
              <a:rPr lang="en-US" sz="2000">
                <a:latin typeface="Arial"/>
                <a:ea typeface="Arial"/>
                <a:cs typeface="Arial"/>
                <a:sym typeface="Arial"/>
              </a:rPr>
              <a:t>Peu ou pas de groupe à effectif réduit</a:t>
            </a:r>
            <a:endParaRPr sz="2000">
              <a:latin typeface="Arial"/>
              <a:ea typeface="Arial"/>
              <a:cs typeface="Arial"/>
              <a:sym typeface="Arial"/>
            </a:endParaRPr>
          </a:p>
        </p:txBody>
      </p:sp>
      <p:sp>
        <p:nvSpPr>
          <p:cNvPr id="77" name="Google Shape;77;p9"/>
          <p:cNvSpPr/>
          <p:nvPr/>
        </p:nvSpPr>
        <p:spPr>
          <a:xfrm>
            <a:off x="8155940" y="3749040"/>
            <a:ext cx="3599434" cy="21948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8" name="Google Shape;78;p9"/>
          <p:cNvSpPr txBox="1"/>
          <p:nvPr/>
        </p:nvSpPr>
        <p:spPr>
          <a:xfrm>
            <a:off x="8540495" y="4655973"/>
            <a:ext cx="2829560" cy="3429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500">
                <a:latin typeface="Arial"/>
                <a:ea typeface="Arial"/>
                <a:cs typeface="Arial"/>
                <a:sym typeface="Arial"/>
              </a:rPr>
              <a:t>Le choc des savoirs</a:t>
            </a:r>
            <a:endParaRPr sz="25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2" name="Shape 82"/>
        <p:cNvGrpSpPr/>
        <p:nvPr/>
      </p:nvGrpSpPr>
      <p:grpSpPr>
        <a:xfrm>
          <a:off x="0" y="0"/>
          <a:ext cx="0" cy="0"/>
          <a:chOff x="0" y="0"/>
          <a:chExt cx="0" cy="0"/>
        </a:xfrm>
      </p:grpSpPr>
      <p:sp>
        <p:nvSpPr>
          <p:cNvPr id="83" name="Google Shape;83;p10"/>
          <p:cNvSpPr/>
          <p:nvPr/>
        </p:nvSpPr>
        <p:spPr>
          <a:xfrm>
            <a:off x="480059" y="3622040"/>
            <a:ext cx="11231880" cy="0"/>
          </a:xfrm>
          <a:custGeom>
            <a:rect b="b" l="l" r="r" t="t"/>
            <a:pathLst>
              <a:path extrusionOk="0" h="120000" w="11231880">
                <a:moveTo>
                  <a:pt x="11231880" y="0"/>
                </a:moveTo>
                <a:lnTo>
                  <a:pt x="0" y="0"/>
                </a:lnTo>
              </a:path>
            </a:pathLst>
          </a:custGeom>
          <a:noFill/>
          <a:ln cap="flat" cmpd="sng" w="101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4" name="Google Shape;84;p10"/>
          <p:cNvSpPr txBox="1"/>
          <p:nvPr/>
        </p:nvSpPr>
        <p:spPr>
          <a:xfrm>
            <a:off x="467350" y="1719471"/>
            <a:ext cx="9544800" cy="1435200"/>
          </a:xfrm>
          <a:prstGeom prst="rect">
            <a:avLst/>
          </a:prstGeom>
          <a:noFill/>
          <a:ln>
            <a:noFill/>
          </a:ln>
        </p:spPr>
        <p:txBody>
          <a:bodyPr anchorCtr="0" anchor="t" bIns="0" lIns="0" spcFirstLastPara="1" rIns="0" wrap="square" tIns="0">
            <a:spAutoFit/>
          </a:bodyPr>
          <a:lstStyle/>
          <a:p>
            <a:pPr indent="0" lvl="0" marL="12700" marR="0" rtl="0" algn="l">
              <a:lnSpc>
                <a:spcPct val="114367"/>
              </a:lnSpc>
              <a:spcBef>
                <a:spcPts val="0"/>
              </a:spcBef>
              <a:spcAft>
                <a:spcPts val="0"/>
              </a:spcAft>
              <a:buNone/>
            </a:pPr>
            <a:r>
              <a:rPr b="1" lang="en-US" sz="4350">
                <a:latin typeface="Arial"/>
                <a:ea typeface="Arial"/>
                <a:cs typeface="Arial"/>
                <a:sym typeface="Arial"/>
              </a:rPr>
              <a:t>Eléments d’éclairage sur le nouveau </a:t>
            </a:r>
            <a:r>
              <a:rPr b="1" lang="en-US" sz="4300">
                <a:latin typeface="Arial"/>
                <a:ea typeface="Arial"/>
                <a:cs typeface="Arial"/>
                <a:sym typeface="Arial"/>
              </a:rPr>
              <a:t>programme</a:t>
            </a:r>
            <a:endParaRPr sz="430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8" name="Shape 88"/>
        <p:cNvGrpSpPr/>
        <p:nvPr/>
      </p:nvGrpSpPr>
      <p:grpSpPr>
        <a:xfrm>
          <a:off x="0" y="0"/>
          <a:ext cx="0" cy="0"/>
          <a:chOff x="0" y="0"/>
          <a:chExt cx="0" cy="0"/>
        </a:xfrm>
      </p:grpSpPr>
      <p:sp>
        <p:nvSpPr>
          <p:cNvPr id="89" name="Google Shape;89;p11"/>
          <p:cNvSpPr/>
          <p:nvPr/>
        </p:nvSpPr>
        <p:spPr>
          <a:xfrm>
            <a:off x="674511" y="3027043"/>
            <a:ext cx="3642600" cy="2194800"/>
          </a:xfrm>
          <a:prstGeom prst="rect">
            <a:avLst/>
          </a:pr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0" name="Google Shape;90;p11"/>
          <p:cNvSpPr/>
          <p:nvPr/>
        </p:nvSpPr>
        <p:spPr>
          <a:xfrm>
            <a:off x="4484399" y="3027043"/>
            <a:ext cx="3642600" cy="2194800"/>
          </a:xfrm>
          <a:prstGeom prst="rect">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1" name="Google Shape;91;p11"/>
          <p:cNvSpPr txBox="1"/>
          <p:nvPr/>
        </p:nvSpPr>
        <p:spPr>
          <a:xfrm>
            <a:off x="3187700" y="1989825"/>
            <a:ext cx="68580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Enseigner la technologie</a:t>
            </a:r>
            <a:endParaRPr sz="3400">
              <a:latin typeface="Arial"/>
              <a:ea typeface="Arial"/>
              <a:cs typeface="Arial"/>
              <a:sym typeface="Arial"/>
            </a:endParaRPr>
          </a:p>
        </p:txBody>
      </p:sp>
      <p:sp>
        <p:nvSpPr>
          <p:cNvPr id="92" name="Google Shape;92;p11"/>
          <p:cNvSpPr txBox="1"/>
          <p:nvPr/>
        </p:nvSpPr>
        <p:spPr>
          <a:xfrm>
            <a:off x="793059" y="3233113"/>
            <a:ext cx="3161030" cy="1741170"/>
          </a:xfrm>
          <a:prstGeom prst="rect">
            <a:avLst/>
          </a:prstGeom>
          <a:noFill/>
          <a:ln>
            <a:noFill/>
          </a:ln>
        </p:spPr>
        <p:txBody>
          <a:bodyPr anchorCtr="0" anchor="t" bIns="0" lIns="0" spcFirstLastPara="1" rIns="0" wrap="square" tIns="0">
            <a:spAutoFit/>
          </a:bodyPr>
          <a:lstStyle/>
          <a:p>
            <a:pPr indent="-2540" lvl="0" marL="12700" marR="5080" rtl="0" algn="ctr">
              <a:lnSpc>
                <a:spcPct val="86200"/>
              </a:lnSpc>
              <a:spcBef>
                <a:spcPts val="0"/>
              </a:spcBef>
              <a:spcAft>
                <a:spcPts val="0"/>
              </a:spcAft>
              <a:buNone/>
            </a:pPr>
            <a:r>
              <a:rPr lang="en-US" sz="4400">
                <a:latin typeface="Arial"/>
                <a:ea typeface="Arial"/>
                <a:cs typeface="Arial"/>
                <a:sym typeface="Arial"/>
              </a:rPr>
              <a:t>Apprendre des technologies</a:t>
            </a:r>
            <a:endParaRPr sz="4400">
              <a:latin typeface="Arial"/>
              <a:ea typeface="Arial"/>
              <a:cs typeface="Arial"/>
              <a:sym typeface="Arial"/>
            </a:endParaRPr>
          </a:p>
        </p:txBody>
      </p:sp>
      <p:sp>
        <p:nvSpPr>
          <p:cNvPr id="93" name="Google Shape;93;p11"/>
          <p:cNvSpPr/>
          <p:nvPr/>
        </p:nvSpPr>
        <p:spPr>
          <a:xfrm>
            <a:off x="8294311" y="3027043"/>
            <a:ext cx="3642614" cy="219481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94" name="Google Shape;94;p11"/>
          <p:cNvSpPr txBox="1"/>
          <p:nvPr/>
        </p:nvSpPr>
        <p:spPr>
          <a:xfrm>
            <a:off x="4655375" y="3233113"/>
            <a:ext cx="3158400" cy="1751400"/>
          </a:xfrm>
          <a:prstGeom prst="rect">
            <a:avLst/>
          </a:prstGeom>
          <a:noFill/>
          <a:ln>
            <a:noFill/>
          </a:ln>
        </p:spPr>
        <p:txBody>
          <a:bodyPr anchorCtr="0" anchor="t" bIns="0" lIns="0" spcFirstLastPara="1" rIns="0" wrap="square" tIns="0">
            <a:spAutoFit/>
          </a:bodyPr>
          <a:lstStyle/>
          <a:p>
            <a:pPr indent="0" lvl="0" marL="12065" marR="5080" rtl="0" algn="ctr">
              <a:lnSpc>
                <a:spcPct val="86200"/>
              </a:lnSpc>
              <a:spcBef>
                <a:spcPts val="0"/>
              </a:spcBef>
              <a:spcAft>
                <a:spcPts val="0"/>
              </a:spcAft>
              <a:buNone/>
            </a:pPr>
            <a:r>
              <a:rPr lang="en-US" sz="4400">
                <a:latin typeface="Arial"/>
                <a:ea typeface="Arial"/>
                <a:cs typeface="Arial"/>
                <a:sym typeface="Arial"/>
              </a:rPr>
              <a:t>Apprendre sur les technologies</a:t>
            </a:r>
            <a:endParaRPr sz="1800">
              <a:latin typeface="Arial"/>
              <a:ea typeface="Arial"/>
              <a:cs typeface="Arial"/>
              <a:sym typeface="Arial"/>
            </a:endParaRPr>
          </a:p>
        </p:txBody>
      </p:sp>
      <p:sp>
        <p:nvSpPr>
          <p:cNvPr id="95" name="Google Shape;95;p11"/>
          <p:cNvSpPr txBox="1"/>
          <p:nvPr/>
        </p:nvSpPr>
        <p:spPr>
          <a:xfrm>
            <a:off x="8515147" y="3408044"/>
            <a:ext cx="2879700" cy="1379100"/>
          </a:xfrm>
          <a:prstGeom prst="rect">
            <a:avLst/>
          </a:prstGeom>
          <a:noFill/>
          <a:ln>
            <a:noFill/>
          </a:ln>
        </p:spPr>
        <p:txBody>
          <a:bodyPr anchorCtr="0" anchor="t" bIns="0" lIns="0" spcFirstLastPara="1" rIns="0" wrap="square" tIns="0">
            <a:spAutoFit/>
          </a:bodyPr>
          <a:lstStyle/>
          <a:p>
            <a:pPr indent="106045" lvl="0" marL="12700" marR="5080" rtl="0" algn="l">
              <a:lnSpc>
                <a:spcPct val="103636"/>
              </a:lnSpc>
              <a:spcBef>
                <a:spcPts val="0"/>
              </a:spcBef>
              <a:spcAft>
                <a:spcPts val="0"/>
              </a:spcAft>
              <a:buNone/>
            </a:pPr>
            <a:r>
              <a:rPr lang="en-US" sz="4400">
                <a:latin typeface="Arial"/>
                <a:ea typeface="Arial"/>
                <a:cs typeface="Arial"/>
                <a:sym typeface="Arial"/>
              </a:rPr>
              <a:t>Faire de la technologie</a:t>
            </a:r>
            <a:endParaRPr sz="44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9" name="Shape 99"/>
        <p:cNvGrpSpPr/>
        <p:nvPr/>
      </p:nvGrpSpPr>
      <p:grpSpPr>
        <a:xfrm>
          <a:off x="0" y="0"/>
          <a:ext cx="0" cy="0"/>
          <a:chOff x="0" y="0"/>
          <a:chExt cx="0" cy="0"/>
        </a:xfrm>
      </p:grpSpPr>
      <p:sp>
        <p:nvSpPr>
          <p:cNvPr id="100" name="Google Shape;100;p12"/>
          <p:cNvSpPr/>
          <p:nvPr/>
        </p:nvSpPr>
        <p:spPr>
          <a:xfrm>
            <a:off x="674511" y="3027043"/>
            <a:ext cx="3642600" cy="2194800"/>
          </a:xfrm>
          <a:prstGeom prst="rect">
            <a:avLst/>
          </a:prstGeom>
          <a:solidFill>
            <a:srgbClr val="00FF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1" name="Google Shape;101;p12"/>
          <p:cNvSpPr txBox="1"/>
          <p:nvPr/>
        </p:nvSpPr>
        <p:spPr>
          <a:xfrm>
            <a:off x="3276600" y="542025"/>
            <a:ext cx="68580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Enseigner la technologie</a:t>
            </a:r>
            <a:endParaRPr sz="3400">
              <a:latin typeface="Arial"/>
              <a:ea typeface="Arial"/>
              <a:cs typeface="Arial"/>
              <a:sym typeface="Arial"/>
            </a:endParaRPr>
          </a:p>
        </p:txBody>
      </p:sp>
      <p:sp>
        <p:nvSpPr>
          <p:cNvPr id="102" name="Google Shape;102;p12"/>
          <p:cNvSpPr txBox="1"/>
          <p:nvPr/>
        </p:nvSpPr>
        <p:spPr>
          <a:xfrm>
            <a:off x="793059" y="3233113"/>
            <a:ext cx="3161100" cy="1751400"/>
          </a:xfrm>
          <a:prstGeom prst="rect">
            <a:avLst/>
          </a:prstGeom>
          <a:noFill/>
          <a:ln>
            <a:noFill/>
          </a:ln>
        </p:spPr>
        <p:txBody>
          <a:bodyPr anchorCtr="0" anchor="t" bIns="0" lIns="0" spcFirstLastPara="1" rIns="0" wrap="square" tIns="0">
            <a:spAutoFit/>
          </a:bodyPr>
          <a:lstStyle/>
          <a:p>
            <a:pPr indent="-2540" lvl="0" marL="12700" marR="5080" rtl="0" algn="ctr">
              <a:lnSpc>
                <a:spcPct val="86200"/>
              </a:lnSpc>
              <a:spcBef>
                <a:spcPts val="0"/>
              </a:spcBef>
              <a:spcAft>
                <a:spcPts val="0"/>
              </a:spcAft>
              <a:buNone/>
            </a:pPr>
            <a:r>
              <a:rPr lang="en-US" sz="4400">
                <a:latin typeface="Arial"/>
                <a:ea typeface="Arial"/>
                <a:cs typeface="Arial"/>
                <a:sym typeface="Arial"/>
              </a:rPr>
              <a:t>Apprendre des technologies</a:t>
            </a:r>
            <a:endParaRPr sz="4400">
              <a:latin typeface="Arial"/>
              <a:ea typeface="Arial"/>
              <a:cs typeface="Arial"/>
              <a:sym typeface="Arial"/>
            </a:endParaRPr>
          </a:p>
        </p:txBody>
      </p:sp>
      <p:sp>
        <p:nvSpPr>
          <p:cNvPr id="103" name="Google Shape;103;p12"/>
          <p:cNvSpPr txBox="1"/>
          <p:nvPr/>
        </p:nvSpPr>
        <p:spPr>
          <a:xfrm>
            <a:off x="4673600" y="2552700"/>
            <a:ext cx="6946800" cy="352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2400">
                <a:solidFill>
                  <a:schemeClr val="dk1"/>
                </a:solidFill>
              </a:rPr>
              <a:t>C</a:t>
            </a:r>
            <a:r>
              <a:rPr lang="en-US" sz="2400">
                <a:solidFill>
                  <a:schemeClr val="dk1"/>
                </a:solidFill>
              </a:rPr>
              <a:t>ette partie fait référence à </a:t>
            </a:r>
            <a:r>
              <a:rPr b="1" lang="en-US" sz="2400">
                <a:solidFill>
                  <a:schemeClr val="dk1"/>
                </a:solidFill>
              </a:rPr>
              <a:t>l'acquisition des connaissances sur les technologies</a:t>
            </a:r>
            <a:r>
              <a:rPr lang="en-US" sz="2400">
                <a:solidFill>
                  <a:schemeClr val="dk1"/>
                </a:solidFill>
              </a:rPr>
              <a:t>. Les élèves apprennent </a:t>
            </a:r>
            <a:r>
              <a:rPr b="1" lang="en-US" sz="2400">
                <a:solidFill>
                  <a:schemeClr val="dk1"/>
                </a:solidFill>
              </a:rPr>
              <a:t>ce que sont les technologies</a:t>
            </a:r>
            <a:r>
              <a:rPr lang="en-US" sz="2400">
                <a:solidFill>
                  <a:schemeClr val="dk1"/>
                </a:solidFill>
              </a:rPr>
              <a:t>, </a:t>
            </a:r>
            <a:r>
              <a:rPr b="1" lang="en-US" sz="2400">
                <a:solidFill>
                  <a:schemeClr val="dk1"/>
                </a:solidFill>
              </a:rPr>
              <a:t>d'où elles viennent</a:t>
            </a:r>
            <a:r>
              <a:rPr lang="en-US" sz="2400">
                <a:solidFill>
                  <a:schemeClr val="dk1"/>
                </a:solidFill>
              </a:rPr>
              <a:t>, et </a:t>
            </a:r>
            <a:r>
              <a:rPr b="1" lang="en-US" sz="2400">
                <a:solidFill>
                  <a:schemeClr val="dk1"/>
                </a:solidFill>
              </a:rPr>
              <a:t>pourquoi elles sont nécessaires</a:t>
            </a:r>
            <a:r>
              <a:rPr lang="en-US" sz="2400">
                <a:solidFill>
                  <a:schemeClr val="dk1"/>
                </a:solidFill>
              </a:rPr>
              <a:t>. C'est l'aspect de la compréhension fondamentale des objets technologiques, de leur origine et de leur utilité dans notre quotidien.</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13"/>
          <p:cNvSpPr/>
          <p:nvPr/>
        </p:nvSpPr>
        <p:spPr>
          <a:xfrm>
            <a:off x="394999" y="2912743"/>
            <a:ext cx="3642600" cy="2194800"/>
          </a:xfrm>
          <a:prstGeom prst="rect">
            <a:avLst/>
          </a:prstGeom>
          <a:solidFill>
            <a:schemeClr val="accent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9" name="Google Shape;109;p13"/>
          <p:cNvSpPr txBox="1"/>
          <p:nvPr/>
        </p:nvSpPr>
        <p:spPr>
          <a:xfrm>
            <a:off x="3111500" y="491225"/>
            <a:ext cx="68580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Enseigner la technologie</a:t>
            </a:r>
            <a:endParaRPr sz="3400">
              <a:latin typeface="Arial"/>
              <a:ea typeface="Arial"/>
              <a:cs typeface="Arial"/>
              <a:sym typeface="Arial"/>
            </a:endParaRPr>
          </a:p>
        </p:txBody>
      </p:sp>
      <p:sp>
        <p:nvSpPr>
          <p:cNvPr id="110" name="Google Shape;110;p13"/>
          <p:cNvSpPr txBox="1"/>
          <p:nvPr/>
        </p:nvSpPr>
        <p:spPr>
          <a:xfrm>
            <a:off x="565975" y="3118813"/>
            <a:ext cx="3158400" cy="1751400"/>
          </a:xfrm>
          <a:prstGeom prst="rect">
            <a:avLst/>
          </a:prstGeom>
          <a:noFill/>
          <a:ln>
            <a:noFill/>
          </a:ln>
        </p:spPr>
        <p:txBody>
          <a:bodyPr anchorCtr="0" anchor="t" bIns="0" lIns="0" spcFirstLastPara="1" rIns="0" wrap="square" tIns="0">
            <a:spAutoFit/>
          </a:bodyPr>
          <a:lstStyle/>
          <a:p>
            <a:pPr indent="0" lvl="0" marL="12065" marR="5080" rtl="0" algn="ctr">
              <a:lnSpc>
                <a:spcPct val="86200"/>
              </a:lnSpc>
              <a:spcBef>
                <a:spcPts val="0"/>
              </a:spcBef>
              <a:spcAft>
                <a:spcPts val="0"/>
              </a:spcAft>
              <a:buNone/>
            </a:pPr>
            <a:r>
              <a:rPr lang="en-US" sz="4400">
                <a:latin typeface="Arial"/>
                <a:ea typeface="Arial"/>
                <a:cs typeface="Arial"/>
                <a:sym typeface="Arial"/>
              </a:rPr>
              <a:t>Apprendre sur les technologies</a:t>
            </a:r>
            <a:endParaRPr sz="1800">
              <a:latin typeface="Arial"/>
              <a:ea typeface="Arial"/>
              <a:cs typeface="Arial"/>
              <a:sym typeface="Arial"/>
            </a:endParaRPr>
          </a:p>
        </p:txBody>
      </p:sp>
      <p:sp>
        <p:nvSpPr>
          <p:cNvPr id="111" name="Google Shape;111;p13"/>
          <p:cNvSpPr txBox="1"/>
          <p:nvPr/>
        </p:nvSpPr>
        <p:spPr>
          <a:xfrm>
            <a:off x="4457700" y="2095500"/>
            <a:ext cx="67563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Ici, on s’intéresse à </a:t>
            </a:r>
            <a:r>
              <a:rPr b="1" lang="en-US" sz="2400">
                <a:solidFill>
                  <a:schemeClr val="dk1"/>
                </a:solidFill>
              </a:rPr>
              <a:t>comment les technologies fonctionnent</a:t>
            </a:r>
            <a:r>
              <a:rPr lang="en-US" sz="2400">
                <a:solidFill>
                  <a:schemeClr val="dk1"/>
                </a:solidFill>
              </a:rPr>
              <a:t> et à </a:t>
            </a:r>
            <a:r>
              <a:rPr b="1" lang="en-US" sz="2400">
                <a:solidFill>
                  <a:schemeClr val="dk1"/>
                </a:solidFill>
              </a:rPr>
              <a:t>leurs impacts sur les usages</a:t>
            </a:r>
            <a:r>
              <a:rPr lang="en-US" sz="2400">
                <a:solidFill>
                  <a:schemeClr val="dk1"/>
                </a:solidFill>
              </a:rPr>
              <a:t>. Cela concerne l'étude approfondie des mécanismes internes, des processus et des conséquences de l'utilisation des technologies dans différents domaines. L'idée est d'analyser les technologies de manière critique, notamment en se concentrant sur leurs effets sociaux, économiques, et environnementaux.</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5" name="Shape 115"/>
        <p:cNvGrpSpPr/>
        <p:nvPr/>
      </p:nvGrpSpPr>
      <p:grpSpPr>
        <a:xfrm>
          <a:off x="0" y="0"/>
          <a:ext cx="0" cy="0"/>
          <a:chOff x="0" y="0"/>
          <a:chExt cx="0" cy="0"/>
        </a:xfrm>
      </p:grpSpPr>
      <p:sp>
        <p:nvSpPr>
          <p:cNvPr id="116" name="Google Shape;116;p14"/>
          <p:cNvSpPr txBox="1"/>
          <p:nvPr/>
        </p:nvSpPr>
        <p:spPr>
          <a:xfrm>
            <a:off x="3429000" y="1138925"/>
            <a:ext cx="68580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Enseigner la technologie</a:t>
            </a:r>
            <a:endParaRPr sz="3400">
              <a:latin typeface="Arial"/>
              <a:ea typeface="Arial"/>
              <a:cs typeface="Arial"/>
              <a:sym typeface="Arial"/>
            </a:endParaRPr>
          </a:p>
        </p:txBody>
      </p:sp>
      <p:sp>
        <p:nvSpPr>
          <p:cNvPr id="117" name="Google Shape;117;p14"/>
          <p:cNvSpPr/>
          <p:nvPr/>
        </p:nvSpPr>
        <p:spPr>
          <a:xfrm>
            <a:off x="496511" y="3217543"/>
            <a:ext cx="3642600" cy="219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18" name="Google Shape;118;p14"/>
          <p:cNvSpPr txBox="1"/>
          <p:nvPr/>
        </p:nvSpPr>
        <p:spPr>
          <a:xfrm>
            <a:off x="717347" y="3598544"/>
            <a:ext cx="2879700" cy="1379100"/>
          </a:xfrm>
          <a:prstGeom prst="rect">
            <a:avLst/>
          </a:prstGeom>
          <a:noFill/>
          <a:ln>
            <a:noFill/>
          </a:ln>
        </p:spPr>
        <p:txBody>
          <a:bodyPr anchorCtr="0" anchor="t" bIns="0" lIns="0" spcFirstLastPara="1" rIns="0" wrap="square" tIns="0">
            <a:spAutoFit/>
          </a:bodyPr>
          <a:lstStyle/>
          <a:p>
            <a:pPr indent="106045" lvl="0" marL="12700" marR="5080" rtl="0" algn="l">
              <a:lnSpc>
                <a:spcPct val="103636"/>
              </a:lnSpc>
              <a:spcBef>
                <a:spcPts val="0"/>
              </a:spcBef>
              <a:spcAft>
                <a:spcPts val="0"/>
              </a:spcAft>
              <a:buNone/>
            </a:pPr>
            <a:r>
              <a:rPr lang="en-US" sz="4400">
                <a:latin typeface="Arial"/>
                <a:ea typeface="Arial"/>
                <a:cs typeface="Arial"/>
                <a:sym typeface="Arial"/>
              </a:rPr>
              <a:t>Faire de la technologie</a:t>
            </a:r>
            <a:endParaRPr sz="4400">
              <a:latin typeface="Arial"/>
              <a:ea typeface="Arial"/>
              <a:cs typeface="Arial"/>
              <a:sym typeface="Arial"/>
            </a:endParaRPr>
          </a:p>
        </p:txBody>
      </p:sp>
      <p:sp>
        <p:nvSpPr>
          <p:cNvPr id="119" name="Google Shape;119;p14"/>
          <p:cNvSpPr txBox="1"/>
          <p:nvPr/>
        </p:nvSpPr>
        <p:spPr>
          <a:xfrm>
            <a:off x="4292600" y="2576450"/>
            <a:ext cx="71628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Cette partie est axée sur la </a:t>
            </a:r>
            <a:r>
              <a:rPr b="1" lang="en-US" sz="2400">
                <a:solidFill>
                  <a:schemeClr val="dk1"/>
                </a:solidFill>
              </a:rPr>
              <a:t>pratique</a:t>
            </a:r>
            <a:r>
              <a:rPr lang="en-US" sz="2400">
                <a:solidFill>
                  <a:schemeClr val="dk1"/>
                </a:solidFill>
              </a:rPr>
              <a:t>. Il s'agit d'encourager les élèves à </a:t>
            </a:r>
            <a:r>
              <a:rPr b="1" lang="en-US" sz="2400">
                <a:solidFill>
                  <a:schemeClr val="dk1"/>
                </a:solidFill>
              </a:rPr>
              <a:t>concevoir, créer, et utiliser</a:t>
            </a:r>
            <a:r>
              <a:rPr lang="en-US" sz="2400">
                <a:solidFill>
                  <a:schemeClr val="dk1"/>
                </a:solidFill>
              </a:rPr>
              <a:t> les technologies. Cet aspect est plus orienté vers l'</a:t>
            </a:r>
            <a:r>
              <a:rPr b="1" lang="en-US" sz="2400">
                <a:solidFill>
                  <a:schemeClr val="dk1"/>
                </a:solidFill>
              </a:rPr>
              <a:t>action</a:t>
            </a:r>
            <a:r>
              <a:rPr lang="en-US" sz="2400">
                <a:solidFill>
                  <a:schemeClr val="dk1"/>
                </a:solidFill>
              </a:rPr>
              <a:t> et le </a:t>
            </a:r>
            <a:r>
              <a:rPr b="1" lang="en-US" sz="2400">
                <a:solidFill>
                  <a:schemeClr val="dk1"/>
                </a:solidFill>
              </a:rPr>
              <a:t>développement de compétences pratiques</a:t>
            </a:r>
            <a:r>
              <a:rPr lang="en-US" sz="2400">
                <a:solidFill>
                  <a:schemeClr val="dk1"/>
                </a:solidFill>
              </a:rPr>
              <a:t>, où les élèves mettent en œuvre ce qu'ils ont appris dans des projets concrets.</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3" name="Shape 123"/>
        <p:cNvGrpSpPr/>
        <p:nvPr/>
      </p:nvGrpSpPr>
      <p:grpSpPr>
        <a:xfrm>
          <a:off x="0" y="0"/>
          <a:ext cx="0" cy="0"/>
          <a:chOff x="0" y="0"/>
          <a:chExt cx="0" cy="0"/>
        </a:xfrm>
      </p:grpSpPr>
      <p:sp>
        <p:nvSpPr>
          <p:cNvPr id="124" name="Google Shape;124;p15"/>
          <p:cNvSpPr txBox="1"/>
          <p:nvPr>
            <p:ph type="title"/>
          </p:nvPr>
        </p:nvSpPr>
        <p:spPr>
          <a:xfrm>
            <a:off x="488314" y="149593"/>
            <a:ext cx="11215370" cy="925194"/>
          </a:xfrm>
          <a:prstGeom prst="rect">
            <a:avLst/>
          </a:prstGeom>
          <a:noFill/>
          <a:ln>
            <a:noFill/>
          </a:ln>
        </p:spPr>
        <p:txBody>
          <a:bodyPr anchorCtr="0" anchor="t" bIns="0" lIns="0" spcFirstLastPara="1" rIns="0" wrap="square" tIns="368975">
            <a:spAutoFit/>
          </a:bodyPr>
          <a:lstStyle/>
          <a:p>
            <a:pPr indent="0" lvl="0" marL="2167890" rtl="0" algn="l">
              <a:lnSpc>
                <a:spcPct val="100000"/>
              </a:lnSpc>
              <a:spcBef>
                <a:spcPts val="0"/>
              </a:spcBef>
              <a:spcAft>
                <a:spcPts val="0"/>
              </a:spcAft>
              <a:buNone/>
            </a:pPr>
            <a:r>
              <a:rPr lang="en-US">
                <a:latin typeface="Arial"/>
                <a:ea typeface="Arial"/>
                <a:cs typeface="Arial"/>
                <a:sym typeface="Arial"/>
              </a:rPr>
              <a:t>Enseigner la technologie c’est :</a:t>
            </a:r>
            <a:endParaRPr/>
          </a:p>
        </p:txBody>
      </p:sp>
      <p:sp>
        <p:nvSpPr>
          <p:cNvPr id="125" name="Google Shape;125;p15"/>
          <p:cNvSpPr/>
          <p:nvPr/>
        </p:nvSpPr>
        <p:spPr>
          <a:xfrm>
            <a:off x="1664483" y="1224433"/>
            <a:ext cx="8820980" cy="523689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9" name="Shape 129"/>
        <p:cNvGrpSpPr/>
        <p:nvPr/>
      </p:nvGrpSpPr>
      <p:grpSpPr>
        <a:xfrm>
          <a:off x="0" y="0"/>
          <a:ext cx="0" cy="0"/>
          <a:chOff x="0" y="0"/>
          <a:chExt cx="0" cy="0"/>
        </a:xfrm>
      </p:grpSpPr>
      <p:sp>
        <p:nvSpPr>
          <p:cNvPr id="130" name="Google Shape;130;p16"/>
          <p:cNvSpPr/>
          <p:nvPr/>
        </p:nvSpPr>
        <p:spPr>
          <a:xfrm>
            <a:off x="4747529" y="3395863"/>
            <a:ext cx="1772920" cy="873760"/>
          </a:xfrm>
          <a:custGeom>
            <a:rect b="b" l="l" r="r" t="t"/>
            <a:pathLst>
              <a:path extrusionOk="0" h="873760" w="1772920">
                <a:moveTo>
                  <a:pt x="1336040" y="0"/>
                </a:moveTo>
                <a:lnTo>
                  <a:pt x="436880" y="0"/>
                </a:lnTo>
                <a:lnTo>
                  <a:pt x="401046" y="1448"/>
                </a:lnTo>
                <a:lnTo>
                  <a:pt x="331886" y="12695"/>
                </a:lnTo>
                <a:lnTo>
                  <a:pt x="266819" y="34329"/>
                </a:lnTo>
                <a:lnTo>
                  <a:pt x="206742" y="65450"/>
                </a:lnTo>
                <a:lnTo>
                  <a:pt x="152555" y="105158"/>
                </a:lnTo>
                <a:lnTo>
                  <a:pt x="105158" y="152555"/>
                </a:lnTo>
                <a:lnTo>
                  <a:pt x="65450" y="206742"/>
                </a:lnTo>
                <a:lnTo>
                  <a:pt x="34329" y="266819"/>
                </a:lnTo>
                <a:lnTo>
                  <a:pt x="12695" y="331886"/>
                </a:lnTo>
                <a:lnTo>
                  <a:pt x="1448" y="401046"/>
                </a:lnTo>
                <a:lnTo>
                  <a:pt x="0" y="436879"/>
                </a:lnTo>
                <a:lnTo>
                  <a:pt x="1448" y="472713"/>
                </a:lnTo>
                <a:lnTo>
                  <a:pt x="12695" y="541873"/>
                </a:lnTo>
                <a:lnTo>
                  <a:pt x="34329" y="606940"/>
                </a:lnTo>
                <a:lnTo>
                  <a:pt x="65450" y="667017"/>
                </a:lnTo>
                <a:lnTo>
                  <a:pt x="105158" y="721204"/>
                </a:lnTo>
                <a:lnTo>
                  <a:pt x="152555" y="768601"/>
                </a:lnTo>
                <a:lnTo>
                  <a:pt x="206742" y="808309"/>
                </a:lnTo>
                <a:lnTo>
                  <a:pt x="266819" y="839430"/>
                </a:lnTo>
                <a:lnTo>
                  <a:pt x="331886" y="861064"/>
                </a:lnTo>
                <a:lnTo>
                  <a:pt x="401046" y="872311"/>
                </a:lnTo>
                <a:lnTo>
                  <a:pt x="436880" y="873759"/>
                </a:lnTo>
                <a:lnTo>
                  <a:pt x="1336040" y="873759"/>
                </a:lnTo>
                <a:lnTo>
                  <a:pt x="1406908" y="868042"/>
                </a:lnTo>
                <a:lnTo>
                  <a:pt x="1474134" y="851489"/>
                </a:lnTo>
                <a:lnTo>
                  <a:pt x="1536819" y="824999"/>
                </a:lnTo>
                <a:lnTo>
                  <a:pt x="1594063" y="789472"/>
                </a:lnTo>
                <a:lnTo>
                  <a:pt x="1644967" y="745807"/>
                </a:lnTo>
                <a:lnTo>
                  <a:pt x="1688632" y="694903"/>
                </a:lnTo>
                <a:lnTo>
                  <a:pt x="1724159" y="637659"/>
                </a:lnTo>
                <a:lnTo>
                  <a:pt x="1750649" y="574974"/>
                </a:lnTo>
                <a:lnTo>
                  <a:pt x="1767202" y="507748"/>
                </a:lnTo>
                <a:lnTo>
                  <a:pt x="1772920" y="436879"/>
                </a:lnTo>
                <a:lnTo>
                  <a:pt x="1771471" y="401046"/>
                </a:lnTo>
                <a:lnTo>
                  <a:pt x="1760224" y="331886"/>
                </a:lnTo>
                <a:lnTo>
                  <a:pt x="1738590" y="266819"/>
                </a:lnTo>
                <a:lnTo>
                  <a:pt x="1707469" y="206742"/>
                </a:lnTo>
                <a:lnTo>
                  <a:pt x="1667761" y="152555"/>
                </a:lnTo>
                <a:lnTo>
                  <a:pt x="1620364" y="105158"/>
                </a:lnTo>
                <a:lnTo>
                  <a:pt x="1566177" y="65450"/>
                </a:lnTo>
                <a:lnTo>
                  <a:pt x="1506100" y="34329"/>
                </a:lnTo>
                <a:lnTo>
                  <a:pt x="1441033" y="12695"/>
                </a:lnTo>
                <a:lnTo>
                  <a:pt x="1371873" y="1448"/>
                </a:lnTo>
                <a:lnTo>
                  <a:pt x="1336040" y="0"/>
                </a:lnTo>
                <a:close/>
              </a:path>
            </a:pathLst>
          </a:custGeom>
          <a:solidFill>
            <a:srgbClr val="F1F1F1"/>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1" name="Google Shape;131;p16"/>
          <p:cNvSpPr/>
          <p:nvPr/>
        </p:nvSpPr>
        <p:spPr>
          <a:xfrm>
            <a:off x="4747529" y="3395863"/>
            <a:ext cx="1772920" cy="873760"/>
          </a:xfrm>
          <a:custGeom>
            <a:rect b="b" l="l" r="r" t="t"/>
            <a:pathLst>
              <a:path extrusionOk="0" h="873760" w="1772920">
                <a:moveTo>
                  <a:pt x="0" y="436879"/>
                </a:moveTo>
                <a:lnTo>
                  <a:pt x="5717" y="366011"/>
                </a:lnTo>
                <a:lnTo>
                  <a:pt x="22270" y="298785"/>
                </a:lnTo>
                <a:lnTo>
                  <a:pt x="48760" y="236100"/>
                </a:lnTo>
                <a:lnTo>
                  <a:pt x="84287" y="178856"/>
                </a:lnTo>
                <a:lnTo>
                  <a:pt x="127952" y="127952"/>
                </a:lnTo>
                <a:lnTo>
                  <a:pt x="178856" y="84287"/>
                </a:lnTo>
                <a:lnTo>
                  <a:pt x="236100" y="48760"/>
                </a:lnTo>
                <a:lnTo>
                  <a:pt x="298785" y="22270"/>
                </a:lnTo>
                <a:lnTo>
                  <a:pt x="366011" y="5717"/>
                </a:lnTo>
                <a:lnTo>
                  <a:pt x="436880" y="0"/>
                </a:lnTo>
                <a:lnTo>
                  <a:pt x="1336040" y="0"/>
                </a:lnTo>
                <a:lnTo>
                  <a:pt x="1406908" y="5717"/>
                </a:lnTo>
                <a:lnTo>
                  <a:pt x="1474134" y="22270"/>
                </a:lnTo>
                <a:lnTo>
                  <a:pt x="1536819" y="48760"/>
                </a:lnTo>
                <a:lnTo>
                  <a:pt x="1594063" y="84287"/>
                </a:lnTo>
                <a:lnTo>
                  <a:pt x="1644967" y="127952"/>
                </a:lnTo>
                <a:lnTo>
                  <a:pt x="1688632" y="178856"/>
                </a:lnTo>
                <a:lnTo>
                  <a:pt x="1724159" y="236100"/>
                </a:lnTo>
                <a:lnTo>
                  <a:pt x="1750649" y="298785"/>
                </a:lnTo>
                <a:lnTo>
                  <a:pt x="1767202" y="366011"/>
                </a:lnTo>
                <a:lnTo>
                  <a:pt x="1772920" y="436879"/>
                </a:lnTo>
                <a:lnTo>
                  <a:pt x="1767202" y="507748"/>
                </a:lnTo>
                <a:lnTo>
                  <a:pt x="1750649" y="574974"/>
                </a:lnTo>
                <a:lnTo>
                  <a:pt x="1724159" y="637659"/>
                </a:lnTo>
                <a:lnTo>
                  <a:pt x="1688632" y="694903"/>
                </a:lnTo>
                <a:lnTo>
                  <a:pt x="1644967" y="745807"/>
                </a:lnTo>
                <a:lnTo>
                  <a:pt x="1594063" y="789472"/>
                </a:lnTo>
                <a:lnTo>
                  <a:pt x="1536819" y="824999"/>
                </a:lnTo>
                <a:lnTo>
                  <a:pt x="1474134" y="851489"/>
                </a:lnTo>
                <a:lnTo>
                  <a:pt x="1406908" y="868042"/>
                </a:lnTo>
                <a:lnTo>
                  <a:pt x="1336040" y="873759"/>
                </a:lnTo>
                <a:lnTo>
                  <a:pt x="436880" y="873759"/>
                </a:lnTo>
                <a:lnTo>
                  <a:pt x="366011" y="868042"/>
                </a:lnTo>
                <a:lnTo>
                  <a:pt x="298785" y="851489"/>
                </a:lnTo>
                <a:lnTo>
                  <a:pt x="236100" y="824999"/>
                </a:lnTo>
                <a:lnTo>
                  <a:pt x="178856" y="789472"/>
                </a:lnTo>
                <a:lnTo>
                  <a:pt x="127952" y="745807"/>
                </a:lnTo>
                <a:lnTo>
                  <a:pt x="84287" y="694903"/>
                </a:lnTo>
                <a:lnTo>
                  <a:pt x="48760" y="637659"/>
                </a:lnTo>
                <a:lnTo>
                  <a:pt x="22270" y="574974"/>
                </a:lnTo>
                <a:lnTo>
                  <a:pt x="5717" y="507748"/>
                </a:lnTo>
                <a:lnTo>
                  <a:pt x="1448" y="472713"/>
                </a:lnTo>
                <a:lnTo>
                  <a:pt x="0" y="436879"/>
                </a:lnTo>
                <a:close/>
              </a:path>
            </a:pathLst>
          </a:custGeom>
          <a:noFill/>
          <a:ln cap="flat" cmpd="sng" w="254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2" name="Google Shape;132;p16"/>
          <p:cNvSpPr txBox="1"/>
          <p:nvPr/>
        </p:nvSpPr>
        <p:spPr>
          <a:xfrm>
            <a:off x="4997081" y="3447736"/>
            <a:ext cx="1275715" cy="80327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1800">
                <a:solidFill>
                  <a:srgbClr val="0431FF"/>
                </a:solidFill>
                <a:latin typeface="Arial"/>
                <a:ea typeface="Arial"/>
                <a:cs typeface="Arial"/>
                <a:sym typeface="Arial"/>
              </a:rPr>
              <a:t>O</a:t>
            </a:r>
            <a:r>
              <a:rPr b="1" lang="en-US" sz="1800">
                <a:latin typeface="Arial"/>
                <a:ea typeface="Arial"/>
                <a:cs typeface="Arial"/>
                <a:sym typeface="Arial"/>
              </a:rPr>
              <a:t>bjet</a:t>
            </a:r>
            <a:endParaRPr sz="1800">
              <a:latin typeface="Arial"/>
              <a:ea typeface="Arial"/>
              <a:cs typeface="Arial"/>
              <a:sym typeface="Arial"/>
            </a:endParaRPr>
          </a:p>
          <a:p>
            <a:pPr indent="0" lvl="0" marL="0" marR="0" rtl="0" algn="ctr">
              <a:lnSpc>
                <a:spcPct val="100000"/>
              </a:lnSpc>
              <a:spcBef>
                <a:spcPts val="0"/>
              </a:spcBef>
              <a:spcAft>
                <a:spcPts val="0"/>
              </a:spcAft>
              <a:buNone/>
            </a:pPr>
            <a:r>
              <a:rPr lang="en-US" sz="1800">
                <a:latin typeface="Arial"/>
                <a:ea typeface="Arial"/>
                <a:cs typeface="Arial"/>
                <a:sym typeface="Arial"/>
              </a:rPr>
              <a:t>ou </a:t>
            </a:r>
            <a:r>
              <a:rPr b="1" lang="en-US" sz="1800">
                <a:solidFill>
                  <a:srgbClr val="0431FF"/>
                </a:solidFill>
                <a:latin typeface="Arial"/>
                <a:ea typeface="Arial"/>
                <a:cs typeface="Arial"/>
                <a:sym typeface="Arial"/>
              </a:rPr>
              <a:t>S</a:t>
            </a:r>
            <a:r>
              <a:rPr b="1" lang="en-US" sz="1800">
                <a:latin typeface="Arial"/>
                <a:ea typeface="Arial"/>
                <a:cs typeface="Arial"/>
                <a:sym typeface="Arial"/>
              </a:rPr>
              <a:t>ystème</a:t>
            </a:r>
            <a:endParaRPr sz="1800">
              <a:latin typeface="Arial"/>
              <a:ea typeface="Arial"/>
              <a:cs typeface="Arial"/>
              <a:sym typeface="Arial"/>
            </a:endParaRPr>
          </a:p>
          <a:p>
            <a:pPr indent="0" lvl="0" marL="0" marR="0" rtl="0" algn="ctr">
              <a:lnSpc>
                <a:spcPct val="100000"/>
              </a:lnSpc>
              <a:spcBef>
                <a:spcPts val="0"/>
              </a:spcBef>
              <a:spcAft>
                <a:spcPts val="0"/>
              </a:spcAft>
              <a:buNone/>
            </a:pPr>
            <a:r>
              <a:rPr b="1" lang="en-US" sz="1800">
                <a:solidFill>
                  <a:srgbClr val="0431FF"/>
                </a:solidFill>
                <a:latin typeface="Arial"/>
                <a:ea typeface="Arial"/>
                <a:cs typeface="Arial"/>
                <a:sym typeface="Arial"/>
              </a:rPr>
              <a:t>T</a:t>
            </a:r>
            <a:r>
              <a:rPr b="1" lang="en-US" sz="1800">
                <a:latin typeface="Arial"/>
                <a:ea typeface="Arial"/>
                <a:cs typeface="Arial"/>
                <a:sym typeface="Arial"/>
              </a:rPr>
              <a:t>echnique</a:t>
            </a:r>
            <a:endParaRPr sz="1800">
              <a:latin typeface="Arial"/>
              <a:ea typeface="Arial"/>
              <a:cs typeface="Arial"/>
              <a:sym typeface="Arial"/>
            </a:endParaRPr>
          </a:p>
        </p:txBody>
      </p:sp>
      <p:sp>
        <p:nvSpPr>
          <p:cNvPr id="133" name="Google Shape;133;p16"/>
          <p:cNvSpPr txBox="1"/>
          <p:nvPr/>
        </p:nvSpPr>
        <p:spPr>
          <a:xfrm>
            <a:off x="4031246" y="1281878"/>
            <a:ext cx="1232535" cy="5283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800">
                <a:solidFill>
                  <a:srgbClr val="7E7E7E"/>
                </a:solidFill>
                <a:latin typeface="Arial"/>
                <a:ea typeface="Arial"/>
                <a:cs typeface="Arial"/>
                <a:sym typeface="Arial"/>
              </a:rPr>
              <a:t>Réalise une</a:t>
            </a:r>
            <a:endParaRPr sz="1800">
              <a:latin typeface="Arial"/>
              <a:ea typeface="Arial"/>
              <a:cs typeface="Arial"/>
              <a:sym typeface="Arial"/>
            </a:endParaRPr>
          </a:p>
          <a:p>
            <a:pPr indent="0" lvl="0" marL="12700" marR="0" rtl="0" algn="l">
              <a:lnSpc>
                <a:spcPct val="100000"/>
              </a:lnSpc>
              <a:spcBef>
                <a:spcPts val="0"/>
              </a:spcBef>
              <a:spcAft>
                <a:spcPts val="0"/>
              </a:spcAft>
              <a:buNone/>
            </a:pPr>
            <a:r>
              <a:rPr lang="en-US" sz="1800">
                <a:latin typeface="Arial"/>
                <a:ea typeface="Arial"/>
                <a:cs typeface="Arial"/>
                <a:sym typeface="Arial"/>
              </a:rPr>
              <a:t>fonction</a:t>
            </a:r>
            <a:endParaRPr sz="1800">
              <a:latin typeface="Arial"/>
              <a:ea typeface="Arial"/>
              <a:cs typeface="Arial"/>
              <a:sym typeface="Arial"/>
            </a:endParaRPr>
          </a:p>
        </p:txBody>
      </p:sp>
      <p:sp>
        <p:nvSpPr>
          <p:cNvPr id="134" name="Google Shape;134;p16"/>
          <p:cNvSpPr/>
          <p:nvPr/>
        </p:nvSpPr>
        <p:spPr>
          <a:xfrm>
            <a:off x="5069623" y="1587638"/>
            <a:ext cx="785495" cy="1831975"/>
          </a:xfrm>
          <a:custGeom>
            <a:rect b="b" l="l" r="r" t="t"/>
            <a:pathLst>
              <a:path extrusionOk="0" h="1831975" w="785495">
                <a:moveTo>
                  <a:pt x="71943" y="43768"/>
                </a:moveTo>
                <a:lnTo>
                  <a:pt x="70947" y="49616"/>
                </a:lnTo>
                <a:lnTo>
                  <a:pt x="65003" y="62556"/>
                </a:lnTo>
                <a:lnTo>
                  <a:pt x="60413" y="66481"/>
                </a:lnTo>
                <a:lnTo>
                  <a:pt x="127739" y="105028"/>
                </a:lnTo>
                <a:lnTo>
                  <a:pt x="176126" y="133730"/>
                </a:lnTo>
                <a:lnTo>
                  <a:pt x="223751" y="162940"/>
                </a:lnTo>
                <a:lnTo>
                  <a:pt x="270487" y="193039"/>
                </a:lnTo>
                <a:lnTo>
                  <a:pt x="316207" y="224154"/>
                </a:lnTo>
                <a:lnTo>
                  <a:pt x="360657" y="256539"/>
                </a:lnTo>
                <a:lnTo>
                  <a:pt x="403456" y="290321"/>
                </a:lnTo>
                <a:lnTo>
                  <a:pt x="444731" y="325881"/>
                </a:lnTo>
                <a:lnTo>
                  <a:pt x="484101" y="363346"/>
                </a:lnTo>
                <a:lnTo>
                  <a:pt x="521185" y="402970"/>
                </a:lnTo>
                <a:lnTo>
                  <a:pt x="556110" y="444753"/>
                </a:lnTo>
                <a:lnTo>
                  <a:pt x="588495" y="489203"/>
                </a:lnTo>
                <a:lnTo>
                  <a:pt x="618086" y="536447"/>
                </a:lnTo>
                <a:lnTo>
                  <a:pt x="644883" y="586739"/>
                </a:lnTo>
                <a:lnTo>
                  <a:pt x="668632" y="640079"/>
                </a:lnTo>
                <a:lnTo>
                  <a:pt x="689079" y="697102"/>
                </a:lnTo>
                <a:lnTo>
                  <a:pt x="706605" y="757427"/>
                </a:lnTo>
                <a:lnTo>
                  <a:pt x="721337" y="820927"/>
                </a:lnTo>
                <a:lnTo>
                  <a:pt x="733148" y="887348"/>
                </a:lnTo>
                <a:lnTo>
                  <a:pt x="742673" y="956436"/>
                </a:lnTo>
                <a:lnTo>
                  <a:pt x="749785" y="1027937"/>
                </a:lnTo>
                <a:lnTo>
                  <a:pt x="754992" y="1101724"/>
                </a:lnTo>
                <a:lnTo>
                  <a:pt x="758167" y="1177543"/>
                </a:lnTo>
                <a:lnTo>
                  <a:pt x="759691" y="1255267"/>
                </a:lnTo>
                <a:lnTo>
                  <a:pt x="759813" y="1334896"/>
                </a:lnTo>
                <a:lnTo>
                  <a:pt x="758659" y="1415668"/>
                </a:lnTo>
                <a:lnTo>
                  <a:pt x="756610" y="1497583"/>
                </a:lnTo>
                <a:lnTo>
                  <a:pt x="753543" y="1580514"/>
                </a:lnTo>
                <a:lnTo>
                  <a:pt x="749723" y="1663953"/>
                </a:lnTo>
                <a:lnTo>
                  <a:pt x="741530" y="1830450"/>
                </a:lnTo>
                <a:lnTo>
                  <a:pt x="766930" y="1831720"/>
                </a:lnTo>
                <a:lnTo>
                  <a:pt x="775241" y="1662683"/>
                </a:lnTo>
                <a:lnTo>
                  <a:pt x="778910" y="1579371"/>
                </a:lnTo>
                <a:lnTo>
                  <a:pt x="781940" y="1496694"/>
                </a:lnTo>
                <a:lnTo>
                  <a:pt x="784084" y="1415033"/>
                </a:lnTo>
                <a:lnTo>
                  <a:pt x="785218" y="1334515"/>
                </a:lnTo>
                <a:lnTo>
                  <a:pt x="785091" y="1255267"/>
                </a:lnTo>
                <a:lnTo>
                  <a:pt x="783567" y="1177035"/>
                </a:lnTo>
                <a:lnTo>
                  <a:pt x="780392" y="1100708"/>
                </a:lnTo>
                <a:lnTo>
                  <a:pt x="775185" y="1026159"/>
                </a:lnTo>
                <a:lnTo>
                  <a:pt x="767946" y="953642"/>
                </a:lnTo>
                <a:lnTo>
                  <a:pt x="758294" y="883665"/>
                </a:lnTo>
                <a:lnTo>
                  <a:pt x="746229" y="816101"/>
                </a:lnTo>
                <a:lnTo>
                  <a:pt x="731370" y="751458"/>
                </a:lnTo>
                <a:lnTo>
                  <a:pt x="713463" y="689609"/>
                </a:lnTo>
                <a:lnTo>
                  <a:pt x="692381" y="631189"/>
                </a:lnTo>
                <a:lnTo>
                  <a:pt x="667870" y="575944"/>
                </a:lnTo>
                <a:lnTo>
                  <a:pt x="640438" y="524128"/>
                </a:lnTo>
                <a:lnTo>
                  <a:pt x="609704" y="475360"/>
                </a:lnTo>
                <a:lnTo>
                  <a:pt x="576303" y="429513"/>
                </a:lnTo>
                <a:lnTo>
                  <a:pt x="540489" y="386333"/>
                </a:lnTo>
                <a:lnTo>
                  <a:pt x="502389" y="345693"/>
                </a:lnTo>
                <a:lnTo>
                  <a:pt x="462130" y="307466"/>
                </a:lnTo>
                <a:lnTo>
                  <a:pt x="420093" y="271144"/>
                </a:lnTo>
                <a:lnTo>
                  <a:pt x="376278" y="236600"/>
                </a:lnTo>
                <a:lnTo>
                  <a:pt x="331193" y="203580"/>
                </a:lnTo>
                <a:lnTo>
                  <a:pt x="284838" y="172084"/>
                </a:lnTo>
                <a:lnTo>
                  <a:pt x="237467" y="141604"/>
                </a:lnTo>
                <a:lnTo>
                  <a:pt x="189334" y="112013"/>
                </a:lnTo>
                <a:lnTo>
                  <a:pt x="140566" y="83184"/>
                </a:lnTo>
                <a:lnTo>
                  <a:pt x="71943" y="43768"/>
                </a:lnTo>
                <a:close/>
              </a:path>
              <a:path extrusionOk="0" h="1831975" w="785495">
                <a:moveTo>
                  <a:pt x="31554" y="0"/>
                </a:moveTo>
                <a:lnTo>
                  <a:pt x="20186" y="3200"/>
                </a:lnTo>
                <a:lnTo>
                  <a:pt x="10250" y="9815"/>
                </a:lnTo>
                <a:lnTo>
                  <a:pt x="3195" y="23405"/>
                </a:lnTo>
                <a:lnTo>
                  <a:pt x="0" y="36041"/>
                </a:lnTo>
                <a:lnTo>
                  <a:pt x="299" y="47452"/>
                </a:lnTo>
                <a:lnTo>
                  <a:pt x="3729" y="57367"/>
                </a:lnTo>
                <a:lnTo>
                  <a:pt x="9925" y="65515"/>
                </a:lnTo>
                <a:lnTo>
                  <a:pt x="23153" y="71924"/>
                </a:lnTo>
                <a:lnTo>
                  <a:pt x="35640" y="74488"/>
                </a:lnTo>
                <a:lnTo>
                  <a:pt x="47021" y="73553"/>
                </a:lnTo>
                <a:lnTo>
                  <a:pt x="56931" y="69461"/>
                </a:lnTo>
                <a:lnTo>
                  <a:pt x="60413" y="66481"/>
                </a:lnTo>
                <a:lnTo>
                  <a:pt x="29695" y="48894"/>
                </a:lnTo>
                <a:lnTo>
                  <a:pt x="42395" y="26796"/>
                </a:lnTo>
                <a:lnTo>
                  <a:pt x="71768" y="26796"/>
                </a:lnTo>
                <a:lnTo>
                  <a:pt x="71654" y="25872"/>
                </a:lnTo>
                <a:lnTo>
                  <a:pt x="67069" y="15962"/>
                </a:lnTo>
                <a:lnTo>
                  <a:pt x="59625" y="7955"/>
                </a:lnTo>
                <a:lnTo>
                  <a:pt x="54968" y="4825"/>
                </a:lnTo>
                <a:lnTo>
                  <a:pt x="43449" y="459"/>
                </a:lnTo>
                <a:lnTo>
                  <a:pt x="31554" y="0"/>
                </a:lnTo>
                <a:close/>
              </a:path>
              <a:path extrusionOk="0" h="1831975" w="785495">
                <a:moveTo>
                  <a:pt x="42395" y="26796"/>
                </a:moveTo>
                <a:lnTo>
                  <a:pt x="29695" y="48894"/>
                </a:lnTo>
                <a:lnTo>
                  <a:pt x="60413" y="66481"/>
                </a:lnTo>
                <a:lnTo>
                  <a:pt x="65003" y="62556"/>
                </a:lnTo>
                <a:lnTo>
                  <a:pt x="70947" y="49616"/>
                </a:lnTo>
                <a:lnTo>
                  <a:pt x="71943" y="43768"/>
                </a:lnTo>
                <a:lnTo>
                  <a:pt x="42395" y="26796"/>
                </a:lnTo>
                <a:close/>
              </a:path>
              <a:path extrusionOk="0" h="1831975" w="785495">
                <a:moveTo>
                  <a:pt x="71768" y="26796"/>
                </a:moveTo>
                <a:lnTo>
                  <a:pt x="42395" y="26796"/>
                </a:lnTo>
                <a:lnTo>
                  <a:pt x="71943" y="43768"/>
                </a:lnTo>
                <a:lnTo>
                  <a:pt x="73056" y="37240"/>
                </a:lnTo>
                <a:lnTo>
                  <a:pt x="71768" y="26796"/>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5" name="Google Shape;135;p16"/>
          <p:cNvSpPr txBox="1"/>
          <p:nvPr/>
        </p:nvSpPr>
        <p:spPr>
          <a:xfrm>
            <a:off x="3083826" y="3253426"/>
            <a:ext cx="1334135" cy="5289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800">
                <a:solidFill>
                  <a:srgbClr val="7E7E7E"/>
                </a:solidFill>
                <a:latin typeface="Arial"/>
                <a:ea typeface="Arial"/>
                <a:cs typeface="Arial"/>
                <a:sym typeface="Arial"/>
              </a:rPr>
              <a:t>Répond à un</a:t>
            </a:r>
            <a:endParaRPr sz="1800">
              <a:latin typeface="Arial"/>
              <a:ea typeface="Arial"/>
              <a:cs typeface="Arial"/>
              <a:sym typeface="Arial"/>
            </a:endParaRPr>
          </a:p>
          <a:p>
            <a:pPr indent="0" lvl="0" marL="12700" marR="0" rtl="0" algn="l">
              <a:lnSpc>
                <a:spcPct val="100000"/>
              </a:lnSpc>
              <a:spcBef>
                <a:spcPts val="0"/>
              </a:spcBef>
              <a:spcAft>
                <a:spcPts val="0"/>
              </a:spcAft>
              <a:buNone/>
            </a:pPr>
            <a:r>
              <a:rPr lang="en-US" sz="1800">
                <a:latin typeface="Arial"/>
                <a:ea typeface="Arial"/>
                <a:cs typeface="Arial"/>
                <a:sym typeface="Arial"/>
              </a:rPr>
              <a:t>besoin</a:t>
            </a:r>
            <a:endParaRPr sz="1800">
              <a:latin typeface="Arial"/>
              <a:ea typeface="Arial"/>
              <a:cs typeface="Arial"/>
              <a:sym typeface="Arial"/>
            </a:endParaRPr>
          </a:p>
        </p:txBody>
      </p:sp>
      <p:sp>
        <p:nvSpPr>
          <p:cNvPr id="136" name="Google Shape;136;p16"/>
          <p:cNvSpPr/>
          <p:nvPr/>
        </p:nvSpPr>
        <p:spPr>
          <a:xfrm>
            <a:off x="3913884" y="3579406"/>
            <a:ext cx="948055" cy="205104"/>
          </a:xfrm>
          <a:custGeom>
            <a:rect b="b" l="l" r="r" t="t"/>
            <a:pathLst>
              <a:path extrusionOk="0" h="205104" w="948054">
                <a:moveTo>
                  <a:pt x="73604" y="49367"/>
                </a:moveTo>
                <a:lnTo>
                  <a:pt x="70802" y="56446"/>
                </a:lnTo>
                <a:lnTo>
                  <a:pt x="60936" y="66314"/>
                </a:lnTo>
                <a:lnTo>
                  <a:pt x="57030" y="68493"/>
                </a:lnTo>
                <a:lnTo>
                  <a:pt x="63771" y="73886"/>
                </a:lnTo>
                <a:lnTo>
                  <a:pt x="98442" y="100429"/>
                </a:lnTo>
                <a:lnTo>
                  <a:pt x="134637" y="125321"/>
                </a:lnTo>
                <a:lnTo>
                  <a:pt x="173372" y="148308"/>
                </a:lnTo>
                <a:lnTo>
                  <a:pt x="215282" y="168374"/>
                </a:lnTo>
                <a:lnTo>
                  <a:pt x="260875" y="184757"/>
                </a:lnTo>
                <a:lnTo>
                  <a:pt x="311040" y="196822"/>
                </a:lnTo>
                <a:lnTo>
                  <a:pt x="366285" y="203553"/>
                </a:lnTo>
                <a:lnTo>
                  <a:pt x="395876" y="204823"/>
                </a:lnTo>
                <a:lnTo>
                  <a:pt x="426737" y="204823"/>
                </a:lnTo>
                <a:lnTo>
                  <a:pt x="492269" y="201013"/>
                </a:lnTo>
                <a:lnTo>
                  <a:pt x="561738" y="192758"/>
                </a:lnTo>
                <a:lnTo>
                  <a:pt x="634763" y="181074"/>
                </a:lnTo>
                <a:lnTo>
                  <a:pt x="643648" y="179423"/>
                </a:lnTo>
                <a:lnTo>
                  <a:pt x="395876" y="179423"/>
                </a:lnTo>
                <a:lnTo>
                  <a:pt x="367428" y="178280"/>
                </a:lnTo>
                <a:lnTo>
                  <a:pt x="314977" y="171676"/>
                </a:lnTo>
                <a:lnTo>
                  <a:pt x="267606" y="160246"/>
                </a:lnTo>
                <a:lnTo>
                  <a:pt x="224426" y="144752"/>
                </a:lnTo>
                <a:lnTo>
                  <a:pt x="184802" y="125702"/>
                </a:lnTo>
                <a:lnTo>
                  <a:pt x="147972" y="103731"/>
                </a:lnTo>
                <a:lnTo>
                  <a:pt x="112920" y="79474"/>
                </a:lnTo>
                <a:lnTo>
                  <a:pt x="79138" y="53820"/>
                </a:lnTo>
                <a:lnTo>
                  <a:pt x="73604" y="49367"/>
                </a:lnTo>
                <a:close/>
              </a:path>
              <a:path extrusionOk="0" h="205104" w="948054">
                <a:moveTo>
                  <a:pt x="941849" y="87856"/>
                </a:moveTo>
                <a:lnTo>
                  <a:pt x="782845" y="124813"/>
                </a:lnTo>
                <a:lnTo>
                  <a:pt x="705375" y="141577"/>
                </a:lnTo>
                <a:lnTo>
                  <a:pt x="630191" y="156055"/>
                </a:lnTo>
                <a:lnTo>
                  <a:pt x="557928" y="167739"/>
                </a:lnTo>
                <a:lnTo>
                  <a:pt x="489602" y="175740"/>
                </a:lnTo>
                <a:lnTo>
                  <a:pt x="425721" y="179423"/>
                </a:lnTo>
                <a:lnTo>
                  <a:pt x="643648" y="179423"/>
                </a:lnTo>
                <a:lnTo>
                  <a:pt x="672355" y="174089"/>
                </a:lnTo>
                <a:lnTo>
                  <a:pt x="710709" y="166342"/>
                </a:lnTo>
                <a:lnTo>
                  <a:pt x="788560" y="149578"/>
                </a:lnTo>
                <a:lnTo>
                  <a:pt x="947691" y="112621"/>
                </a:lnTo>
                <a:lnTo>
                  <a:pt x="941849" y="87856"/>
                </a:lnTo>
                <a:close/>
              </a:path>
              <a:path extrusionOk="0" h="205104" w="948054">
                <a:moveTo>
                  <a:pt x="45334" y="0"/>
                </a:moveTo>
                <a:lnTo>
                  <a:pt x="2591" y="23099"/>
                </a:lnTo>
                <a:lnTo>
                  <a:pt x="0" y="34806"/>
                </a:lnTo>
                <a:lnTo>
                  <a:pt x="1133" y="46613"/>
                </a:lnTo>
                <a:lnTo>
                  <a:pt x="38682" y="74806"/>
                </a:lnTo>
                <a:lnTo>
                  <a:pt x="50023" y="72403"/>
                </a:lnTo>
                <a:lnTo>
                  <a:pt x="57030" y="68493"/>
                </a:lnTo>
                <a:lnTo>
                  <a:pt x="30116" y="46962"/>
                </a:lnTo>
                <a:lnTo>
                  <a:pt x="45991" y="27150"/>
                </a:lnTo>
                <a:lnTo>
                  <a:pt x="73343" y="27150"/>
                </a:lnTo>
                <a:lnTo>
                  <a:pt x="72547" y="24124"/>
                </a:lnTo>
                <a:lnTo>
                  <a:pt x="65884" y="13250"/>
                </a:lnTo>
                <a:lnTo>
                  <a:pt x="55333" y="3170"/>
                </a:lnTo>
                <a:lnTo>
                  <a:pt x="45334" y="0"/>
                </a:lnTo>
                <a:close/>
              </a:path>
              <a:path extrusionOk="0" h="205104" w="948054">
                <a:moveTo>
                  <a:pt x="45991" y="27150"/>
                </a:moveTo>
                <a:lnTo>
                  <a:pt x="30116" y="46962"/>
                </a:lnTo>
                <a:lnTo>
                  <a:pt x="57030" y="68493"/>
                </a:lnTo>
                <a:lnTo>
                  <a:pt x="60936" y="66314"/>
                </a:lnTo>
                <a:lnTo>
                  <a:pt x="70802" y="56446"/>
                </a:lnTo>
                <a:lnTo>
                  <a:pt x="73604" y="49367"/>
                </a:lnTo>
                <a:lnTo>
                  <a:pt x="45991" y="27150"/>
                </a:lnTo>
                <a:close/>
              </a:path>
              <a:path extrusionOk="0" h="205104" w="948054">
                <a:moveTo>
                  <a:pt x="73343" y="27150"/>
                </a:moveTo>
                <a:lnTo>
                  <a:pt x="45991" y="27150"/>
                </a:lnTo>
                <a:lnTo>
                  <a:pt x="73604" y="49367"/>
                </a:lnTo>
                <a:lnTo>
                  <a:pt x="74847" y="46228"/>
                </a:lnTo>
                <a:lnTo>
                  <a:pt x="75481" y="35285"/>
                </a:lnTo>
                <a:lnTo>
                  <a:pt x="73343" y="2715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7" name="Google Shape;137;p16"/>
          <p:cNvSpPr txBox="1"/>
          <p:nvPr/>
        </p:nvSpPr>
        <p:spPr>
          <a:xfrm>
            <a:off x="1818271" y="4249873"/>
            <a:ext cx="2440940" cy="4730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600">
                <a:solidFill>
                  <a:srgbClr val="7E7E7E"/>
                </a:solidFill>
                <a:latin typeface="Arial"/>
                <a:ea typeface="Arial"/>
                <a:cs typeface="Arial"/>
                <a:sym typeface="Arial"/>
              </a:rPr>
              <a:t>Est mis en œuvre selon un</a:t>
            </a:r>
            <a:endParaRPr sz="1600">
              <a:latin typeface="Arial"/>
              <a:ea typeface="Arial"/>
              <a:cs typeface="Arial"/>
              <a:sym typeface="Arial"/>
            </a:endParaRPr>
          </a:p>
          <a:p>
            <a:pPr indent="0" lvl="0" marL="12700" marR="0" rtl="0" algn="l">
              <a:lnSpc>
                <a:spcPct val="100000"/>
              </a:lnSpc>
              <a:spcBef>
                <a:spcPts val="0"/>
              </a:spcBef>
              <a:spcAft>
                <a:spcPts val="0"/>
              </a:spcAft>
              <a:buNone/>
            </a:pPr>
            <a:r>
              <a:rPr lang="en-US" sz="1600">
                <a:latin typeface="Arial"/>
                <a:ea typeface="Arial"/>
                <a:cs typeface="Arial"/>
                <a:sym typeface="Arial"/>
              </a:rPr>
              <a:t>mode d’emploi</a:t>
            </a:r>
            <a:endParaRPr sz="1600">
              <a:latin typeface="Arial"/>
              <a:ea typeface="Arial"/>
              <a:cs typeface="Arial"/>
              <a:sym typeface="Arial"/>
            </a:endParaRPr>
          </a:p>
        </p:txBody>
      </p:sp>
      <p:sp>
        <p:nvSpPr>
          <p:cNvPr id="138" name="Google Shape;138;p16"/>
          <p:cNvSpPr/>
          <p:nvPr/>
        </p:nvSpPr>
        <p:spPr>
          <a:xfrm>
            <a:off x="3169587" y="4151132"/>
            <a:ext cx="1744980" cy="549275"/>
          </a:xfrm>
          <a:custGeom>
            <a:rect b="b" l="l" r="r" t="t"/>
            <a:pathLst>
              <a:path extrusionOk="0" h="549275" w="1744979">
                <a:moveTo>
                  <a:pt x="74732" y="456434"/>
                </a:moveTo>
                <a:lnTo>
                  <a:pt x="75017" y="457056"/>
                </a:lnTo>
                <a:lnTo>
                  <a:pt x="75932" y="469183"/>
                </a:lnTo>
                <a:lnTo>
                  <a:pt x="72400" y="481715"/>
                </a:lnTo>
                <a:lnTo>
                  <a:pt x="459452" y="517525"/>
                </a:lnTo>
                <a:lnTo>
                  <a:pt x="662525" y="533273"/>
                </a:lnTo>
                <a:lnTo>
                  <a:pt x="808321" y="542036"/>
                </a:lnTo>
                <a:lnTo>
                  <a:pt x="901793" y="546100"/>
                </a:lnTo>
                <a:lnTo>
                  <a:pt x="991836" y="548640"/>
                </a:lnTo>
                <a:lnTo>
                  <a:pt x="1077688" y="549148"/>
                </a:lnTo>
                <a:lnTo>
                  <a:pt x="1159476" y="547751"/>
                </a:lnTo>
                <a:lnTo>
                  <a:pt x="1198465" y="546100"/>
                </a:lnTo>
                <a:lnTo>
                  <a:pt x="1272887" y="541147"/>
                </a:lnTo>
                <a:lnTo>
                  <a:pt x="1341848" y="533781"/>
                </a:lnTo>
                <a:lnTo>
                  <a:pt x="1403659" y="523748"/>
                </a:lnTo>
                <a:lnTo>
                  <a:pt x="1077434" y="523748"/>
                </a:lnTo>
                <a:lnTo>
                  <a:pt x="992090" y="523240"/>
                </a:lnTo>
                <a:lnTo>
                  <a:pt x="902682" y="520700"/>
                </a:lnTo>
                <a:lnTo>
                  <a:pt x="856581" y="518922"/>
                </a:lnTo>
                <a:lnTo>
                  <a:pt x="761839" y="514095"/>
                </a:lnTo>
                <a:lnTo>
                  <a:pt x="563973" y="500506"/>
                </a:lnTo>
                <a:lnTo>
                  <a:pt x="74732" y="456434"/>
                </a:lnTo>
                <a:close/>
              </a:path>
              <a:path extrusionOk="0" h="549275" w="1744979">
                <a:moveTo>
                  <a:pt x="1743549" y="0"/>
                </a:moveTo>
                <a:lnTo>
                  <a:pt x="1718149" y="508"/>
                </a:lnTo>
                <a:lnTo>
                  <a:pt x="1719038" y="39878"/>
                </a:lnTo>
                <a:lnTo>
                  <a:pt x="1719419" y="78994"/>
                </a:lnTo>
                <a:lnTo>
                  <a:pt x="1719027" y="117729"/>
                </a:lnTo>
                <a:lnTo>
                  <a:pt x="1714085" y="192151"/>
                </a:lnTo>
                <a:lnTo>
                  <a:pt x="1705195" y="244983"/>
                </a:lnTo>
                <a:lnTo>
                  <a:pt x="1690463" y="294767"/>
                </a:lnTo>
                <a:lnTo>
                  <a:pt x="1668492" y="340614"/>
                </a:lnTo>
                <a:lnTo>
                  <a:pt x="1638012" y="382524"/>
                </a:lnTo>
                <a:lnTo>
                  <a:pt x="1597626" y="419734"/>
                </a:lnTo>
                <a:lnTo>
                  <a:pt x="1564225" y="441706"/>
                </a:lnTo>
                <a:lnTo>
                  <a:pt x="1525236" y="461391"/>
                </a:lnTo>
                <a:lnTo>
                  <a:pt x="1480024" y="478409"/>
                </a:lnTo>
                <a:lnTo>
                  <a:pt x="1428335" y="492633"/>
                </a:lnTo>
                <a:lnTo>
                  <a:pt x="1369788" y="503936"/>
                </a:lnTo>
                <a:lnTo>
                  <a:pt x="1305018" y="512572"/>
                </a:lnTo>
                <a:lnTo>
                  <a:pt x="1234406" y="518668"/>
                </a:lnTo>
                <a:lnTo>
                  <a:pt x="1158460" y="522351"/>
                </a:lnTo>
                <a:lnTo>
                  <a:pt x="1077434" y="523748"/>
                </a:lnTo>
                <a:lnTo>
                  <a:pt x="1403659" y="523748"/>
                </a:lnTo>
                <a:lnTo>
                  <a:pt x="1462371" y="510286"/>
                </a:lnTo>
                <a:lnTo>
                  <a:pt x="1513044" y="493776"/>
                </a:lnTo>
                <a:lnTo>
                  <a:pt x="1557621" y="474218"/>
                </a:lnTo>
                <a:lnTo>
                  <a:pt x="1596356" y="451739"/>
                </a:lnTo>
                <a:lnTo>
                  <a:pt x="1629503" y="426466"/>
                </a:lnTo>
                <a:lnTo>
                  <a:pt x="1657697" y="398653"/>
                </a:lnTo>
                <a:lnTo>
                  <a:pt x="1690717" y="352933"/>
                </a:lnTo>
                <a:lnTo>
                  <a:pt x="1714466" y="303022"/>
                </a:lnTo>
                <a:lnTo>
                  <a:pt x="1730087" y="249936"/>
                </a:lnTo>
                <a:lnTo>
                  <a:pt x="1739358" y="194437"/>
                </a:lnTo>
                <a:lnTo>
                  <a:pt x="1742787" y="156337"/>
                </a:lnTo>
                <a:lnTo>
                  <a:pt x="1744315" y="117475"/>
                </a:lnTo>
                <a:lnTo>
                  <a:pt x="1744819" y="78740"/>
                </a:lnTo>
                <a:lnTo>
                  <a:pt x="1744311" y="39370"/>
                </a:lnTo>
                <a:lnTo>
                  <a:pt x="1743549" y="0"/>
                </a:lnTo>
                <a:close/>
              </a:path>
              <a:path extrusionOk="0" h="549275" w="1744979">
                <a:moveTo>
                  <a:pt x="31400" y="428168"/>
                </a:moveTo>
                <a:lnTo>
                  <a:pt x="19807" y="432548"/>
                </a:lnTo>
                <a:lnTo>
                  <a:pt x="10198" y="440897"/>
                </a:lnTo>
                <a:lnTo>
                  <a:pt x="3340" y="452917"/>
                </a:lnTo>
                <a:lnTo>
                  <a:pt x="0" y="468309"/>
                </a:lnTo>
                <a:lnTo>
                  <a:pt x="3245" y="481263"/>
                </a:lnTo>
                <a:lnTo>
                  <a:pt x="10593" y="492095"/>
                </a:lnTo>
                <a:lnTo>
                  <a:pt x="21240" y="499845"/>
                </a:lnTo>
                <a:lnTo>
                  <a:pt x="34383" y="503555"/>
                </a:lnTo>
                <a:lnTo>
                  <a:pt x="40734" y="503644"/>
                </a:lnTo>
                <a:lnTo>
                  <a:pt x="53666" y="500380"/>
                </a:lnTo>
                <a:lnTo>
                  <a:pt x="64479" y="493019"/>
                </a:lnTo>
                <a:lnTo>
                  <a:pt x="72219" y="482355"/>
                </a:lnTo>
                <a:lnTo>
                  <a:pt x="72400" y="481715"/>
                </a:lnTo>
                <a:lnTo>
                  <a:pt x="36796" y="478281"/>
                </a:lnTo>
                <a:lnTo>
                  <a:pt x="39209" y="453009"/>
                </a:lnTo>
                <a:lnTo>
                  <a:pt x="73160" y="453009"/>
                </a:lnTo>
                <a:lnTo>
                  <a:pt x="70031" y="446189"/>
                </a:lnTo>
                <a:lnTo>
                  <a:pt x="61049" y="437283"/>
                </a:lnTo>
                <a:lnTo>
                  <a:pt x="48147" y="431042"/>
                </a:lnTo>
                <a:lnTo>
                  <a:pt x="31400" y="428168"/>
                </a:lnTo>
                <a:close/>
              </a:path>
              <a:path extrusionOk="0" h="549275" w="1744979">
                <a:moveTo>
                  <a:pt x="39209" y="453009"/>
                </a:moveTo>
                <a:lnTo>
                  <a:pt x="36796" y="478281"/>
                </a:lnTo>
                <a:lnTo>
                  <a:pt x="72400" y="481715"/>
                </a:lnTo>
                <a:lnTo>
                  <a:pt x="75932" y="469183"/>
                </a:lnTo>
                <a:lnTo>
                  <a:pt x="75017" y="457056"/>
                </a:lnTo>
                <a:lnTo>
                  <a:pt x="74732" y="456434"/>
                </a:lnTo>
                <a:lnTo>
                  <a:pt x="39209" y="453009"/>
                </a:lnTo>
                <a:close/>
              </a:path>
              <a:path extrusionOk="0" h="549275" w="1744979">
                <a:moveTo>
                  <a:pt x="73160" y="453009"/>
                </a:moveTo>
                <a:lnTo>
                  <a:pt x="39209" y="453009"/>
                </a:lnTo>
                <a:lnTo>
                  <a:pt x="74732" y="456434"/>
                </a:lnTo>
                <a:lnTo>
                  <a:pt x="73160" y="453009"/>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9" name="Google Shape;139;p16"/>
          <p:cNvSpPr txBox="1"/>
          <p:nvPr/>
        </p:nvSpPr>
        <p:spPr>
          <a:xfrm>
            <a:off x="2767850" y="5233099"/>
            <a:ext cx="1440180" cy="5289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800">
                <a:solidFill>
                  <a:srgbClr val="7E7E7E"/>
                </a:solidFill>
                <a:latin typeface="Arial"/>
                <a:ea typeface="Arial"/>
                <a:cs typeface="Arial"/>
                <a:sym typeface="Arial"/>
              </a:rPr>
              <a:t>Possède une</a:t>
            </a:r>
            <a:endParaRPr sz="1800">
              <a:latin typeface="Arial"/>
              <a:ea typeface="Arial"/>
              <a:cs typeface="Arial"/>
              <a:sym typeface="Arial"/>
            </a:endParaRPr>
          </a:p>
          <a:p>
            <a:pPr indent="0" lvl="0" marL="139700" marR="0" rtl="0" algn="l">
              <a:lnSpc>
                <a:spcPct val="100000"/>
              </a:lnSpc>
              <a:spcBef>
                <a:spcPts val="0"/>
              </a:spcBef>
              <a:spcAft>
                <a:spcPts val="0"/>
              </a:spcAft>
              <a:buNone/>
            </a:pPr>
            <a:r>
              <a:rPr lang="en-US" sz="1800">
                <a:latin typeface="Arial"/>
                <a:ea typeface="Arial"/>
                <a:cs typeface="Arial"/>
                <a:sym typeface="Arial"/>
              </a:rPr>
              <a:t>performance</a:t>
            </a:r>
            <a:endParaRPr sz="1800">
              <a:latin typeface="Arial"/>
              <a:ea typeface="Arial"/>
              <a:cs typeface="Arial"/>
              <a:sym typeface="Arial"/>
            </a:endParaRPr>
          </a:p>
        </p:txBody>
      </p:sp>
      <p:sp>
        <p:nvSpPr>
          <p:cNvPr id="140" name="Google Shape;140;p16"/>
          <p:cNvSpPr/>
          <p:nvPr/>
        </p:nvSpPr>
        <p:spPr>
          <a:xfrm>
            <a:off x="4426471" y="4287784"/>
            <a:ext cx="1123950" cy="1399540"/>
          </a:xfrm>
          <a:custGeom>
            <a:rect b="b" l="l" r="r" t="t"/>
            <a:pathLst>
              <a:path extrusionOk="0" h="1399539" w="1123950">
                <a:moveTo>
                  <a:pt x="71881" y="1344494"/>
                </a:moveTo>
                <a:lnTo>
                  <a:pt x="73078" y="1350476"/>
                </a:lnTo>
                <a:lnTo>
                  <a:pt x="71907" y="1366242"/>
                </a:lnTo>
                <a:lnTo>
                  <a:pt x="69668" y="1369787"/>
                </a:lnTo>
                <a:lnTo>
                  <a:pt x="135256" y="1379982"/>
                </a:lnTo>
                <a:lnTo>
                  <a:pt x="185421" y="1386840"/>
                </a:lnTo>
                <a:lnTo>
                  <a:pt x="235205" y="1392682"/>
                </a:lnTo>
                <a:lnTo>
                  <a:pt x="284608" y="1396746"/>
                </a:lnTo>
                <a:lnTo>
                  <a:pt x="333630" y="1399032"/>
                </a:lnTo>
                <a:lnTo>
                  <a:pt x="357887" y="1399159"/>
                </a:lnTo>
                <a:lnTo>
                  <a:pt x="382017" y="1398651"/>
                </a:lnTo>
                <a:lnTo>
                  <a:pt x="429388" y="1395730"/>
                </a:lnTo>
                <a:lnTo>
                  <a:pt x="475870" y="1389634"/>
                </a:lnTo>
                <a:lnTo>
                  <a:pt x="521336" y="1379728"/>
                </a:lnTo>
                <a:lnTo>
                  <a:pt x="542228" y="1373759"/>
                </a:lnTo>
                <a:lnTo>
                  <a:pt x="358141" y="1373759"/>
                </a:lnTo>
                <a:lnTo>
                  <a:pt x="334519" y="1373632"/>
                </a:lnTo>
                <a:lnTo>
                  <a:pt x="286767" y="1371473"/>
                </a:lnTo>
                <a:lnTo>
                  <a:pt x="238126" y="1367409"/>
                </a:lnTo>
                <a:lnTo>
                  <a:pt x="188850" y="1361694"/>
                </a:lnTo>
                <a:lnTo>
                  <a:pt x="139193" y="1354836"/>
                </a:lnTo>
                <a:lnTo>
                  <a:pt x="71881" y="1344494"/>
                </a:lnTo>
                <a:close/>
              </a:path>
              <a:path extrusionOk="0" h="1399539" w="1123950">
                <a:moveTo>
                  <a:pt x="42673" y="1314069"/>
                </a:moveTo>
                <a:lnTo>
                  <a:pt x="954" y="1338259"/>
                </a:lnTo>
                <a:lnTo>
                  <a:pt x="0" y="1353764"/>
                </a:lnTo>
                <a:lnTo>
                  <a:pt x="2924" y="1366940"/>
                </a:lnTo>
                <a:lnTo>
                  <a:pt x="9147" y="1377450"/>
                </a:lnTo>
                <a:lnTo>
                  <a:pt x="18085" y="1384955"/>
                </a:lnTo>
                <a:lnTo>
                  <a:pt x="29157" y="1389119"/>
                </a:lnTo>
                <a:lnTo>
                  <a:pt x="42959" y="1389072"/>
                </a:lnTo>
                <a:lnTo>
                  <a:pt x="55217" y="1384800"/>
                </a:lnTo>
                <a:lnTo>
                  <a:pt x="65132" y="1376968"/>
                </a:lnTo>
                <a:lnTo>
                  <a:pt x="69668" y="1369787"/>
                </a:lnTo>
                <a:lnTo>
                  <a:pt x="34672" y="1364234"/>
                </a:lnTo>
                <a:lnTo>
                  <a:pt x="38609" y="1339215"/>
                </a:lnTo>
                <a:lnTo>
                  <a:pt x="70824" y="1339215"/>
                </a:lnTo>
                <a:lnTo>
                  <a:pt x="70411" y="1337146"/>
                </a:lnTo>
                <a:lnTo>
                  <a:pt x="64478" y="1326529"/>
                </a:lnTo>
                <a:lnTo>
                  <a:pt x="55851" y="1318900"/>
                </a:lnTo>
                <a:lnTo>
                  <a:pt x="45101" y="1314537"/>
                </a:lnTo>
                <a:lnTo>
                  <a:pt x="42673" y="1314069"/>
                </a:lnTo>
                <a:close/>
              </a:path>
              <a:path extrusionOk="0" h="1399539" w="1123950">
                <a:moveTo>
                  <a:pt x="1098551" y="0"/>
                </a:moveTo>
                <a:lnTo>
                  <a:pt x="1081787" y="92329"/>
                </a:lnTo>
                <a:lnTo>
                  <a:pt x="1064896" y="184277"/>
                </a:lnTo>
                <a:lnTo>
                  <a:pt x="1047624" y="275463"/>
                </a:lnTo>
                <a:lnTo>
                  <a:pt x="1030098" y="365379"/>
                </a:lnTo>
                <a:lnTo>
                  <a:pt x="1011937" y="453644"/>
                </a:lnTo>
                <a:lnTo>
                  <a:pt x="1002666" y="497078"/>
                </a:lnTo>
                <a:lnTo>
                  <a:pt x="993268" y="540004"/>
                </a:lnTo>
                <a:lnTo>
                  <a:pt x="983489" y="582295"/>
                </a:lnTo>
                <a:lnTo>
                  <a:pt x="973710" y="623951"/>
                </a:lnTo>
                <a:lnTo>
                  <a:pt x="963550" y="664845"/>
                </a:lnTo>
                <a:lnTo>
                  <a:pt x="953263" y="705104"/>
                </a:lnTo>
                <a:lnTo>
                  <a:pt x="942722" y="744474"/>
                </a:lnTo>
                <a:lnTo>
                  <a:pt x="931800" y="782955"/>
                </a:lnTo>
                <a:lnTo>
                  <a:pt x="920751" y="820674"/>
                </a:lnTo>
                <a:lnTo>
                  <a:pt x="909321" y="857377"/>
                </a:lnTo>
                <a:lnTo>
                  <a:pt x="885445" y="927735"/>
                </a:lnTo>
                <a:lnTo>
                  <a:pt x="860045" y="993648"/>
                </a:lnTo>
                <a:lnTo>
                  <a:pt x="833375" y="1054735"/>
                </a:lnTo>
                <a:lnTo>
                  <a:pt x="805054" y="1110615"/>
                </a:lnTo>
                <a:lnTo>
                  <a:pt x="775082" y="1160907"/>
                </a:lnTo>
                <a:lnTo>
                  <a:pt x="743205" y="1205103"/>
                </a:lnTo>
                <a:lnTo>
                  <a:pt x="709550" y="1243330"/>
                </a:lnTo>
                <a:lnTo>
                  <a:pt x="673990" y="1275588"/>
                </a:lnTo>
                <a:lnTo>
                  <a:pt x="636906" y="1302385"/>
                </a:lnTo>
                <a:lnTo>
                  <a:pt x="597790" y="1324356"/>
                </a:lnTo>
                <a:lnTo>
                  <a:pt x="557404" y="1341755"/>
                </a:lnTo>
                <a:lnTo>
                  <a:pt x="515494" y="1354963"/>
                </a:lnTo>
                <a:lnTo>
                  <a:pt x="472060" y="1364488"/>
                </a:lnTo>
                <a:lnTo>
                  <a:pt x="427356" y="1370457"/>
                </a:lnTo>
                <a:lnTo>
                  <a:pt x="381509" y="1373378"/>
                </a:lnTo>
                <a:lnTo>
                  <a:pt x="358141" y="1373759"/>
                </a:lnTo>
                <a:lnTo>
                  <a:pt x="542228" y="1373759"/>
                </a:lnTo>
                <a:lnTo>
                  <a:pt x="587249" y="1357249"/>
                </a:lnTo>
                <a:lnTo>
                  <a:pt x="629413" y="1336548"/>
                </a:lnTo>
                <a:lnTo>
                  <a:pt x="669799" y="1310640"/>
                </a:lnTo>
                <a:lnTo>
                  <a:pt x="708534" y="1279398"/>
                </a:lnTo>
                <a:lnTo>
                  <a:pt x="745237" y="1242314"/>
                </a:lnTo>
                <a:lnTo>
                  <a:pt x="779654" y="1199134"/>
                </a:lnTo>
                <a:lnTo>
                  <a:pt x="811785" y="1149985"/>
                </a:lnTo>
                <a:lnTo>
                  <a:pt x="841884" y="1095248"/>
                </a:lnTo>
                <a:lnTo>
                  <a:pt x="870078" y="1035304"/>
                </a:lnTo>
                <a:lnTo>
                  <a:pt x="896494" y="970534"/>
                </a:lnTo>
                <a:lnTo>
                  <a:pt x="921513" y="901319"/>
                </a:lnTo>
                <a:lnTo>
                  <a:pt x="945008" y="828167"/>
                </a:lnTo>
                <a:lnTo>
                  <a:pt x="956184" y="790194"/>
                </a:lnTo>
                <a:lnTo>
                  <a:pt x="967106" y="751332"/>
                </a:lnTo>
                <a:lnTo>
                  <a:pt x="977774" y="711708"/>
                </a:lnTo>
                <a:lnTo>
                  <a:pt x="988188" y="671195"/>
                </a:lnTo>
                <a:lnTo>
                  <a:pt x="998475" y="630047"/>
                </a:lnTo>
                <a:lnTo>
                  <a:pt x="1008254" y="588137"/>
                </a:lnTo>
                <a:lnTo>
                  <a:pt x="1018033" y="545719"/>
                </a:lnTo>
                <a:lnTo>
                  <a:pt x="1027431" y="502539"/>
                </a:lnTo>
                <a:lnTo>
                  <a:pt x="1036829" y="459105"/>
                </a:lnTo>
                <a:lnTo>
                  <a:pt x="1054863" y="370459"/>
                </a:lnTo>
                <a:lnTo>
                  <a:pt x="1072516" y="280289"/>
                </a:lnTo>
                <a:lnTo>
                  <a:pt x="1089788" y="188976"/>
                </a:lnTo>
                <a:lnTo>
                  <a:pt x="1106806" y="96901"/>
                </a:lnTo>
                <a:lnTo>
                  <a:pt x="1123570" y="4445"/>
                </a:lnTo>
                <a:lnTo>
                  <a:pt x="1098551" y="0"/>
                </a:lnTo>
                <a:close/>
              </a:path>
              <a:path extrusionOk="0" h="1399539" w="1123950">
                <a:moveTo>
                  <a:pt x="38609" y="1339215"/>
                </a:moveTo>
                <a:lnTo>
                  <a:pt x="34672" y="1364234"/>
                </a:lnTo>
                <a:lnTo>
                  <a:pt x="69668" y="1369787"/>
                </a:lnTo>
                <a:lnTo>
                  <a:pt x="71907" y="1366242"/>
                </a:lnTo>
                <a:lnTo>
                  <a:pt x="73078" y="1350476"/>
                </a:lnTo>
                <a:lnTo>
                  <a:pt x="71881" y="1344494"/>
                </a:lnTo>
                <a:lnTo>
                  <a:pt x="38609" y="1339215"/>
                </a:lnTo>
                <a:close/>
              </a:path>
              <a:path extrusionOk="0" h="1399539" w="1123950">
                <a:moveTo>
                  <a:pt x="70824" y="1339215"/>
                </a:moveTo>
                <a:lnTo>
                  <a:pt x="38609" y="1339215"/>
                </a:lnTo>
                <a:lnTo>
                  <a:pt x="71881" y="1344494"/>
                </a:lnTo>
                <a:lnTo>
                  <a:pt x="70824" y="1339215"/>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1" name="Google Shape;141;p16"/>
          <p:cNvSpPr txBox="1"/>
          <p:nvPr/>
        </p:nvSpPr>
        <p:spPr>
          <a:xfrm>
            <a:off x="6829691" y="2446087"/>
            <a:ext cx="2632075" cy="5283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800">
                <a:solidFill>
                  <a:srgbClr val="7E7E7E"/>
                </a:solidFill>
                <a:latin typeface="Arial"/>
                <a:ea typeface="Arial"/>
                <a:cs typeface="Arial"/>
                <a:sym typeface="Arial"/>
              </a:rPr>
              <a:t>Possède une</a:t>
            </a:r>
            <a:endParaRPr sz="1800">
              <a:latin typeface="Arial"/>
              <a:ea typeface="Arial"/>
              <a:cs typeface="Arial"/>
              <a:sym typeface="Arial"/>
            </a:endParaRPr>
          </a:p>
          <a:p>
            <a:pPr indent="0" lvl="0" marL="76200" marR="0" rtl="0" algn="l">
              <a:lnSpc>
                <a:spcPct val="100000"/>
              </a:lnSpc>
              <a:spcBef>
                <a:spcPts val="0"/>
              </a:spcBef>
              <a:spcAft>
                <a:spcPts val="0"/>
              </a:spcAft>
              <a:buNone/>
            </a:pPr>
            <a:r>
              <a:rPr lang="en-US" sz="1800">
                <a:latin typeface="Arial"/>
                <a:ea typeface="Arial"/>
                <a:cs typeface="Arial"/>
                <a:sym typeface="Arial"/>
              </a:rPr>
              <a:t>architecture fonctionnelle</a:t>
            </a:r>
            <a:endParaRPr sz="1800">
              <a:latin typeface="Arial"/>
              <a:ea typeface="Arial"/>
              <a:cs typeface="Arial"/>
              <a:sym typeface="Arial"/>
            </a:endParaRPr>
          </a:p>
        </p:txBody>
      </p:sp>
      <p:sp>
        <p:nvSpPr>
          <p:cNvPr id="142" name="Google Shape;142;p16"/>
          <p:cNvSpPr txBox="1"/>
          <p:nvPr/>
        </p:nvSpPr>
        <p:spPr>
          <a:xfrm>
            <a:off x="9729100" y="2353625"/>
            <a:ext cx="2143200" cy="696900"/>
          </a:xfrm>
          <a:prstGeom prst="rect">
            <a:avLst/>
          </a:prstGeom>
          <a:noFill/>
          <a:ln>
            <a:noFill/>
          </a:ln>
        </p:spPr>
        <p:txBody>
          <a:bodyPr anchorCtr="0" anchor="t" bIns="0" lIns="0" spcFirstLastPara="1" rIns="0" wrap="square" tIns="0">
            <a:spAutoFit/>
          </a:bodyPr>
          <a:lstStyle/>
          <a:p>
            <a:pPr indent="41275" lvl="0" marL="12700" marR="5080" rtl="0" algn="l">
              <a:lnSpc>
                <a:spcPct val="151500"/>
              </a:lnSpc>
              <a:spcBef>
                <a:spcPts val="0"/>
              </a:spcBef>
              <a:spcAft>
                <a:spcPts val="0"/>
              </a:spcAft>
              <a:buNone/>
            </a:pPr>
            <a:r>
              <a:rPr lang="en-US" sz="1800"/>
              <a:t>chaîne </a:t>
            </a:r>
            <a:r>
              <a:rPr lang="en-US" sz="1800">
                <a:latin typeface="Arial"/>
                <a:ea typeface="Arial"/>
                <a:cs typeface="Arial"/>
                <a:sym typeface="Arial"/>
              </a:rPr>
              <a:t> information </a:t>
            </a:r>
            <a:endParaRPr sz="1800">
              <a:latin typeface="Arial"/>
              <a:ea typeface="Arial"/>
              <a:cs typeface="Arial"/>
              <a:sym typeface="Arial"/>
            </a:endParaRPr>
          </a:p>
          <a:p>
            <a:pPr indent="41275" lvl="0" marL="12700" marR="5080" rtl="0" algn="l">
              <a:lnSpc>
                <a:spcPct val="151500"/>
              </a:lnSpc>
              <a:spcBef>
                <a:spcPts val="0"/>
              </a:spcBef>
              <a:spcAft>
                <a:spcPts val="0"/>
              </a:spcAft>
              <a:buNone/>
            </a:pPr>
            <a:r>
              <a:rPr lang="en-US" sz="1800">
                <a:latin typeface="Arial"/>
                <a:ea typeface="Arial"/>
                <a:cs typeface="Arial"/>
                <a:sym typeface="Arial"/>
              </a:rPr>
              <a:t>chaine énergie</a:t>
            </a:r>
            <a:endParaRPr sz="1800">
              <a:latin typeface="Arial"/>
              <a:ea typeface="Arial"/>
              <a:cs typeface="Arial"/>
              <a:sym typeface="Arial"/>
            </a:endParaRPr>
          </a:p>
        </p:txBody>
      </p:sp>
      <p:sp>
        <p:nvSpPr>
          <p:cNvPr id="143" name="Google Shape;143;p16"/>
          <p:cNvSpPr txBox="1"/>
          <p:nvPr/>
        </p:nvSpPr>
        <p:spPr>
          <a:xfrm>
            <a:off x="7607948" y="3253804"/>
            <a:ext cx="2324735" cy="803275"/>
          </a:xfrm>
          <a:prstGeom prst="rect">
            <a:avLst/>
          </a:prstGeom>
          <a:noFill/>
          <a:ln>
            <a:noFill/>
          </a:ln>
        </p:spPr>
        <p:txBody>
          <a:bodyPr anchorCtr="0" anchor="t" bIns="0" lIns="0" spcFirstLastPara="1" rIns="0" wrap="square" tIns="0">
            <a:spAutoFit/>
          </a:bodyPr>
          <a:lstStyle/>
          <a:p>
            <a:pPr indent="0" lvl="0" marL="12700" marR="5080" rtl="0" algn="l">
              <a:lnSpc>
                <a:spcPct val="100000"/>
              </a:lnSpc>
              <a:spcBef>
                <a:spcPts val="0"/>
              </a:spcBef>
              <a:spcAft>
                <a:spcPts val="0"/>
              </a:spcAft>
              <a:buNone/>
            </a:pPr>
            <a:r>
              <a:rPr i="1" lang="en-US" sz="1800">
                <a:solidFill>
                  <a:srgbClr val="7E7E7E"/>
                </a:solidFill>
                <a:latin typeface="Arial"/>
                <a:ea typeface="Arial"/>
                <a:cs typeface="Arial"/>
                <a:sym typeface="Arial"/>
              </a:rPr>
              <a:t>Associée à un </a:t>
            </a:r>
            <a:r>
              <a:rPr lang="en-US" sz="1800">
                <a:latin typeface="Arial"/>
                <a:ea typeface="Arial"/>
                <a:cs typeface="Arial"/>
                <a:sym typeface="Arial"/>
              </a:rPr>
              <a:t>agencement de solutions constructives</a:t>
            </a:r>
            <a:endParaRPr sz="1800">
              <a:latin typeface="Arial"/>
              <a:ea typeface="Arial"/>
              <a:cs typeface="Arial"/>
              <a:sym typeface="Arial"/>
            </a:endParaRPr>
          </a:p>
        </p:txBody>
      </p:sp>
      <p:sp>
        <p:nvSpPr>
          <p:cNvPr id="144" name="Google Shape;144;p16"/>
          <p:cNvSpPr/>
          <p:nvPr/>
        </p:nvSpPr>
        <p:spPr>
          <a:xfrm>
            <a:off x="6044707" y="2564321"/>
            <a:ext cx="728980" cy="846455"/>
          </a:xfrm>
          <a:custGeom>
            <a:rect b="b" l="l" r="r" t="t"/>
            <a:pathLst>
              <a:path extrusionOk="0" h="846454" w="728979">
                <a:moveTo>
                  <a:pt x="657016" y="32167"/>
                </a:moveTo>
                <a:lnTo>
                  <a:pt x="611505" y="41729"/>
                </a:lnTo>
                <a:lnTo>
                  <a:pt x="534416" y="59255"/>
                </a:lnTo>
                <a:lnTo>
                  <a:pt x="496570" y="68780"/>
                </a:lnTo>
                <a:lnTo>
                  <a:pt x="459231" y="78940"/>
                </a:lnTo>
                <a:lnTo>
                  <a:pt x="387223" y="102054"/>
                </a:lnTo>
                <a:lnTo>
                  <a:pt x="319405" y="129486"/>
                </a:lnTo>
                <a:lnTo>
                  <a:pt x="256921" y="162633"/>
                </a:lnTo>
                <a:lnTo>
                  <a:pt x="200914" y="202765"/>
                </a:lnTo>
                <a:lnTo>
                  <a:pt x="152527" y="250771"/>
                </a:lnTo>
                <a:lnTo>
                  <a:pt x="113284" y="307159"/>
                </a:lnTo>
                <a:lnTo>
                  <a:pt x="82042" y="370786"/>
                </a:lnTo>
                <a:lnTo>
                  <a:pt x="57912" y="440382"/>
                </a:lnTo>
                <a:lnTo>
                  <a:pt x="48133" y="477212"/>
                </a:lnTo>
                <a:lnTo>
                  <a:pt x="39624" y="515312"/>
                </a:lnTo>
                <a:lnTo>
                  <a:pt x="32131" y="554174"/>
                </a:lnTo>
                <a:lnTo>
                  <a:pt x="25780" y="593925"/>
                </a:lnTo>
                <a:lnTo>
                  <a:pt x="20066" y="634565"/>
                </a:lnTo>
                <a:lnTo>
                  <a:pt x="15240" y="675840"/>
                </a:lnTo>
                <a:lnTo>
                  <a:pt x="6985" y="759533"/>
                </a:lnTo>
                <a:lnTo>
                  <a:pt x="0" y="844115"/>
                </a:lnTo>
                <a:lnTo>
                  <a:pt x="25273" y="846274"/>
                </a:lnTo>
                <a:lnTo>
                  <a:pt x="32258" y="761692"/>
                </a:lnTo>
                <a:lnTo>
                  <a:pt x="40513" y="678380"/>
                </a:lnTo>
                <a:lnTo>
                  <a:pt x="45339" y="637613"/>
                </a:lnTo>
                <a:lnTo>
                  <a:pt x="50927" y="597481"/>
                </a:lnTo>
                <a:lnTo>
                  <a:pt x="57277" y="558238"/>
                </a:lnTo>
                <a:lnTo>
                  <a:pt x="64516" y="520011"/>
                </a:lnTo>
                <a:lnTo>
                  <a:pt x="72898" y="482800"/>
                </a:lnTo>
                <a:lnTo>
                  <a:pt x="93472" y="412569"/>
                </a:lnTo>
                <a:lnTo>
                  <a:pt x="119888" y="348561"/>
                </a:lnTo>
                <a:lnTo>
                  <a:pt x="153162" y="291665"/>
                </a:lnTo>
                <a:lnTo>
                  <a:pt x="194310" y="243024"/>
                </a:lnTo>
                <a:lnTo>
                  <a:pt x="243459" y="201876"/>
                </a:lnTo>
                <a:lnTo>
                  <a:pt x="299974" y="167332"/>
                </a:lnTo>
                <a:lnTo>
                  <a:pt x="362839" y="138503"/>
                </a:lnTo>
                <a:lnTo>
                  <a:pt x="431038" y="114119"/>
                </a:lnTo>
                <a:lnTo>
                  <a:pt x="503301" y="93291"/>
                </a:lnTo>
                <a:lnTo>
                  <a:pt x="540639" y="83893"/>
                </a:lnTo>
                <a:lnTo>
                  <a:pt x="617093" y="66494"/>
                </a:lnTo>
                <a:lnTo>
                  <a:pt x="659844" y="57538"/>
                </a:lnTo>
                <a:lnTo>
                  <a:pt x="658628" y="56009"/>
                </a:lnTo>
                <a:lnTo>
                  <a:pt x="656222" y="40128"/>
                </a:lnTo>
                <a:lnTo>
                  <a:pt x="657016" y="32167"/>
                </a:lnTo>
                <a:close/>
              </a:path>
              <a:path extrusionOk="0" h="846454" w="728979">
                <a:moveTo>
                  <a:pt x="727115" y="25346"/>
                </a:moveTo>
                <a:lnTo>
                  <a:pt x="689483" y="25346"/>
                </a:lnTo>
                <a:lnTo>
                  <a:pt x="694690" y="50238"/>
                </a:lnTo>
                <a:lnTo>
                  <a:pt x="659844" y="57538"/>
                </a:lnTo>
                <a:lnTo>
                  <a:pt x="666176" y="65499"/>
                </a:lnTo>
                <a:lnTo>
                  <a:pt x="676536" y="72063"/>
                </a:lnTo>
                <a:lnTo>
                  <a:pt x="689078" y="75148"/>
                </a:lnTo>
                <a:lnTo>
                  <a:pt x="703172" y="74201"/>
                </a:lnTo>
                <a:lnTo>
                  <a:pt x="713447" y="69196"/>
                </a:lnTo>
                <a:lnTo>
                  <a:pt x="721449" y="61150"/>
                </a:lnTo>
                <a:lnTo>
                  <a:pt x="726664" y="50364"/>
                </a:lnTo>
                <a:lnTo>
                  <a:pt x="728577" y="37138"/>
                </a:lnTo>
                <a:lnTo>
                  <a:pt x="727115" y="25346"/>
                </a:lnTo>
                <a:close/>
              </a:path>
              <a:path extrusionOk="0" h="846454" w="728979">
                <a:moveTo>
                  <a:pt x="689483" y="25346"/>
                </a:moveTo>
                <a:lnTo>
                  <a:pt x="657016" y="32167"/>
                </a:lnTo>
                <a:lnTo>
                  <a:pt x="656222" y="40128"/>
                </a:lnTo>
                <a:lnTo>
                  <a:pt x="658628" y="56009"/>
                </a:lnTo>
                <a:lnTo>
                  <a:pt x="659844" y="57538"/>
                </a:lnTo>
                <a:lnTo>
                  <a:pt x="694690" y="50238"/>
                </a:lnTo>
                <a:lnTo>
                  <a:pt x="689483" y="25346"/>
                </a:lnTo>
                <a:close/>
              </a:path>
              <a:path extrusionOk="0" h="846454" w="728979">
                <a:moveTo>
                  <a:pt x="697348" y="0"/>
                </a:moveTo>
                <a:lnTo>
                  <a:pt x="662165" y="15604"/>
                </a:lnTo>
                <a:lnTo>
                  <a:pt x="657016" y="32167"/>
                </a:lnTo>
                <a:lnTo>
                  <a:pt x="689483" y="25346"/>
                </a:lnTo>
                <a:lnTo>
                  <a:pt x="727115" y="25346"/>
                </a:lnTo>
                <a:lnTo>
                  <a:pt x="726672" y="21772"/>
                </a:lnTo>
                <a:lnTo>
                  <a:pt x="719472" y="11265"/>
                </a:lnTo>
                <a:lnTo>
                  <a:pt x="709389" y="3806"/>
                </a:lnTo>
                <a:lnTo>
                  <a:pt x="697348" y="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5" name="Google Shape;145;p16"/>
          <p:cNvSpPr/>
          <p:nvPr/>
        </p:nvSpPr>
        <p:spPr>
          <a:xfrm>
            <a:off x="7021599" y="2964952"/>
            <a:ext cx="508000" cy="450215"/>
          </a:xfrm>
          <a:custGeom>
            <a:rect b="b" l="l" r="r" t="t"/>
            <a:pathLst>
              <a:path extrusionOk="0" h="450214" w="508000">
                <a:moveTo>
                  <a:pt x="33774" y="0"/>
                </a:moveTo>
                <a:lnTo>
                  <a:pt x="19917" y="39788"/>
                </a:lnTo>
                <a:lnTo>
                  <a:pt x="8300" y="79303"/>
                </a:lnTo>
                <a:lnTo>
                  <a:pt x="1162" y="118273"/>
                </a:lnTo>
                <a:lnTo>
                  <a:pt x="0" y="143816"/>
                </a:lnTo>
                <a:lnTo>
                  <a:pt x="745" y="156426"/>
                </a:lnTo>
                <a:lnTo>
                  <a:pt x="14514" y="205553"/>
                </a:lnTo>
                <a:lnTo>
                  <a:pt x="38488" y="240737"/>
                </a:lnTo>
                <a:lnTo>
                  <a:pt x="76428" y="274183"/>
                </a:lnTo>
                <a:lnTo>
                  <a:pt x="109306" y="295545"/>
                </a:lnTo>
                <a:lnTo>
                  <a:pt x="147493" y="316260"/>
                </a:lnTo>
                <a:lnTo>
                  <a:pt x="190323" y="336410"/>
                </a:lnTo>
                <a:lnTo>
                  <a:pt x="237132" y="356076"/>
                </a:lnTo>
                <a:lnTo>
                  <a:pt x="287256" y="375337"/>
                </a:lnTo>
                <a:lnTo>
                  <a:pt x="340031" y="394276"/>
                </a:lnTo>
                <a:lnTo>
                  <a:pt x="394791" y="412972"/>
                </a:lnTo>
                <a:lnTo>
                  <a:pt x="450872" y="431507"/>
                </a:lnTo>
                <a:lnTo>
                  <a:pt x="479201" y="440739"/>
                </a:lnTo>
                <a:lnTo>
                  <a:pt x="507611" y="449961"/>
                </a:lnTo>
              </a:path>
            </a:pathLst>
          </a:custGeom>
          <a:noFill/>
          <a:ln cap="flat" cmpd="sng" w="25400">
            <a:solidFill>
              <a:srgbClr val="A6A6A6"/>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6" name="Google Shape;146;p16"/>
          <p:cNvSpPr/>
          <p:nvPr/>
        </p:nvSpPr>
        <p:spPr>
          <a:xfrm>
            <a:off x="9485264" y="2398587"/>
            <a:ext cx="242570" cy="241935"/>
          </a:xfrm>
          <a:custGeom>
            <a:rect b="b" l="l" r="r" t="t"/>
            <a:pathLst>
              <a:path extrusionOk="0" h="241935" w="242570">
                <a:moveTo>
                  <a:pt x="173803" y="59043"/>
                </a:moveTo>
                <a:lnTo>
                  <a:pt x="0" y="232736"/>
                </a:lnTo>
                <a:lnTo>
                  <a:pt x="8890" y="241753"/>
                </a:lnTo>
                <a:lnTo>
                  <a:pt x="183197" y="67446"/>
                </a:lnTo>
                <a:lnTo>
                  <a:pt x="174978" y="61085"/>
                </a:lnTo>
                <a:lnTo>
                  <a:pt x="173803" y="59043"/>
                </a:lnTo>
                <a:close/>
              </a:path>
              <a:path extrusionOk="0" h="241935" w="242570">
                <a:moveTo>
                  <a:pt x="242091" y="32711"/>
                </a:moveTo>
                <a:lnTo>
                  <a:pt x="200152" y="32711"/>
                </a:lnTo>
                <a:lnTo>
                  <a:pt x="209042" y="41601"/>
                </a:lnTo>
                <a:lnTo>
                  <a:pt x="183197" y="67446"/>
                </a:lnTo>
                <a:lnTo>
                  <a:pt x="185846" y="69496"/>
                </a:lnTo>
                <a:lnTo>
                  <a:pt x="197506" y="73989"/>
                </a:lnTo>
                <a:lnTo>
                  <a:pt x="209260" y="74698"/>
                </a:lnTo>
                <a:lnTo>
                  <a:pt x="220409" y="71754"/>
                </a:lnTo>
                <a:lnTo>
                  <a:pt x="230255" y="65289"/>
                </a:lnTo>
                <a:lnTo>
                  <a:pt x="231521" y="64080"/>
                </a:lnTo>
                <a:lnTo>
                  <a:pt x="238825" y="53852"/>
                </a:lnTo>
                <a:lnTo>
                  <a:pt x="242327" y="42233"/>
                </a:lnTo>
                <a:lnTo>
                  <a:pt x="242091" y="32711"/>
                </a:lnTo>
                <a:close/>
              </a:path>
              <a:path extrusionOk="0" h="241935" w="242570">
                <a:moveTo>
                  <a:pt x="200152" y="32711"/>
                </a:moveTo>
                <a:lnTo>
                  <a:pt x="173803" y="59043"/>
                </a:lnTo>
                <a:lnTo>
                  <a:pt x="174978" y="61085"/>
                </a:lnTo>
                <a:lnTo>
                  <a:pt x="183197" y="67446"/>
                </a:lnTo>
                <a:lnTo>
                  <a:pt x="209042" y="41601"/>
                </a:lnTo>
                <a:lnTo>
                  <a:pt x="200152" y="32711"/>
                </a:lnTo>
                <a:close/>
              </a:path>
              <a:path extrusionOk="0" h="241935" w="242570">
                <a:moveTo>
                  <a:pt x="203261" y="0"/>
                </a:moveTo>
                <a:lnTo>
                  <a:pt x="168516" y="28764"/>
                </a:lnTo>
                <a:lnTo>
                  <a:pt x="167137" y="40363"/>
                </a:lnTo>
                <a:lnTo>
                  <a:pt x="169359" y="51323"/>
                </a:lnTo>
                <a:lnTo>
                  <a:pt x="173803" y="59043"/>
                </a:lnTo>
                <a:lnTo>
                  <a:pt x="200152" y="32711"/>
                </a:lnTo>
                <a:lnTo>
                  <a:pt x="242091" y="32711"/>
                </a:lnTo>
                <a:lnTo>
                  <a:pt x="242029" y="30200"/>
                </a:lnTo>
                <a:lnTo>
                  <a:pt x="237928" y="18735"/>
                </a:lnTo>
                <a:lnTo>
                  <a:pt x="226369" y="8433"/>
                </a:lnTo>
                <a:lnTo>
                  <a:pt x="214677" y="2284"/>
                </a:lnTo>
                <a:lnTo>
                  <a:pt x="203261" y="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7" name="Google Shape;147;p16"/>
          <p:cNvSpPr/>
          <p:nvPr/>
        </p:nvSpPr>
        <p:spPr>
          <a:xfrm>
            <a:off x="9484629" y="2632593"/>
            <a:ext cx="201930" cy="255904"/>
          </a:xfrm>
          <a:custGeom>
            <a:rect b="b" l="l" r="r" t="t"/>
            <a:pathLst>
              <a:path extrusionOk="0" h="255905" w="201929">
                <a:moveTo>
                  <a:pt x="136310" y="192862"/>
                </a:moveTo>
                <a:lnTo>
                  <a:pt x="136072" y="193003"/>
                </a:lnTo>
                <a:lnTo>
                  <a:pt x="129990" y="201809"/>
                </a:lnTo>
                <a:lnTo>
                  <a:pt x="126942" y="212140"/>
                </a:lnTo>
                <a:lnTo>
                  <a:pt x="127216" y="223585"/>
                </a:lnTo>
                <a:lnTo>
                  <a:pt x="131101" y="235732"/>
                </a:lnTo>
                <a:lnTo>
                  <a:pt x="138885" y="248173"/>
                </a:lnTo>
                <a:lnTo>
                  <a:pt x="147689" y="253498"/>
                </a:lnTo>
                <a:lnTo>
                  <a:pt x="157950" y="255848"/>
                </a:lnTo>
                <a:lnTo>
                  <a:pt x="169357" y="254896"/>
                </a:lnTo>
                <a:lnTo>
                  <a:pt x="181599" y="250317"/>
                </a:lnTo>
                <a:lnTo>
                  <a:pt x="194365" y="241786"/>
                </a:lnTo>
                <a:lnTo>
                  <a:pt x="199829" y="231160"/>
                </a:lnTo>
                <a:lnTo>
                  <a:pt x="201154" y="223011"/>
                </a:lnTo>
                <a:lnTo>
                  <a:pt x="158495" y="223011"/>
                </a:lnTo>
                <a:lnTo>
                  <a:pt x="136310" y="192862"/>
                </a:lnTo>
                <a:close/>
              </a:path>
              <a:path extrusionOk="0" h="255905" w="201929">
                <a:moveTo>
                  <a:pt x="147290" y="186317"/>
                </a:moveTo>
                <a:lnTo>
                  <a:pt x="136449" y="192779"/>
                </a:lnTo>
                <a:lnTo>
                  <a:pt x="136414" y="193003"/>
                </a:lnTo>
                <a:lnTo>
                  <a:pt x="158495" y="223011"/>
                </a:lnTo>
                <a:lnTo>
                  <a:pt x="168782" y="215519"/>
                </a:lnTo>
                <a:lnTo>
                  <a:pt x="147290" y="186317"/>
                </a:lnTo>
                <a:close/>
              </a:path>
              <a:path extrusionOk="0" h="255905" w="201929">
                <a:moveTo>
                  <a:pt x="160325" y="182351"/>
                </a:moveTo>
                <a:lnTo>
                  <a:pt x="148249" y="185745"/>
                </a:lnTo>
                <a:lnTo>
                  <a:pt x="147290" y="186317"/>
                </a:lnTo>
                <a:lnTo>
                  <a:pt x="168782" y="215519"/>
                </a:lnTo>
                <a:lnTo>
                  <a:pt x="158495" y="223011"/>
                </a:lnTo>
                <a:lnTo>
                  <a:pt x="201154" y="223011"/>
                </a:lnTo>
                <a:lnTo>
                  <a:pt x="201726" y="219493"/>
                </a:lnTo>
                <a:lnTo>
                  <a:pt x="182193" y="186125"/>
                </a:lnTo>
                <a:lnTo>
                  <a:pt x="171805" y="182563"/>
                </a:lnTo>
                <a:lnTo>
                  <a:pt x="160325" y="182351"/>
                </a:lnTo>
                <a:close/>
              </a:path>
              <a:path extrusionOk="0" h="255905" w="201929">
                <a:moveTo>
                  <a:pt x="10159" y="0"/>
                </a:moveTo>
                <a:lnTo>
                  <a:pt x="0" y="7620"/>
                </a:lnTo>
                <a:lnTo>
                  <a:pt x="136310" y="192862"/>
                </a:lnTo>
                <a:lnTo>
                  <a:pt x="147290" y="186317"/>
                </a:lnTo>
                <a:lnTo>
                  <a:pt x="10159" y="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8" name="Google Shape;148;p16"/>
          <p:cNvSpPr txBox="1"/>
          <p:nvPr/>
        </p:nvSpPr>
        <p:spPr>
          <a:xfrm>
            <a:off x="984834" y="5012384"/>
            <a:ext cx="1446530" cy="716915"/>
          </a:xfrm>
          <a:prstGeom prst="rect">
            <a:avLst/>
          </a:prstGeom>
          <a:noFill/>
          <a:ln>
            <a:noFill/>
          </a:ln>
        </p:spPr>
        <p:txBody>
          <a:bodyPr anchorCtr="0" anchor="t" bIns="0" lIns="0" spcFirstLastPara="1" rIns="0" wrap="square" tIns="0">
            <a:spAutoFit/>
          </a:bodyPr>
          <a:lstStyle/>
          <a:p>
            <a:pPr indent="0" lvl="0" marL="12700" marR="5080" rtl="0" algn="l">
              <a:lnSpc>
                <a:spcPct val="100000"/>
              </a:lnSpc>
              <a:spcBef>
                <a:spcPts val="0"/>
              </a:spcBef>
              <a:spcAft>
                <a:spcPts val="0"/>
              </a:spcAft>
              <a:buNone/>
            </a:pPr>
            <a:r>
              <a:rPr i="1" lang="en-US" sz="1600">
                <a:solidFill>
                  <a:srgbClr val="A6A6A6"/>
                </a:solidFill>
                <a:latin typeface="Arial"/>
                <a:ea typeface="Arial"/>
                <a:cs typeface="Arial"/>
                <a:sym typeface="Arial"/>
              </a:rPr>
              <a:t>En termes de </a:t>
            </a:r>
            <a:r>
              <a:rPr b="1" lang="en-US" sz="1600">
                <a:latin typeface="Arial"/>
                <a:ea typeface="Arial"/>
                <a:cs typeface="Arial"/>
                <a:sym typeface="Arial"/>
              </a:rPr>
              <a:t>qualité </a:t>
            </a:r>
            <a:r>
              <a:rPr lang="en-US" sz="1600">
                <a:latin typeface="Arial"/>
                <a:ea typeface="Arial"/>
                <a:cs typeface="Arial"/>
                <a:sym typeface="Arial"/>
              </a:rPr>
              <a:t>d’usage fonctionnel</a:t>
            </a:r>
            <a:endParaRPr sz="1600">
              <a:latin typeface="Arial"/>
              <a:ea typeface="Arial"/>
              <a:cs typeface="Arial"/>
              <a:sym typeface="Arial"/>
            </a:endParaRPr>
          </a:p>
        </p:txBody>
      </p:sp>
      <p:sp>
        <p:nvSpPr>
          <p:cNvPr id="149" name="Google Shape;149;p16"/>
          <p:cNvSpPr/>
          <p:nvPr/>
        </p:nvSpPr>
        <p:spPr>
          <a:xfrm>
            <a:off x="2212642" y="5275851"/>
            <a:ext cx="373380" cy="152400"/>
          </a:xfrm>
          <a:custGeom>
            <a:rect b="b" l="l" r="r" t="t"/>
            <a:pathLst>
              <a:path extrusionOk="0" h="152400" w="373380">
                <a:moveTo>
                  <a:pt x="75290" y="43124"/>
                </a:moveTo>
                <a:lnTo>
                  <a:pt x="74688" y="48139"/>
                </a:lnTo>
                <a:lnTo>
                  <a:pt x="71121" y="55203"/>
                </a:lnTo>
                <a:lnTo>
                  <a:pt x="369283" y="152393"/>
                </a:lnTo>
                <a:lnTo>
                  <a:pt x="373220" y="140201"/>
                </a:lnTo>
                <a:lnTo>
                  <a:pt x="75290" y="43124"/>
                </a:lnTo>
                <a:close/>
              </a:path>
              <a:path extrusionOk="0" h="152400" w="373380">
                <a:moveTo>
                  <a:pt x="33975" y="0"/>
                </a:moveTo>
                <a:lnTo>
                  <a:pt x="23382" y="3384"/>
                </a:lnTo>
                <a:lnTo>
                  <a:pt x="13827" y="10476"/>
                </a:lnTo>
                <a:lnTo>
                  <a:pt x="5852" y="21327"/>
                </a:lnTo>
                <a:lnTo>
                  <a:pt x="0" y="35985"/>
                </a:lnTo>
                <a:lnTo>
                  <a:pt x="1429" y="48208"/>
                </a:lnTo>
                <a:lnTo>
                  <a:pt x="6599" y="59195"/>
                </a:lnTo>
                <a:lnTo>
                  <a:pt x="15033" y="68057"/>
                </a:lnTo>
                <a:lnTo>
                  <a:pt x="26256" y="73907"/>
                </a:lnTo>
                <a:lnTo>
                  <a:pt x="37306" y="75804"/>
                </a:lnTo>
                <a:lnTo>
                  <a:pt x="49263" y="74067"/>
                </a:lnTo>
                <a:lnTo>
                  <a:pt x="60023" y="68626"/>
                </a:lnTo>
                <a:lnTo>
                  <a:pt x="68770" y="59858"/>
                </a:lnTo>
                <a:lnTo>
                  <a:pt x="71121" y="55203"/>
                </a:lnTo>
                <a:lnTo>
                  <a:pt x="36162" y="43808"/>
                </a:lnTo>
                <a:lnTo>
                  <a:pt x="39972" y="31616"/>
                </a:lnTo>
                <a:lnTo>
                  <a:pt x="75094" y="31616"/>
                </a:lnTo>
                <a:lnTo>
                  <a:pt x="73672" y="24970"/>
                </a:lnTo>
                <a:lnTo>
                  <a:pt x="67570" y="14719"/>
                </a:lnTo>
                <a:lnTo>
                  <a:pt x="57974" y="6261"/>
                </a:lnTo>
                <a:lnTo>
                  <a:pt x="45061" y="275"/>
                </a:lnTo>
                <a:lnTo>
                  <a:pt x="33975" y="0"/>
                </a:lnTo>
                <a:close/>
              </a:path>
              <a:path extrusionOk="0" h="152400" w="373380">
                <a:moveTo>
                  <a:pt x="39972" y="31616"/>
                </a:moveTo>
                <a:lnTo>
                  <a:pt x="36162" y="43808"/>
                </a:lnTo>
                <a:lnTo>
                  <a:pt x="71121" y="55203"/>
                </a:lnTo>
                <a:lnTo>
                  <a:pt x="74688" y="48139"/>
                </a:lnTo>
                <a:lnTo>
                  <a:pt x="75290" y="43124"/>
                </a:lnTo>
                <a:lnTo>
                  <a:pt x="39972" y="31616"/>
                </a:lnTo>
                <a:close/>
              </a:path>
              <a:path extrusionOk="0" h="152400" w="373380">
                <a:moveTo>
                  <a:pt x="75094" y="31616"/>
                </a:moveTo>
                <a:lnTo>
                  <a:pt x="39972" y="31616"/>
                </a:lnTo>
                <a:lnTo>
                  <a:pt x="75290" y="43124"/>
                </a:lnTo>
                <a:lnTo>
                  <a:pt x="76104" y="36336"/>
                </a:lnTo>
                <a:lnTo>
                  <a:pt x="75094" y="31616"/>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0" name="Google Shape;150;p16"/>
          <p:cNvSpPr/>
          <p:nvPr/>
        </p:nvSpPr>
        <p:spPr>
          <a:xfrm>
            <a:off x="917209" y="5803783"/>
            <a:ext cx="1927860" cy="830580"/>
          </a:xfrm>
          <a:custGeom>
            <a:rect b="b" l="l" r="r" t="t"/>
            <a:pathLst>
              <a:path extrusionOk="0" h="830579" w="1927860">
                <a:moveTo>
                  <a:pt x="0" y="830580"/>
                </a:moveTo>
                <a:lnTo>
                  <a:pt x="1927860" y="830580"/>
                </a:lnTo>
                <a:lnTo>
                  <a:pt x="1927860" y="0"/>
                </a:lnTo>
                <a:lnTo>
                  <a:pt x="0" y="0"/>
                </a:lnTo>
                <a:lnTo>
                  <a:pt x="0" y="830580"/>
                </a:lnTo>
                <a:close/>
              </a:path>
            </a:pathLst>
          </a:custGeom>
          <a:solidFill>
            <a:srgbClr val="ABFFE9"/>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1" name="Google Shape;151;p16"/>
          <p:cNvSpPr txBox="1"/>
          <p:nvPr/>
        </p:nvSpPr>
        <p:spPr>
          <a:xfrm>
            <a:off x="996899" y="5872809"/>
            <a:ext cx="1753235" cy="716915"/>
          </a:xfrm>
          <a:prstGeom prst="rect">
            <a:avLst/>
          </a:prstGeom>
          <a:noFill/>
          <a:ln>
            <a:noFill/>
          </a:ln>
        </p:spPr>
        <p:txBody>
          <a:bodyPr anchorCtr="0" anchor="t" bIns="0" lIns="0" spcFirstLastPara="1" rIns="0" wrap="square" tIns="0">
            <a:spAutoFit/>
          </a:bodyPr>
          <a:lstStyle/>
          <a:p>
            <a:pPr indent="0" lvl="0" marL="12700" marR="5080" rtl="0" algn="l">
              <a:lnSpc>
                <a:spcPct val="100000"/>
              </a:lnSpc>
              <a:spcBef>
                <a:spcPts val="0"/>
              </a:spcBef>
              <a:spcAft>
                <a:spcPts val="0"/>
              </a:spcAft>
              <a:buNone/>
            </a:pPr>
            <a:r>
              <a:rPr i="1" lang="en-US" sz="1600">
                <a:solidFill>
                  <a:srgbClr val="A6A6A6"/>
                </a:solidFill>
                <a:latin typeface="Arial"/>
                <a:ea typeface="Arial"/>
                <a:cs typeface="Arial"/>
                <a:sym typeface="Arial"/>
              </a:rPr>
              <a:t>En termes de </a:t>
            </a:r>
            <a:r>
              <a:rPr b="1" lang="en-US" sz="1600">
                <a:latin typeface="Arial"/>
                <a:ea typeface="Arial"/>
                <a:cs typeface="Arial"/>
                <a:sym typeface="Arial"/>
              </a:rPr>
              <a:t>qualité </a:t>
            </a:r>
            <a:r>
              <a:rPr lang="en-US" sz="1600">
                <a:latin typeface="Arial"/>
                <a:ea typeface="Arial"/>
                <a:cs typeface="Arial"/>
                <a:sym typeface="Arial"/>
              </a:rPr>
              <a:t>d’incidence environnementale</a:t>
            </a:r>
            <a:endParaRPr sz="1600">
              <a:latin typeface="Arial"/>
              <a:ea typeface="Arial"/>
              <a:cs typeface="Arial"/>
              <a:sym typeface="Arial"/>
            </a:endParaRPr>
          </a:p>
        </p:txBody>
      </p:sp>
      <p:sp>
        <p:nvSpPr>
          <p:cNvPr id="152" name="Google Shape;152;p16"/>
          <p:cNvSpPr/>
          <p:nvPr/>
        </p:nvSpPr>
        <p:spPr>
          <a:xfrm>
            <a:off x="2461671" y="5482219"/>
            <a:ext cx="211454" cy="727075"/>
          </a:xfrm>
          <a:custGeom>
            <a:rect b="b" l="l" r="r" t="t"/>
            <a:pathLst>
              <a:path extrusionOk="0" h="727075" w="211455">
                <a:moveTo>
                  <a:pt x="34278" y="652880"/>
                </a:moveTo>
                <a:lnTo>
                  <a:pt x="873" y="681774"/>
                </a:lnTo>
                <a:lnTo>
                  <a:pt x="0" y="694700"/>
                </a:lnTo>
                <a:lnTo>
                  <a:pt x="3333" y="706755"/>
                </a:lnTo>
                <a:lnTo>
                  <a:pt x="10314" y="717023"/>
                </a:lnTo>
                <a:lnTo>
                  <a:pt x="20385" y="724592"/>
                </a:lnTo>
                <a:lnTo>
                  <a:pt x="35620" y="727071"/>
                </a:lnTo>
                <a:lnTo>
                  <a:pt x="48842" y="725763"/>
                </a:lnTo>
                <a:lnTo>
                  <a:pt x="59779" y="721157"/>
                </a:lnTo>
                <a:lnTo>
                  <a:pt x="68158" y="713746"/>
                </a:lnTo>
                <a:lnTo>
                  <a:pt x="73710" y="704020"/>
                </a:lnTo>
                <a:lnTo>
                  <a:pt x="75037" y="692251"/>
                </a:lnTo>
                <a:lnTo>
                  <a:pt x="44180" y="692251"/>
                </a:lnTo>
                <a:lnTo>
                  <a:pt x="31734" y="689254"/>
                </a:lnTo>
                <a:lnTo>
                  <a:pt x="40454" y="653321"/>
                </a:lnTo>
                <a:lnTo>
                  <a:pt x="34278" y="652880"/>
                </a:lnTo>
                <a:close/>
              </a:path>
              <a:path extrusionOk="0" h="727075" w="211455">
                <a:moveTo>
                  <a:pt x="40454" y="653321"/>
                </a:moveTo>
                <a:lnTo>
                  <a:pt x="31734" y="689254"/>
                </a:lnTo>
                <a:lnTo>
                  <a:pt x="44180" y="692251"/>
                </a:lnTo>
                <a:lnTo>
                  <a:pt x="52918" y="656245"/>
                </a:lnTo>
                <a:lnTo>
                  <a:pt x="47286" y="653809"/>
                </a:lnTo>
                <a:lnTo>
                  <a:pt x="40454" y="653321"/>
                </a:lnTo>
                <a:close/>
              </a:path>
              <a:path extrusionOk="0" h="727075" w="211455">
                <a:moveTo>
                  <a:pt x="52918" y="656245"/>
                </a:moveTo>
                <a:lnTo>
                  <a:pt x="44180" y="692251"/>
                </a:lnTo>
                <a:lnTo>
                  <a:pt x="75037" y="692251"/>
                </a:lnTo>
                <a:lnTo>
                  <a:pt x="75308" y="689841"/>
                </a:lnTo>
                <a:lnTo>
                  <a:pt x="72945" y="677185"/>
                </a:lnTo>
                <a:lnTo>
                  <a:pt x="67141" y="666597"/>
                </a:lnTo>
                <a:lnTo>
                  <a:pt x="58415" y="658623"/>
                </a:lnTo>
                <a:lnTo>
                  <a:pt x="52918" y="656245"/>
                </a:lnTo>
                <a:close/>
              </a:path>
              <a:path extrusionOk="0" h="727075" w="211455">
                <a:moveTo>
                  <a:pt x="198993" y="0"/>
                </a:moveTo>
                <a:lnTo>
                  <a:pt x="40454" y="653321"/>
                </a:lnTo>
                <a:lnTo>
                  <a:pt x="47286" y="653809"/>
                </a:lnTo>
                <a:lnTo>
                  <a:pt x="52918" y="656245"/>
                </a:lnTo>
                <a:lnTo>
                  <a:pt x="211439" y="3048"/>
                </a:lnTo>
                <a:lnTo>
                  <a:pt x="198993" y="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3" name="Google Shape;153;p16"/>
          <p:cNvSpPr/>
          <p:nvPr/>
        </p:nvSpPr>
        <p:spPr>
          <a:xfrm>
            <a:off x="2774501" y="2208921"/>
            <a:ext cx="2143125" cy="1279525"/>
          </a:xfrm>
          <a:custGeom>
            <a:rect b="b" l="l" r="r" t="t"/>
            <a:pathLst>
              <a:path extrusionOk="0" h="1279525" w="2143125">
                <a:moveTo>
                  <a:pt x="71417" y="25987"/>
                </a:moveTo>
                <a:lnTo>
                  <a:pt x="73387" y="31385"/>
                </a:lnTo>
                <a:lnTo>
                  <a:pt x="74392" y="47498"/>
                </a:lnTo>
                <a:lnTo>
                  <a:pt x="74364" y="48618"/>
                </a:lnTo>
                <a:lnTo>
                  <a:pt x="72960" y="51423"/>
                </a:lnTo>
                <a:lnTo>
                  <a:pt x="538435" y="61849"/>
                </a:lnTo>
                <a:lnTo>
                  <a:pt x="659974" y="66802"/>
                </a:lnTo>
                <a:lnTo>
                  <a:pt x="778846" y="72898"/>
                </a:lnTo>
                <a:lnTo>
                  <a:pt x="894797" y="80645"/>
                </a:lnTo>
                <a:lnTo>
                  <a:pt x="1007192" y="90297"/>
                </a:lnTo>
                <a:lnTo>
                  <a:pt x="1115777" y="102108"/>
                </a:lnTo>
                <a:lnTo>
                  <a:pt x="1219790" y="116205"/>
                </a:lnTo>
                <a:lnTo>
                  <a:pt x="1318850" y="133096"/>
                </a:lnTo>
                <a:lnTo>
                  <a:pt x="1412576" y="152908"/>
                </a:lnTo>
                <a:lnTo>
                  <a:pt x="1457153" y="164084"/>
                </a:lnTo>
                <a:lnTo>
                  <a:pt x="1500206" y="175895"/>
                </a:lnTo>
                <a:lnTo>
                  <a:pt x="1541481" y="188722"/>
                </a:lnTo>
                <a:lnTo>
                  <a:pt x="1581232" y="202184"/>
                </a:lnTo>
                <a:lnTo>
                  <a:pt x="1619205" y="216789"/>
                </a:lnTo>
                <a:lnTo>
                  <a:pt x="1655273" y="232283"/>
                </a:lnTo>
                <a:lnTo>
                  <a:pt x="1689690" y="248793"/>
                </a:lnTo>
                <a:lnTo>
                  <a:pt x="1752301" y="284861"/>
                </a:lnTo>
                <a:lnTo>
                  <a:pt x="1808562" y="326263"/>
                </a:lnTo>
                <a:lnTo>
                  <a:pt x="1858727" y="372745"/>
                </a:lnTo>
                <a:lnTo>
                  <a:pt x="1903304" y="424053"/>
                </a:lnTo>
                <a:lnTo>
                  <a:pt x="1942547" y="479679"/>
                </a:lnTo>
                <a:lnTo>
                  <a:pt x="1976710" y="539115"/>
                </a:lnTo>
                <a:lnTo>
                  <a:pt x="2006301" y="601980"/>
                </a:lnTo>
                <a:lnTo>
                  <a:pt x="2031574" y="667766"/>
                </a:lnTo>
                <a:lnTo>
                  <a:pt x="2052783" y="736092"/>
                </a:lnTo>
                <a:lnTo>
                  <a:pt x="2070182" y="806323"/>
                </a:lnTo>
                <a:lnTo>
                  <a:pt x="2084406" y="878078"/>
                </a:lnTo>
                <a:lnTo>
                  <a:pt x="2095582" y="950976"/>
                </a:lnTo>
                <a:lnTo>
                  <a:pt x="2104091" y="1024382"/>
                </a:lnTo>
                <a:lnTo>
                  <a:pt x="2112473" y="1134491"/>
                </a:lnTo>
                <a:lnTo>
                  <a:pt x="2115775" y="1207262"/>
                </a:lnTo>
                <a:lnTo>
                  <a:pt x="2117553" y="1279144"/>
                </a:lnTo>
                <a:lnTo>
                  <a:pt x="2142826" y="1278509"/>
                </a:lnTo>
                <a:lnTo>
                  <a:pt x="2141175" y="1206627"/>
                </a:lnTo>
                <a:lnTo>
                  <a:pt x="2137873" y="1133348"/>
                </a:lnTo>
                <a:lnTo>
                  <a:pt x="2132793" y="1059307"/>
                </a:lnTo>
                <a:lnTo>
                  <a:pt x="2125427" y="984885"/>
                </a:lnTo>
                <a:lnTo>
                  <a:pt x="2115521" y="910844"/>
                </a:lnTo>
                <a:lnTo>
                  <a:pt x="2102821" y="837438"/>
                </a:lnTo>
                <a:lnTo>
                  <a:pt x="2086692" y="765175"/>
                </a:lnTo>
                <a:lnTo>
                  <a:pt x="2067007" y="694436"/>
                </a:lnTo>
                <a:lnTo>
                  <a:pt x="2043385" y="625856"/>
                </a:lnTo>
                <a:lnTo>
                  <a:pt x="2015318" y="559689"/>
                </a:lnTo>
                <a:lnTo>
                  <a:pt x="1982552" y="496697"/>
                </a:lnTo>
                <a:lnTo>
                  <a:pt x="1944579" y="437134"/>
                </a:lnTo>
                <a:lnTo>
                  <a:pt x="1901272" y="381635"/>
                </a:lnTo>
                <a:lnTo>
                  <a:pt x="1852250" y="330708"/>
                </a:lnTo>
                <a:lnTo>
                  <a:pt x="1797005" y="284734"/>
                </a:lnTo>
                <a:lnTo>
                  <a:pt x="1735156" y="244475"/>
                </a:lnTo>
                <a:lnTo>
                  <a:pt x="1666322" y="209423"/>
                </a:lnTo>
                <a:lnTo>
                  <a:pt x="1629238" y="193421"/>
                </a:lnTo>
                <a:lnTo>
                  <a:pt x="1590376" y="178562"/>
                </a:lnTo>
                <a:lnTo>
                  <a:pt x="1549736" y="164592"/>
                </a:lnTo>
                <a:lnTo>
                  <a:pt x="1507699" y="151638"/>
                </a:lnTo>
                <a:lnTo>
                  <a:pt x="1463884" y="139573"/>
                </a:lnTo>
                <a:lnTo>
                  <a:pt x="1418672" y="128270"/>
                </a:lnTo>
                <a:lnTo>
                  <a:pt x="1324184" y="108204"/>
                </a:lnTo>
                <a:lnTo>
                  <a:pt x="1224108" y="91186"/>
                </a:lnTo>
                <a:lnTo>
                  <a:pt x="1119206" y="76962"/>
                </a:lnTo>
                <a:lnTo>
                  <a:pt x="1009986" y="65024"/>
                </a:lnTo>
                <a:lnTo>
                  <a:pt x="896956" y="55372"/>
                </a:lnTo>
                <a:lnTo>
                  <a:pt x="780497" y="47498"/>
                </a:lnTo>
                <a:lnTo>
                  <a:pt x="661244" y="41402"/>
                </a:lnTo>
                <a:lnTo>
                  <a:pt x="415753" y="32766"/>
                </a:lnTo>
                <a:lnTo>
                  <a:pt x="71417" y="25987"/>
                </a:lnTo>
                <a:close/>
              </a:path>
              <a:path extrusionOk="0" h="1279525" w="2143125">
                <a:moveTo>
                  <a:pt x="38563" y="0"/>
                </a:moveTo>
                <a:lnTo>
                  <a:pt x="24575" y="2369"/>
                </a:lnTo>
                <a:lnTo>
                  <a:pt x="12808" y="9353"/>
                </a:lnTo>
                <a:lnTo>
                  <a:pt x="4277" y="19963"/>
                </a:lnTo>
                <a:lnTo>
                  <a:pt x="0" y="33212"/>
                </a:lnTo>
                <a:lnTo>
                  <a:pt x="1944" y="48618"/>
                </a:lnTo>
                <a:lnTo>
                  <a:pt x="8116" y="61167"/>
                </a:lnTo>
                <a:lnTo>
                  <a:pt x="17677" y="70272"/>
                </a:lnTo>
                <a:lnTo>
                  <a:pt x="29788" y="75344"/>
                </a:lnTo>
                <a:lnTo>
                  <a:pt x="46192" y="73866"/>
                </a:lnTo>
                <a:lnTo>
                  <a:pt x="59315" y="68383"/>
                </a:lnTo>
                <a:lnTo>
                  <a:pt x="68841" y="59655"/>
                </a:lnTo>
                <a:lnTo>
                  <a:pt x="72960" y="51423"/>
                </a:lnTo>
                <a:lnTo>
                  <a:pt x="37547" y="50800"/>
                </a:lnTo>
                <a:lnTo>
                  <a:pt x="38055" y="25400"/>
                </a:lnTo>
                <a:lnTo>
                  <a:pt x="71203" y="25400"/>
                </a:lnTo>
                <a:lnTo>
                  <a:pt x="68445" y="17842"/>
                </a:lnTo>
                <a:lnTo>
                  <a:pt x="60349" y="7983"/>
                </a:lnTo>
                <a:lnTo>
                  <a:pt x="49824" y="1977"/>
                </a:lnTo>
                <a:lnTo>
                  <a:pt x="38563" y="0"/>
                </a:lnTo>
                <a:close/>
              </a:path>
              <a:path extrusionOk="0" h="1279525" w="2143125">
                <a:moveTo>
                  <a:pt x="38055" y="25400"/>
                </a:moveTo>
                <a:lnTo>
                  <a:pt x="37547" y="50800"/>
                </a:lnTo>
                <a:lnTo>
                  <a:pt x="72960" y="51423"/>
                </a:lnTo>
                <a:lnTo>
                  <a:pt x="74364" y="48618"/>
                </a:lnTo>
                <a:lnTo>
                  <a:pt x="74392" y="47498"/>
                </a:lnTo>
                <a:lnTo>
                  <a:pt x="73387" y="31385"/>
                </a:lnTo>
                <a:lnTo>
                  <a:pt x="71417" y="25987"/>
                </a:lnTo>
                <a:lnTo>
                  <a:pt x="38055" y="25400"/>
                </a:lnTo>
                <a:close/>
              </a:path>
              <a:path extrusionOk="0" h="1279525" w="2143125">
                <a:moveTo>
                  <a:pt x="71203" y="25400"/>
                </a:moveTo>
                <a:lnTo>
                  <a:pt x="38055" y="25400"/>
                </a:lnTo>
                <a:lnTo>
                  <a:pt x="71417" y="25987"/>
                </a:lnTo>
                <a:lnTo>
                  <a:pt x="71203" y="25400"/>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4" name="Google Shape;154;p16"/>
          <p:cNvSpPr txBox="1"/>
          <p:nvPr/>
        </p:nvSpPr>
        <p:spPr>
          <a:xfrm>
            <a:off x="795604" y="2111061"/>
            <a:ext cx="1702435" cy="5283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i="1" lang="en-US" sz="1800">
                <a:solidFill>
                  <a:srgbClr val="7E7E7E"/>
                </a:solidFill>
                <a:latin typeface="Arial"/>
                <a:ea typeface="Arial"/>
                <a:cs typeface="Arial"/>
                <a:sym typeface="Arial"/>
              </a:rPr>
              <a:t>Appartient à une</a:t>
            </a:r>
            <a:endParaRPr sz="1800">
              <a:latin typeface="Arial"/>
              <a:ea typeface="Arial"/>
              <a:cs typeface="Arial"/>
              <a:sym typeface="Arial"/>
            </a:endParaRPr>
          </a:p>
          <a:p>
            <a:pPr indent="0" lvl="0" marL="12700" marR="0" rtl="0" algn="l">
              <a:lnSpc>
                <a:spcPct val="100000"/>
              </a:lnSpc>
              <a:spcBef>
                <a:spcPts val="0"/>
              </a:spcBef>
              <a:spcAft>
                <a:spcPts val="0"/>
              </a:spcAft>
              <a:buNone/>
            </a:pPr>
            <a:r>
              <a:rPr lang="en-US" sz="1800">
                <a:latin typeface="Arial"/>
                <a:ea typeface="Arial"/>
                <a:cs typeface="Arial"/>
                <a:sym typeface="Arial"/>
              </a:rPr>
              <a:t>catégorie :</a:t>
            </a:r>
            <a:endParaRPr sz="1800">
              <a:latin typeface="Arial"/>
              <a:ea typeface="Arial"/>
              <a:cs typeface="Arial"/>
              <a:sym typeface="Arial"/>
            </a:endParaRPr>
          </a:p>
        </p:txBody>
      </p:sp>
      <p:sp>
        <p:nvSpPr>
          <p:cNvPr id="155" name="Google Shape;155;p16"/>
          <p:cNvSpPr txBox="1"/>
          <p:nvPr/>
        </p:nvSpPr>
        <p:spPr>
          <a:xfrm>
            <a:off x="844819" y="2700237"/>
            <a:ext cx="1480820" cy="543560"/>
          </a:xfrm>
          <a:prstGeom prst="rect">
            <a:avLst/>
          </a:prstGeom>
          <a:noFill/>
          <a:ln>
            <a:noFill/>
          </a:ln>
        </p:spPr>
        <p:txBody>
          <a:bodyPr anchorCtr="0" anchor="t" bIns="0" lIns="0" spcFirstLastPara="1" rIns="0" wrap="square" tIns="0">
            <a:spAutoFit/>
          </a:bodyPr>
          <a:lstStyle/>
          <a:p>
            <a:pPr indent="-172720" lvl="0" marL="185420" marR="0" rtl="0" algn="l">
              <a:lnSpc>
                <a:spcPct val="100000"/>
              </a:lnSpc>
              <a:spcBef>
                <a:spcPts val="0"/>
              </a:spcBef>
              <a:spcAft>
                <a:spcPts val="0"/>
              </a:spcAft>
              <a:buSzPts val="1200"/>
              <a:buFont typeface="Arial"/>
              <a:buChar char="•"/>
            </a:pPr>
            <a:r>
              <a:rPr lang="en-US" sz="1200">
                <a:latin typeface="Arial"/>
                <a:ea typeface="Arial"/>
                <a:cs typeface="Arial"/>
                <a:sym typeface="Arial"/>
              </a:rPr>
              <a:t>Domaine</a:t>
            </a:r>
            <a:endParaRPr sz="1200">
              <a:latin typeface="Arial"/>
              <a:ea typeface="Arial"/>
              <a:cs typeface="Arial"/>
              <a:sym typeface="Arial"/>
            </a:endParaRPr>
          </a:p>
          <a:p>
            <a:pPr indent="-172720" lvl="0" marL="185420" marR="0" rtl="0" algn="l">
              <a:lnSpc>
                <a:spcPct val="100000"/>
              </a:lnSpc>
              <a:spcBef>
                <a:spcPts val="0"/>
              </a:spcBef>
              <a:spcAft>
                <a:spcPts val="0"/>
              </a:spcAft>
              <a:buSzPts val="1200"/>
              <a:buFont typeface="Arial"/>
              <a:buChar char="•"/>
            </a:pPr>
            <a:r>
              <a:rPr lang="en-US" sz="1200">
                <a:latin typeface="Arial"/>
                <a:ea typeface="Arial"/>
                <a:cs typeface="Arial"/>
                <a:sym typeface="Arial"/>
              </a:rPr>
              <a:t>Famille de produits</a:t>
            </a:r>
            <a:endParaRPr sz="1200">
              <a:latin typeface="Arial"/>
              <a:ea typeface="Arial"/>
              <a:cs typeface="Arial"/>
              <a:sym typeface="Arial"/>
            </a:endParaRPr>
          </a:p>
          <a:p>
            <a:pPr indent="-172720" lvl="0" marL="185420" marR="0" rtl="0" algn="l">
              <a:lnSpc>
                <a:spcPct val="100000"/>
              </a:lnSpc>
              <a:spcBef>
                <a:spcPts val="0"/>
              </a:spcBef>
              <a:spcAft>
                <a:spcPts val="0"/>
              </a:spcAft>
              <a:buSzPts val="1200"/>
              <a:buFont typeface="Arial"/>
              <a:buChar char="•"/>
            </a:pPr>
            <a:r>
              <a:rPr lang="en-US" sz="1200">
                <a:latin typeface="Arial"/>
                <a:ea typeface="Arial"/>
                <a:cs typeface="Arial"/>
                <a:sym typeface="Arial"/>
              </a:rPr>
              <a:t>Lignée de produits</a:t>
            </a:r>
            <a:endParaRPr sz="1200">
              <a:latin typeface="Arial"/>
              <a:ea typeface="Arial"/>
              <a:cs typeface="Arial"/>
              <a:sym typeface="Arial"/>
            </a:endParaRPr>
          </a:p>
        </p:txBody>
      </p:sp>
      <p:sp>
        <p:nvSpPr>
          <p:cNvPr id="156" name="Google Shape;156;p16"/>
          <p:cNvSpPr/>
          <p:nvPr/>
        </p:nvSpPr>
        <p:spPr>
          <a:xfrm>
            <a:off x="5849105" y="4380786"/>
            <a:ext cx="0" cy="2400935"/>
          </a:xfrm>
          <a:custGeom>
            <a:rect b="b" l="l" r="r" t="t"/>
            <a:pathLst>
              <a:path extrusionOk="0" h="2400934" w="120000">
                <a:moveTo>
                  <a:pt x="0" y="0"/>
                </a:moveTo>
                <a:lnTo>
                  <a:pt x="0" y="2400414"/>
                </a:lnTo>
              </a:path>
            </a:pathLst>
          </a:custGeom>
          <a:noFill/>
          <a:ln cap="flat" cmpd="sng" w="10700">
            <a:solidFill>
              <a:srgbClr val="00574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7" name="Google Shape;157;p16"/>
          <p:cNvSpPr txBox="1"/>
          <p:nvPr/>
        </p:nvSpPr>
        <p:spPr>
          <a:xfrm>
            <a:off x="2912694" y="6364994"/>
            <a:ext cx="2845435" cy="2794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rgbClr val="FF0000"/>
                </a:solidFill>
                <a:latin typeface="Arial"/>
                <a:ea typeface="Arial"/>
                <a:cs typeface="Arial"/>
                <a:sym typeface="Arial"/>
              </a:rPr>
              <a:t>Caractérisation externe</a:t>
            </a:r>
            <a:endParaRPr sz="2000">
              <a:latin typeface="Arial"/>
              <a:ea typeface="Arial"/>
              <a:cs typeface="Arial"/>
              <a:sym typeface="Arial"/>
            </a:endParaRPr>
          </a:p>
        </p:txBody>
      </p:sp>
      <p:sp>
        <p:nvSpPr>
          <p:cNvPr id="158" name="Google Shape;158;p16"/>
          <p:cNvSpPr txBox="1"/>
          <p:nvPr/>
        </p:nvSpPr>
        <p:spPr>
          <a:xfrm>
            <a:off x="7590942" y="6257375"/>
            <a:ext cx="2788920" cy="2794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000">
                <a:solidFill>
                  <a:srgbClr val="FF0000"/>
                </a:solidFill>
                <a:latin typeface="Arial"/>
                <a:ea typeface="Arial"/>
                <a:cs typeface="Arial"/>
                <a:sym typeface="Arial"/>
              </a:rPr>
              <a:t>Caractérisation interne</a:t>
            </a:r>
            <a:endParaRPr sz="2000">
              <a:latin typeface="Arial"/>
              <a:ea typeface="Arial"/>
              <a:cs typeface="Arial"/>
              <a:sym typeface="Arial"/>
            </a:endParaRPr>
          </a:p>
        </p:txBody>
      </p:sp>
      <p:sp>
        <p:nvSpPr>
          <p:cNvPr id="159" name="Google Shape;159;p16"/>
          <p:cNvSpPr txBox="1"/>
          <p:nvPr/>
        </p:nvSpPr>
        <p:spPr>
          <a:xfrm>
            <a:off x="7773048" y="4969831"/>
            <a:ext cx="2426335" cy="803275"/>
          </a:xfrm>
          <a:prstGeom prst="rect">
            <a:avLst/>
          </a:prstGeom>
          <a:noFill/>
          <a:ln>
            <a:noFill/>
          </a:ln>
        </p:spPr>
        <p:txBody>
          <a:bodyPr anchorCtr="0" anchor="t" bIns="0" lIns="0" spcFirstLastPara="1" rIns="0" wrap="square" tIns="0">
            <a:spAutoFit/>
          </a:bodyPr>
          <a:lstStyle/>
          <a:p>
            <a:pPr indent="0" lvl="0" marL="12700" marR="5080" rtl="0" algn="l">
              <a:lnSpc>
                <a:spcPct val="100000"/>
              </a:lnSpc>
              <a:spcBef>
                <a:spcPts val="0"/>
              </a:spcBef>
              <a:spcAft>
                <a:spcPts val="0"/>
              </a:spcAft>
              <a:buNone/>
            </a:pPr>
            <a:r>
              <a:rPr i="1" lang="en-US" sz="1800">
                <a:solidFill>
                  <a:srgbClr val="7E7E7E"/>
                </a:solidFill>
                <a:latin typeface="Arial"/>
                <a:ea typeface="Arial"/>
                <a:cs typeface="Arial"/>
                <a:sym typeface="Arial"/>
              </a:rPr>
              <a:t>Est régi par </a:t>
            </a:r>
            <a:r>
              <a:rPr lang="en-US" sz="1800">
                <a:latin typeface="Arial"/>
                <a:ea typeface="Arial"/>
                <a:cs typeface="Arial"/>
                <a:sym typeface="Arial"/>
              </a:rPr>
              <a:t>Fonctionnement interne (Principe technique)</a:t>
            </a:r>
            <a:endParaRPr sz="1800">
              <a:latin typeface="Arial"/>
              <a:ea typeface="Arial"/>
              <a:cs typeface="Arial"/>
              <a:sym typeface="Arial"/>
            </a:endParaRPr>
          </a:p>
        </p:txBody>
      </p:sp>
      <p:sp>
        <p:nvSpPr>
          <p:cNvPr id="160" name="Google Shape;160;p16"/>
          <p:cNvSpPr/>
          <p:nvPr/>
        </p:nvSpPr>
        <p:spPr>
          <a:xfrm>
            <a:off x="6138941" y="4244731"/>
            <a:ext cx="1515110" cy="899160"/>
          </a:xfrm>
          <a:custGeom>
            <a:rect b="b" l="l" r="r" t="t"/>
            <a:pathLst>
              <a:path extrusionOk="0" h="899160" w="1515109">
                <a:moveTo>
                  <a:pt x="1511516" y="848106"/>
                </a:moveTo>
                <a:lnTo>
                  <a:pt x="1475867" y="848106"/>
                </a:lnTo>
                <a:lnTo>
                  <a:pt x="1477391" y="873506"/>
                </a:lnTo>
                <a:lnTo>
                  <a:pt x="1444384" y="875507"/>
                </a:lnTo>
                <a:lnTo>
                  <a:pt x="1447702" y="883063"/>
                </a:lnTo>
                <a:lnTo>
                  <a:pt x="1456443" y="892395"/>
                </a:lnTo>
                <a:lnTo>
                  <a:pt x="1467326" y="897637"/>
                </a:lnTo>
                <a:lnTo>
                  <a:pt x="1478915" y="898779"/>
                </a:lnTo>
                <a:lnTo>
                  <a:pt x="1492420" y="895450"/>
                </a:lnTo>
                <a:lnTo>
                  <a:pt x="1503463" y="887863"/>
                </a:lnTo>
                <a:lnTo>
                  <a:pt x="1511173" y="877009"/>
                </a:lnTo>
                <a:lnTo>
                  <a:pt x="1514679" y="863877"/>
                </a:lnTo>
                <a:lnTo>
                  <a:pt x="1511724" y="848478"/>
                </a:lnTo>
                <a:lnTo>
                  <a:pt x="1511516" y="848106"/>
                </a:lnTo>
                <a:close/>
              </a:path>
              <a:path extrusionOk="0" h="899160" w="1515109">
                <a:moveTo>
                  <a:pt x="24765" y="0"/>
                </a:moveTo>
                <a:lnTo>
                  <a:pt x="0" y="5206"/>
                </a:lnTo>
                <a:lnTo>
                  <a:pt x="24003" y="122046"/>
                </a:lnTo>
                <a:lnTo>
                  <a:pt x="36576" y="179958"/>
                </a:lnTo>
                <a:lnTo>
                  <a:pt x="50165" y="237362"/>
                </a:lnTo>
                <a:lnTo>
                  <a:pt x="64643" y="293623"/>
                </a:lnTo>
                <a:lnTo>
                  <a:pt x="80518" y="348868"/>
                </a:lnTo>
                <a:lnTo>
                  <a:pt x="98171" y="402589"/>
                </a:lnTo>
                <a:lnTo>
                  <a:pt x="117602" y="454786"/>
                </a:lnTo>
                <a:lnTo>
                  <a:pt x="139446" y="505078"/>
                </a:lnTo>
                <a:lnTo>
                  <a:pt x="163449" y="553085"/>
                </a:lnTo>
                <a:lnTo>
                  <a:pt x="190373" y="598805"/>
                </a:lnTo>
                <a:lnTo>
                  <a:pt x="220345" y="641858"/>
                </a:lnTo>
                <a:lnTo>
                  <a:pt x="253492" y="681863"/>
                </a:lnTo>
                <a:lnTo>
                  <a:pt x="290322" y="718693"/>
                </a:lnTo>
                <a:lnTo>
                  <a:pt x="330962" y="751966"/>
                </a:lnTo>
                <a:lnTo>
                  <a:pt x="375793" y="781430"/>
                </a:lnTo>
                <a:lnTo>
                  <a:pt x="424815" y="806958"/>
                </a:lnTo>
                <a:lnTo>
                  <a:pt x="477647" y="828547"/>
                </a:lnTo>
                <a:lnTo>
                  <a:pt x="534035" y="846582"/>
                </a:lnTo>
                <a:lnTo>
                  <a:pt x="593852" y="861313"/>
                </a:lnTo>
                <a:lnTo>
                  <a:pt x="656717" y="872870"/>
                </a:lnTo>
                <a:lnTo>
                  <a:pt x="722376" y="881634"/>
                </a:lnTo>
                <a:lnTo>
                  <a:pt x="790575" y="887984"/>
                </a:lnTo>
                <a:lnTo>
                  <a:pt x="861060" y="892047"/>
                </a:lnTo>
                <a:lnTo>
                  <a:pt x="933577" y="894079"/>
                </a:lnTo>
                <a:lnTo>
                  <a:pt x="1007999" y="894334"/>
                </a:lnTo>
                <a:lnTo>
                  <a:pt x="1083945" y="893191"/>
                </a:lnTo>
                <a:lnTo>
                  <a:pt x="1161161" y="890778"/>
                </a:lnTo>
                <a:lnTo>
                  <a:pt x="1318260" y="883157"/>
                </a:lnTo>
                <a:lnTo>
                  <a:pt x="1444384" y="875507"/>
                </a:lnTo>
                <a:lnTo>
                  <a:pt x="1441834" y="869701"/>
                </a:lnTo>
                <a:lnTo>
                  <a:pt x="1441734" y="868934"/>
                </a:lnTo>
                <a:lnTo>
                  <a:pt x="1008126" y="868934"/>
                </a:lnTo>
                <a:lnTo>
                  <a:pt x="934338" y="868679"/>
                </a:lnTo>
                <a:lnTo>
                  <a:pt x="862330" y="866647"/>
                </a:lnTo>
                <a:lnTo>
                  <a:pt x="792607" y="862584"/>
                </a:lnTo>
                <a:lnTo>
                  <a:pt x="725424" y="856488"/>
                </a:lnTo>
                <a:lnTo>
                  <a:pt x="660908" y="847851"/>
                </a:lnTo>
                <a:lnTo>
                  <a:pt x="599440" y="836548"/>
                </a:lnTo>
                <a:lnTo>
                  <a:pt x="541401" y="822197"/>
                </a:lnTo>
                <a:lnTo>
                  <a:pt x="486664" y="804799"/>
                </a:lnTo>
                <a:lnTo>
                  <a:pt x="435864" y="784097"/>
                </a:lnTo>
                <a:lnTo>
                  <a:pt x="389255" y="759968"/>
                </a:lnTo>
                <a:lnTo>
                  <a:pt x="346583" y="731901"/>
                </a:lnTo>
                <a:lnTo>
                  <a:pt x="307848" y="700277"/>
                </a:lnTo>
                <a:lnTo>
                  <a:pt x="272669" y="665226"/>
                </a:lnTo>
                <a:lnTo>
                  <a:pt x="240792" y="626744"/>
                </a:lnTo>
                <a:lnTo>
                  <a:pt x="211963" y="585597"/>
                </a:lnTo>
                <a:lnTo>
                  <a:pt x="185928" y="541401"/>
                </a:lnTo>
                <a:lnTo>
                  <a:pt x="162560" y="494664"/>
                </a:lnTo>
                <a:lnTo>
                  <a:pt x="141478" y="445769"/>
                </a:lnTo>
                <a:lnTo>
                  <a:pt x="122301" y="394716"/>
                </a:lnTo>
                <a:lnTo>
                  <a:pt x="105029" y="341756"/>
                </a:lnTo>
                <a:lnTo>
                  <a:pt x="89281" y="287273"/>
                </a:lnTo>
                <a:lnTo>
                  <a:pt x="74803" y="231520"/>
                </a:lnTo>
                <a:lnTo>
                  <a:pt x="61341" y="174624"/>
                </a:lnTo>
                <a:lnTo>
                  <a:pt x="48768" y="116966"/>
                </a:lnTo>
                <a:lnTo>
                  <a:pt x="24765" y="0"/>
                </a:lnTo>
                <a:close/>
              </a:path>
              <a:path extrusionOk="0" h="899160" w="1515109">
                <a:moveTo>
                  <a:pt x="1475867" y="848106"/>
                </a:moveTo>
                <a:lnTo>
                  <a:pt x="1440518" y="850251"/>
                </a:lnTo>
                <a:lnTo>
                  <a:pt x="1439573" y="852370"/>
                </a:lnTo>
                <a:lnTo>
                  <a:pt x="1441834" y="869701"/>
                </a:lnTo>
                <a:lnTo>
                  <a:pt x="1444384" y="875507"/>
                </a:lnTo>
                <a:lnTo>
                  <a:pt x="1477391" y="873506"/>
                </a:lnTo>
                <a:lnTo>
                  <a:pt x="1475867" y="848106"/>
                </a:lnTo>
                <a:close/>
              </a:path>
              <a:path extrusionOk="0" h="899160" w="1515109">
                <a:moveTo>
                  <a:pt x="1440518" y="850251"/>
                </a:moveTo>
                <a:lnTo>
                  <a:pt x="1316863" y="857757"/>
                </a:lnTo>
                <a:lnTo>
                  <a:pt x="1160272" y="865378"/>
                </a:lnTo>
                <a:lnTo>
                  <a:pt x="1083564" y="867791"/>
                </a:lnTo>
                <a:lnTo>
                  <a:pt x="1008126" y="868934"/>
                </a:lnTo>
                <a:lnTo>
                  <a:pt x="1441734" y="868934"/>
                </a:lnTo>
                <a:lnTo>
                  <a:pt x="1439573" y="852370"/>
                </a:lnTo>
                <a:lnTo>
                  <a:pt x="1440518" y="850251"/>
                </a:lnTo>
                <a:close/>
              </a:path>
              <a:path extrusionOk="0" h="899160" w="1515109">
                <a:moveTo>
                  <a:pt x="1483253" y="823344"/>
                </a:moveTo>
                <a:lnTo>
                  <a:pt x="1466593" y="825886"/>
                </a:lnTo>
                <a:lnTo>
                  <a:pt x="1453640" y="832073"/>
                </a:lnTo>
                <a:lnTo>
                  <a:pt x="1444574" y="841152"/>
                </a:lnTo>
                <a:lnTo>
                  <a:pt x="1440518" y="850251"/>
                </a:lnTo>
                <a:lnTo>
                  <a:pt x="1475867" y="848106"/>
                </a:lnTo>
                <a:lnTo>
                  <a:pt x="1511516" y="848106"/>
                </a:lnTo>
                <a:lnTo>
                  <a:pt x="1504962" y="836317"/>
                </a:lnTo>
                <a:lnTo>
                  <a:pt x="1495203" y="827803"/>
                </a:lnTo>
                <a:lnTo>
                  <a:pt x="1483253" y="823344"/>
                </a:lnTo>
                <a:close/>
              </a:path>
            </a:pathLst>
          </a:custGeom>
          <a:solidFill>
            <a:srgbClr val="A6A6A6"/>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1" name="Google Shape;161;p16"/>
          <p:cNvSpPr txBox="1"/>
          <p:nvPr>
            <p:ph type="title"/>
          </p:nvPr>
        </p:nvSpPr>
        <p:spPr>
          <a:xfrm>
            <a:off x="488314" y="149593"/>
            <a:ext cx="11215370" cy="925194"/>
          </a:xfrm>
          <a:prstGeom prst="rect">
            <a:avLst/>
          </a:prstGeom>
          <a:noFill/>
          <a:ln>
            <a:noFill/>
          </a:ln>
        </p:spPr>
        <p:txBody>
          <a:bodyPr anchorCtr="0" anchor="t" bIns="0" lIns="0" spcFirstLastPara="1" rIns="0" wrap="square" tIns="212150">
            <a:spAutoFit/>
          </a:bodyPr>
          <a:lstStyle/>
          <a:p>
            <a:pPr indent="0" lvl="0" marL="1497330" rtl="0" algn="l">
              <a:lnSpc>
                <a:spcPct val="100000"/>
              </a:lnSpc>
              <a:spcBef>
                <a:spcPts val="0"/>
              </a:spcBef>
              <a:spcAft>
                <a:spcPts val="0"/>
              </a:spcAft>
              <a:buNone/>
            </a:pPr>
            <a:r>
              <a:rPr lang="en-US">
                <a:latin typeface="Arial"/>
                <a:ea typeface="Arial"/>
                <a:cs typeface="Arial"/>
                <a:sym typeface="Arial"/>
              </a:rPr>
              <a:t>COMPRENDRE un OST, c’est savoir que …</a:t>
            </a:r>
            <a:endParaRPr/>
          </a:p>
        </p:txBody>
      </p:sp>
      <p:sp>
        <p:nvSpPr>
          <p:cNvPr id="162" name="Google Shape;162;p16"/>
          <p:cNvSpPr/>
          <p:nvPr/>
        </p:nvSpPr>
        <p:spPr>
          <a:xfrm>
            <a:off x="5914592" y="802489"/>
            <a:ext cx="0" cy="2400935"/>
          </a:xfrm>
          <a:custGeom>
            <a:rect b="b" l="l" r="r" t="t"/>
            <a:pathLst>
              <a:path extrusionOk="0" h="2400935" w="120000">
                <a:moveTo>
                  <a:pt x="0" y="0"/>
                </a:moveTo>
                <a:lnTo>
                  <a:pt x="0" y="2400414"/>
                </a:lnTo>
              </a:path>
            </a:pathLst>
          </a:custGeom>
          <a:noFill/>
          <a:ln cap="flat" cmpd="sng" w="10700">
            <a:solidFill>
              <a:srgbClr val="005740"/>
            </a:solidFill>
            <a:prstDash val="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6" name="Shape 166"/>
        <p:cNvGrpSpPr/>
        <p:nvPr/>
      </p:nvGrpSpPr>
      <p:grpSpPr>
        <a:xfrm>
          <a:off x="0" y="0"/>
          <a:ext cx="0" cy="0"/>
          <a:chOff x="0" y="0"/>
          <a:chExt cx="0" cy="0"/>
        </a:xfrm>
      </p:grpSpPr>
      <p:sp>
        <p:nvSpPr>
          <p:cNvPr id="167" name="Google Shape;167;p17"/>
          <p:cNvSpPr txBox="1"/>
          <p:nvPr/>
        </p:nvSpPr>
        <p:spPr>
          <a:xfrm>
            <a:off x="3458629" y="1025944"/>
            <a:ext cx="5517515" cy="457834"/>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Apprendre dans quel but ?</a:t>
            </a:r>
            <a:endParaRPr sz="3400">
              <a:latin typeface="Arial"/>
              <a:ea typeface="Arial"/>
              <a:cs typeface="Arial"/>
              <a:sym typeface="Arial"/>
            </a:endParaRPr>
          </a:p>
        </p:txBody>
      </p:sp>
      <p:sp>
        <p:nvSpPr>
          <p:cNvPr id="168" name="Google Shape;168;p17"/>
          <p:cNvSpPr/>
          <p:nvPr/>
        </p:nvSpPr>
        <p:spPr>
          <a:xfrm>
            <a:off x="447578" y="1905306"/>
            <a:ext cx="3777233" cy="219481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9" name="Google Shape;169;p17"/>
          <p:cNvSpPr txBox="1"/>
          <p:nvPr/>
        </p:nvSpPr>
        <p:spPr>
          <a:xfrm>
            <a:off x="633945" y="2146390"/>
            <a:ext cx="3323590" cy="1675130"/>
          </a:xfrm>
          <a:prstGeom prst="rect">
            <a:avLst/>
          </a:prstGeom>
          <a:noFill/>
          <a:ln>
            <a:noFill/>
          </a:ln>
        </p:spPr>
        <p:txBody>
          <a:bodyPr anchorCtr="0" anchor="t" bIns="0" lIns="0" spcFirstLastPara="1" rIns="0" wrap="square" tIns="0">
            <a:spAutoFit/>
          </a:bodyPr>
          <a:lstStyle/>
          <a:p>
            <a:pPr indent="0" lvl="0" marL="12065" marR="5080" rtl="0" algn="ctr">
              <a:lnSpc>
                <a:spcPct val="86400"/>
              </a:lnSpc>
              <a:spcBef>
                <a:spcPts val="0"/>
              </a:spcBef>
              <a:spcAft>
                <a:spcPts val="0"/>
              </a:spcAft>
              <a:buNone/>
            </a:pPr>
            <a:r>
              <a:rPr lang="en-US" sz="2100">
                <a:latin typeface="Arial"/>
                <a:ea typeface="Arial"/>
                <a:cs typeface="Arial"/>
                <a:sym typeface="Arial"/>
              </a:rPr>
              <a:t>Accompagner à l’orientation vers des filières et des métiers scientifiques, technologiques, industriels, artisanaux ou de services techniques.</a:t>
            </a:r>
            <a:endParaRPr sz="2100">
              <a:latin typeface="Arial"/>
              <a:ea typeface="Arial"/>
              <a:cs typeface="Arial"/>
              <a:sym typeface="Arial"/>
            </a:endParaRPr>
          </a:p>
        </p:txBody>
      </p:sp>
      <p:sp>
        <p:nvSpPr>
          <p:cNvPr id="170" name="Google Shape;170;p17"/>
          <p:cNvSpPr/>
          <p:nvPr/>
        </p:nvSpPr>
        <p:spPr>
          <a:xfrm>
            <a:off x="4356638" y="1905306"/>
            <a:ext cx="3599433" cy="219481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1" name="Google Shape;171;p17"/>
          <p:cNvSpPr txBox="1"/>
          <p:nvPr/>
        </p:nvSpPr>
        <p:spPr>
          <a:xfrm>
            <a:off x="4737252" y="2698586"/>
            <a:ext cx="2839085" cy="569595"/>
          </a:xfrm>
          <a:prstGeom prst="rect">
            <a:avLst/>
          </a:prstGeom>
          <a:noFill/>
          <a:ln>
            <a:noFill/>
          </a:ln>
        </p:spPr>
        <p:txBody>
          <a:bodyPr anchorCtr="0" anchor="t" bIns="0" lIns="0" spcFirstLastPara="1" rIns="0" wrap="square" tIns="0">
            <a:spAutoFit/>
          </a:bodyPr>
          <a:lstStyle/>
          <a:p>
            <a:pPr indent="0" lvl="0" marL="4445" marR="0" rtl="0" algn="ctr">
              <a:lnSpc>
                <a:spcPct val="111904"/>
              </a:lnSpc>
              <a:spcBef>
                <a:spcPts val="0"/>
              </a:spcBef>
              <a:spcAft>
                <a:spcPts val="0"/>
              </a:spcAft>
              <a:buNone/>
            </a:pPr>
            <a:r>
              <a:rPr lang="en-US" sz="2100">
                <a:latin typeface="Arial"/>
                <a:ea typeface="Arial"/>
                <a:cs typeface="Arial"/>
                <a:sym typeface="Arial"/>
              </a:rPr>
              <a:t>Construire la pensée</a:t>
            </a:r>
            <a:endParaRPr sz="2100">
              <a:latin typeface="Arial"/>
              <a:ea typeface="Arial"/>
              <a:cs typeface="Arial"/>
              <a:sym typeface="Arial"/>
            </a:endParaRPr>
          </a:p>
          <a:p>
            <a:pPr indent="0" lvl="0" marL="0" marR="0" rtl="0" algn="ctr">
              <a:lnSpc>
                <a:spcPct val="111904"/>
              </a:lnSpc>
              <a:spcBef>
                <a:spcPts val="0"/>
              </a:spcBef>
              <a:spcAft>
                <a:spcPts val="0"/>
              </a:spcAft>
              <a:buNone/>
            </a:pPr>
            <a:r>
              <a:rPr lang="en-US" sz="2100">
                <a:latin typeface="Arial"/>
                <a:ea typeface="Arial"/>
                <a:cs typeface="Arial"/>
                <a:sym typeface="Arial"/>
              </a:rPr>
              <a:t>informatique des élèves</a:t>
            </a:r>
            <a:endParaRPr sz="2100">
              <a:latin typeface="Arial"/>
              <a:ea typeface="Arial"/>
              <a:cs typeface="Arial"/>
              <a:sym typeface="Arial"/>
            </a:endParaRPr>
          </a:p>
        </p:txBody>
      </p:sp>
      <p:sp>
        <p:nvSpPr>
          <p:cNvPr id="172" name="Google Shape;172;p17"/>
          <p:cNvSpPr/>
          <p:nvPr/>
        </p:nvSpPr>
        <p:spPr>
          <a:xfrm>
            <a:off x="8212358" y="1905306"/>
            <a:ext cx="3688333" cy="219481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3" name="Google Shape;173;p17"/>
          <p:cNvSpPr txBox="1"/>
          <p:nvPr/>
        </p:nvSpPr>
        <p:spPr>
          <a:xfrm>
            <a:off x="8401207" y="2146390"/>
            <a:ext cx="3238500" cy="1675800"/>
          </a:xfrm>
          <a:prstGeom prst="rect">
            <a:avLst/>
          </a:prstGeom>
          <a:noFill/>
          <a:ln>
            <a:noFill/>
          </a:ln>
        </p:spPr>
        <p:txBody>
          <a:bodyPr anchorCtr="0" anchor="t" bIns="0" lIns="0" spcFirstLastPara="1" rIns="0" wrap="square" tIns="0">
            <a:spAutoFit/>
          </a:bodyPr>
          <a:lstStyle/>
          <a:p>
            <a:pPr indent="-635" lvl="0" marL="12700" marR="5080" rtl="0" algn="ctr">
              <a:lnSpc>
                <a:spcPct val="86400"/>
              </a:lnSpc>
              <a:spcBef>
                <a:spcPts val="0"/>
              </a:spcBef>
              <a:spcAft>
                <a:spcPts val="0"/>
              </a:spcAft>
              <a:buNone/>
            </a:pPr>
            <a:r>
              <a:rPr lang="en-US" sz="2100"/>
              <a:t>C</a:t>
            </a:r>
            <a:r>
              <a:rPr lang="en-US" sz="2100">
                <a:latin typeface="Arial"/>
                <a:ea typeface="Arial"/>
                <a:cs typeface="Arial"/>
                <a:sym typeface="Arial"/>
              </a:rPr>
              <a:t>onstruire ou développer une pensée critique, notamment par rapport aux usages raisonnés des objets et des systèmes techniques</a:t>
            </a:r>
            <a:endParaRPr sz="2100">
              <a:latin typeface="Arial"/>
              <a:ea typeface="Arial"/>
              <a:cs typeface="Arial"/>
              <a:sym typeface="Arial"/>
            </a:endParaRPr>
          </a:p>
        </p:txBody>
      </p:sp>
      <p:sp>
        <p:nvSpPr>
          <p:cNvPr id="174" name="Google Shape;174;p17"/>
          <p:cNvSpPr/>
          <p:nvPr/>
        </p:nvSpPr>
        <p:spPr>
          <a:xfrm>
            <a:off x="4356638" y="4364026"/>
            <a:ext cx="3657854" cy="219481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5" name="Google Shape;175;p17"/>
          <p:cNvSpPr txBox="1"/>
          <p:nvPr/>
        </p:nvSpPr>
        <p:spPr>
          <a:xfrm>
            <a:off x="4559579" y="4742651"/>
            <a:ext cx="3196500" cy="1396500"/>
          </a:xfrm>
          <a:prstGeom prst="rect">
            <a:avLst/>
          </a:prstGeom>
          <a:noFill/>
          <a:ln>
            <a:noFill/>
          </a:ln>
        </p:spPr>
        <p:txBody>
          <a:bodyPr anchorCtr="0" anchor="t" bIns="0" lIns="0" spcFirstLastPara="1" rIns="0" wrap="square" tIns="0">
            <a:spAutoFit/>
          </a:bodyPr>
          <a:lstStyle/>
          <a:p>
            <a:pPr indent="-635" lvl="0" marL="12700" marR="5080" rtl="0" algn="ctr">
              <a:lnSpc>
                <a:spcPct val="86400"/>
              </a:lnSpc>
              <a:spcBef>
                <a:spcPts val="0"/>
              </a:spcBef>
              <a:spcAft>
                <a:spcPts val="0"/>
              </a:spcAft>
              <a:buNone/>
            </a:pPr>
            <a:r>
              <a:rPr lang="en-US" sz="2100"/>
              <a:t>F</a:t>
            </a:r>
            <a:r>
              <a:rPr lang="en-US" sz="2100">
                <a:latin typeface="Arial"/>
                <a:ea typeface="Arial"/>
                <a:cs typeface="Arial"/>
                <a:sym typeface="Arial"/>
              </a:rPr>
              <a:t>aire acquérir aux élèves des compétences manuelles telles que fabriquer, savoir utiliser, ou réparer un objet</a:t>
            </a:r>
            <a:endParaRPr sz="21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9" name="Shape 179"/>
        <p:cNvGrpSpPr/>
        <p:nvPr/>
      </p:nvGrpSpPr>
      <p:grpSpPr>
        <a:xfrm>
          <a:off x="0" y="0"/>
          <a:ext cx="0" cy="0"/>
          <a:chOff x="0" y="0"/>
          <a:chExt cx="0" cy="0"/>
        </a:xfrm>
      </p:grpSpPr>
      <p:sp>
        <p:nvSpPr>
          <p:cNvPr id="180" name="Google Shape;180;p18"/>
          <p:cNvSpPr txBox="1"/>
          <p:nvPr/>
        </p:nvSpPr>
        <p:spPr>
          <a:xfrm>
            <a:off x="3458629" y="1025944"/>
            <a:ext cx="55176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Apprendre dans quel but ?</a:t>
            </a:r>
            <a:endParaRPr sz="3400">
              <a:latin typeface="Arial"/>
              <a:ea typeface="Arial"/>
              <a:cs typeface="Arial"/>
              <a:sym typeface="Arial"/>
            </a:endParaRPr>
          </a:p>
        </p:txBody>
      </p:sp>
      <p:sp>
        <p:nvSpPr>
          <p:cNvPr id="181" name="Google Shape;181;p18"/>
          <p:cNvSpPr/>
          <p:nvPr/>
        </p:nvSpPr>
        <p:spPr>
          <a:xfrm>
            <a:off x="511078" y="2908606"/>
            <a:ext cx="3777300" cy="219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82" name="Google Shape;182;p18"/>
          <p:cNvSpPr txBox="1"/>
          <p:nvPr/>
        </p:nvSpPr>
        <p:spPr>
          <a:xfrm>
            <a:off x="697445" y="3149690"/>
            <a:ext cx="3323700" cy="1675800"/>
          </a:xfrm>
          <a:prstGeom prst="rect">
            <a:avLst/>
          </a:prstGeom>
          <a:noFill/>
          <a:ln>
            <a:noFill/>
          </a:ln>
        </p:spPr>
        <p:txBody>
          <a:bodyPr anchorCtr="0" anchor="t" bIns="0" lIns="0" spcFirstLastPara="1" rIns="0" wrap="square" tIns="0">
            <a:spAutoFit/>
          </a:bodyPr>
          <a:lstStyle/>
          <a:p>
            <a:pPr indent="0" lvl="0" marL="12065" marR="5080" rtl="0" algn="ctr">
              <a:lnSpc>
                <a:spcPct val="86400"/>
              </a:lnSpc>
              <a:spcBef>
                <a:spcPts val="0"/>
              </a:spcBef>
              <a:spcAft>
                <a:spcPts val="0"/>
              </a:spcAft>
              <a:buNone/>
            </a:pPr>
            <a:r>
              <a:rPr lang="en-US" sz="2100">
                <a:latin typeface="Arial"/>
                <a:ea typeface="Arial"/>
                <a:cs typeface="Arial"/>
                <a:sym typeface="Arial"/>
              </a:rPr>
              <a:t>Accompagner à l’orientation vers des filières et des métiers scientifiques, technologiques, industriels, artisanaux ou de services techniques.</a:t>
            </a:r>
            <a:endParaRPr sz="2100">
              <a:latin typeface="Arial"/>
              <a:ea typeface="Arial"/>
              <a:cs typeface="Arial"/>
              <a:sym typeface="Arial"/>
            </a:endParaRPr>
          </a:p>
        </p:txBody>
      </p:sp>
      <p:sp>
        <p:nvSpPr>
          <p:cNvPr id="183" name="Google Shape;183;p18"/>
          <p:cNvSpPr txBox="1"/>
          <p:nvPr/>
        </p:nvSpPr>
        <p:spPr>
          <a:xfrm>
            <a:off x="4679325" y="2324100"/>
            <a:ext cx="69285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L</a:t>
            </a:r>
            <a:r>
              <a:rPr lang="en-US" sz="2400">
                <a:solidFill>
                  <a:schemeClr val="dk1"/>
                </a:solidFill>
              </a:rPr>
              <a:t>'apprentissage de la technologie a pour but de </a:t>
            </a:r>
            <a:r>
              <a:rPr b="1" lang="en-US" sz="2400">
                <a:solidFill>
                  <a:schemeClr val="dk1"/>
                </a:solidFill>
              </a:rPr>
              <a:t>préparer les élèves</a:t>
            </a:r>
            <a:r>
              <a:rPr lang="en-US" sz="2400">
                <a:solidFill>
                  <a:schemeClr val="dk1"/>
                </a:solidFill>
              </a:rPr>
              <a:t> à découvrir et s'orienter dans les domaines techniques et scientifiques.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US" sz="2400">
                <a:solidFill>
                  <a:schemeClr val="dk1"/>
                </a:solidFill>
              </a:rPr>
              <a:t>L'idée est d'initier les élèves à ces secteurs pour leur donner une vision claire des opportunités de carrière dans les métiers liés aux sciences, à la technologie, et à l'industrie.</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7" name="Shape 187"/>
        <p:cNvGrpSpPr/>
        <p:nvPr/>
      </p:nvGrpSpPr>
      <p:grpSpPr>
        <a:xfrm>
          <a:off x="0" y="0"/>
          <a:ext cx="0" cy="0"/>
          <a:chOff x="0" y="0"/>
          <a:chExt cx="0" cy="0"/>
        </a:xfrm>
      </p:grpSpPr>
      <p:sp>
        <p:nvSpPr>
          <p:cNvPr id="188" name="Google Shape;188;p19"/>
          <p:cNvSpPr txBox="1"/>
          <p:nvPr/>
        </p:nvSpPr>
        <p:spPr>
          <a:xfrm>
            <a:off x="3458629" y="1025944"/>
            <a:ext cx="55176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Apprendre dans quel but ?</a:t>
            </a:r>
            <a:endParaRPr sz="3400">
              <a:latin typeface="Arial"/>
              <a:ea typeface="Arial"/>
              <a:cs typeface="Arial"/>
              <a:sym typeface="Arial"/>
            </a:endParaRPr>
          </a:p>
        </p:txBody>
      </p:sp>
      <p:sp>
        <p:nvSpPr>
          <p:cNvPr id="189" name="Google Shape;189;p19"/>
          <p:cNvSpPr/>
          <p:nvPr/>
        </p:nvSpPr>
        <p:spPr>
          <a:xfrm>
            <a:off x="622838" y="2997506"/>
            <a:ext cx="3599400" cy="219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0" name="Google Shape;190;p19"/>
          <p:cNvSpPr txBox="1"/>
          <p:nvPr/>
        </p:nvSpPr>
        <p:spPr>
          <a:xfrm>
            <a:off x="1003452" y="3790786"/>
            <a:ext cx="2839200" cy="684900"/>
          </a:xfrm>
          <a:prstGeom prst="rect">
            <a:avLst/>
          </a:prstGeom>
          <a:noFill/>
          <a:ln>
            <a:noFill/>
          </a:ln>
        </p:spPr>
        <p:txBody>
          <a:bodyPr anchorCtr="0" anchor="t" bIns="0" lIns="0" spcFirstLastPara="1" rIns="0" wrap="square" tIns="0">
            <a:spAutoFit/>
          </a:bodyPr>
          <a:lstStyle/>
          <a:p>
            <a:pPr indent="0" lvl="0" marL="4445" marR="0" rtl="0" algn="ctr">
              <a:lnSpc>
                <a:spcPct val="111904"/>
              </a:lnSpc>
              <a:spcBef>
                <a:spcPts val="0"/>
              </a:spcBef>
              <a:spcAft>
                <a:spcPts val="0"/>
              </a:spcAft>
              <a:buNone/>
            </a:pPr>
            <a:r>
              <a:rPr lang="en-US" sz="2100">
                <a:latin typeface="Arial"/>
                <a:ea typeface="Arial"/>
                <a:cs typeface="Arial"/>
                <a:sym typeface="Arial"/>
              </a:rPr>
              <a:t>Construire la pensée</a:t>
            </a:r>
            <a:endParaRPr sz="2100">
              <a:latin typeface="Arial"/>
              <a:ea typeface="Arial"/>
              <a:cs typeface="Arial"/>
              <a:sym typeface="Arial"/>
            </a:endParaRPr>
          </a:p>
          <a:p>
            <a:pPr indent="0" lvl="0" marL="0" marR="0" rtl="0" algn="ctr">
              <a:lnSpc>
                <a:spcPct val="111904"/>
              </a:lnSpc>
              <a:spcBef>
                <a:spcPts val="0"/>
              </a:spcBef>
              <a:spcAft>
                <a:spcPts val="0"/>
              </a:spcAft>
              <a:buNone/>
            </a:pPr>
            <a:r>
              <a:rPr lang="en-US" sz="2100">
                <a:latin typeface="Arial"/>
                <a:ea typeface="Arial"/>
                <a:cs typeface="Arial"/>
                <a:sym typeface="Arial"/>
              </a:rPr>
              <a:t>informatique des élèves</a:t>
            </a:r>
            <a:endParaRPr sz="2100">
              <a:latin typeface="Arial"/>
              <a:ea typeface="Arial"/>
              <a:cs typeface="Arial"/>
              <a:sym typeface="Arial"/>
            </a:endParaRPr>
          </a:p>
        </p:txBody>
      </p:sp>
      <p:sp>
        <p:nvSpPr>
          <p:cNvPr id="191" name="Google Shape;191;p19"/>
          <p:cNvSpPr txBox="1"/>
          <p:nvPr/>
        </p:nvSpPr>
        <p:spPr>
          <a:xfrm>
            <a:off x="4394200" y="2654300"/>
            <a:ext cx="69849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Cet objectif se concentre sur le </a:t>
            </a:r>
            <a:r>
              <a:rPr b="1" lang="en-US" sz="2400">
                <a:solidFill>
                  <a:schemeClr val="dk1"/>
                </a:solidFill>
              </a:rPr>
              <a:t>développement de la pensée informatique</a:t>
            </a:r>
            <a:r>
              <a:rPr lang="en-US" sz="2400">
                <a:solidFill>
                  <a:schemeClr val="dk1"/>
                </a:solidFill>
              </a:rPr>
              <a:t>, c’est-à-dire la capacité des élèves à </a:t>
            </a:r>
            <a:r>
              <a:rPr b="1" lang="en-US" sz="2400">
                <a:solidFill>
                  <a:schemeClr val="dk1"/>
                </a:solidFill>
              </a:rPr>
              <a:t>comprendre, analyser et résoudre des problèmes</a:t>
            </a:r>
            <a:r>
              <a:rPr lang="en-US" sz="2400">
                <a:solidFill>
                  <a:schemeClr val="dk1"/>
                </a:solidFill>
              </a:rPr>
              <a:t> en utilisant des méthodes propres à l'informatique et à la programmation. C'est un apprentissage essentiel dans un monde de plus en plus numérique.</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5" name="Shape 195"/>
        <p:cNvGrpSpPr/>
        <p:nvPr/>
      </p:nvGrpSpPr>
      <p:grpSpPr>
        <a:xfrm>
          <a:off x="0" y="0"/>
          <a:ext cx="0" cy="0"/>
          <a:chOff x="0" y="0"/>
          <a:chExt cx="0" cy="0"/>
        </a:xfrm>
      </p:grpSpPr>
      <p:sp>
        <p:nvSpPr>
          <p:cNvPr id="196" name="Google Shape;196;p20"/>
          <p:cNvSpPr txBox="1"/>
          <p:nvPr/>
        </p:nvSpPr>
        <p:spPr>
          <a:xfrm>
            <a:off x="3458629" y="1025944"/>
            <a:ext cx="55176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Apprendre dans quel but ?</a:t>
            </a:r>
            <a:endParaRPr sz="3400">
              <a:latin typeface="Arial"/>
              <a:ea typeface="Arial"/>
              <a:cs typeface="Arial"/>
              <a:sym typeface="Arial"/>
            </a:endParaRPr>
          </a:p>
        </p:txBody>
      </p:sp>
      <p:sp>
        <p:nvSpPr>
          <p:cNvPr id="197" name="Google Shape;197;p20"/>
          <p:cNvSpPr/>
          <p:nvPr/>
        </p:nvSpPr>
        <p:spPr>
          <a:xfrm>
            <a:off x="363758" y="2718106"/>
            <a:ext cx="3688200" cy="219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8" name="Google Shape;198;p20"/>
          <p:cNvSpPr txBox="1"/>
          <p:nvPr/>
        </p:nvSpPr>
        <p:spPr>
          <a:xfrm>
            <a:off x="552607" y="2959190"/>
            <a:ext cx="3238500" cy="1675800"/>
          </a:xfrm>
          <a:prstGeom prst="rect">
            <a:avLst/>
          </a:prstGeom>
          <a:noFill/>
          <a:ln>
            <a:noFill/>
          </a:ln>
        </p:spPr>
        <p:txBody>
          <a:bodyPr anchorCtr="0" anchor="t" bIns="0" lIns="0" spcFirstLastPara="1" rIns="0" wrap="square" tIns="0">
            <a:spAutoFit/>
          </a:bodyPr>
          <a:lstStyle/>
          <a:p>
            <a:pPr indent="-635" lvl="0" marL="12700" marR="5080" rtl="0" algn="ctr">
              <a:lnSpc>
                <a:spcPct val="86400"/>
              </a:lnSpc>
              <a:spcBef>
                <a:spcPts val="0"/>
              </a:spcBef>
              <a:spcAft>
                <a:spcPts val="0"/>
              </a:spcAft>
              <a:buNone/>
            </a:pPr>
            <a:r>
              <a:rPr lang="en-US" sz="2100"/>
              <a:t>C</a:t>
            </a:r>
            <a:r>
              <a:rPr lang="en-US" sz="2100">
                <a:latin typeface="Arial"/>
                <a:ea typeface="Arial"/>
                <a:cs typeface="Arial"/>
                <a:sym typeface="Arial"/>
              </a:rPr>
              <a:t>onstruire ou développer une pensée critique, notamment par rapport aux usages raisonnés des objets et des systèmes techniques</a:t>
            </a:r>
            <a:endParaRPr sz="2100">
              <a:latin typeface="Arial"/>
              <a:ea typeface="Arial"/>
              <a:cs typeface="Arial"/>
              <a:sym typeface="Arial"/>
            </a:endParaRPr>
          </a:p>
        </p:txBody>
      </p:sp>
      <p:sp>
        <p:nvSpPr>
          <p:cNvPr id="199" name="Google Shape;199;p20"/>
          <p:cNvSpPr txBox="1"/>
          <p:nvPr/>
        </p:nvSpPr>
        <p:spPr>
          <a:xfrm>
            <a:off x="4318000" y="2411850"/>
            <a:ext cx="72390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I</a:t>
            </a:r>
            <a:r>
              <a:rPr lang="en-US" sz="2400">
                <a:solidFill>
                  <a:schemeClr val="dk1"/>
                </a:solidFill>
              </a:rPr>
              <a:t>l s'agit d'encourager les élèves à développer une </a:t>
            </a:r>
            <a:r>
              <a:rPr b="1" lang="en-US" sz="2400">
                <a:solidFill>
                  <a:schemeClr val="dk1"/>
                </a:solidFill>
              </a:rPr>
              <a:t>pensée critique</a:t>
            </a:r>
            <a:r>
              <a:rPr lang="en-US" sz="2400">
                <a:solidFill>
                  <a:schemeClr val="dk1"/>
                </a:solidFill>
              </a:rPr>
              <a:t> vis-à-vis de la technologie et des objets techniques qu'ils utilisent. L'objectif est qu'ils puissent réfléchir aux </a:t>
            </a:r>
            <a:r>
              <a:rPr b="1" lang="en-US" sz="2400">
                <a:solidFill>
                  <a:schemeClr val="dk1"/>
                </a:solidFill>
              </a:rPr>
              <a:t>conséquences</a:t>
            </a:r>
            <a:r>
              <a:rPr lang="en-US" sz="2400">
                <a:solidFill>
                  <a:schemeClr val="dk1"/>
                </a:solidFill>
              </a:rPr>
              <a:t> de leurs usages (sociaux, environnementaux, etc.) et adopter une approche plus </a:t>
            </a:r>
            <a:r>
              <a:rPr b="1" lang="en-US" sz="2400">
                <a:solidFill>
                  <a:schemeClr val="dk1"/>
                </a:solidFill>
              </a:rPr>
              <a:t>raisonnée</a:t>
            </a:r>
            <a:r>
              <a:rPr lang="en-US" sz="2400">
                <a:solidFill>
                  <a:schemeClr val="dk1"/>
                </a:solidFill>
              </a:rPr>
              <a:t> et </a:t>
            </a:r>
            <a:r>
              <a:rPr b="1" lang="en-US" sz="2400">
                <a:solidFill>
                  <a:schemeClr val="dk1"/>
                </a:solidFill>
              </a:rPr>
              <a:t>responsable</a:t>
            </a:r>
            <a:r>
              <a:rPr lang="en-US" sz="2400">
                <a:solidFill>
                  <a:schemeClr val="dk1"/>
                </a:solidFill>
              </a:rPr>
              <a:t> des systèmes technologiques.</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3" name="Shape 203"/>
        <p:cNvGrpSpPr/>
        <p:nvPr/>
      </p:nvGrpSpPr>
      <p:grpSpPr>
        <a:xfrm>
          <a:off x="0" y="0"/>
          <a:ext cx="0" cy="0"/>
          <a:chOff x="0" y="0"/>
          <a:chExt cx="0" cy="0"/>
        </a:xfrm>
      </p:grpSpPr>
      <p:sp>
        <p:nvSpPr>
          <p:cNvPr id="204" name="Google Shape;204;p21"/>
          <p:cNvSpPr txBox="1"/>
          <p:nvPr/>
        </p:nvSpPr>
        <p:spPr>
          <a:xfrm>
            <a:off x="3458629" y="1025944"/>
            <a:ext cx="55176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Apprendre dans quel but ?</a:t>
            </a:r>
            <a:endParaRPr sz="3400">
              <a:latin typeface="Arial"/>
              <a:ea typeface="Arial"/>
              <a:cs typeface="Arial"/>
              <a:sym typeface="Arial"/>
            </a:endParaRPr>
          </a:p>
        </p:txBody>
      </p:sp>
      <p:sp>
        <p:nvSpPr>
          <p:cNvPr id="205" name="Google Shape;205;p21"/>
          <p:cNvSpPr/>
          <p:nvPr/>
        </p:nvSpPr>
        <p:spPr>
          <a:xfrm>
            <a:off x="445038" y="2611426"/>
            <a:ext cx="3657900" cy="21948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6" name="Google Shape;206;p21"/>
          <p:cNvSpPr txBox="1"/>
          <p:nvPr/>
        </p:nvSpPr>
        <p:spPr>
          <a:xfrm>
            <a:off x="647979" y="2990051"/>
            <a:ext cx="3196500" cy="1396500"/>
          </a:xfrm>
          <a:prstGeom prst="rect">
            <a:avLst/>
          </a:prstGeom>
          <a:noFill/>
          <a:ln>
            <a:noFill/>
          </a:ln>
        </p:spPr>
        <p:txBody>
          <a:bodyPr anchorCtr="0" anchor="t" bIns="0" lIns="0" spcFirstLastPara="1" rIns="0" wrap="square" tIns="0">
            <a:spAutoFit/>
          </a:bodyPr>
          <a:lstStyle/>
          <a:p>
            <a:pPr indent="-635" lvl="0" marL="12700" marR="5080" rtl="0" algn="ctr">
              <a:lnSpc>
                <a:spcPct val="86400"/>
              </a:lnSpc>
              <a:spcBef>
                <a:spcPts val="0"/>
              </a:spcBef>
              <a:spcAft>
                <a:spcPts val="0"/>
              </a:spcAft>
              <a:buNone/>
            </a:pPr>
            <a:r>
              <a:rPr lang="en-US" sz="2100"/>
              <a:t>F</a:t>
            </a:r>
            <a:r>
              <a:rPr lang="en-US" sz="2100">
                <a:latin typeface="Arial"/>
                <a:ea typeface="Arial"/>
                <a:cs typeface="Arial"/>
                <a:sym typeface="Arial"/>
              </a:rPr>
              <a:t>aire acquérir aux élèves des compétences manuelles telles que fabriquer, savoir utiliser, ou réparer un objet</a:t>
            </a:r>
            <a:endParaRPr sz="2100">
              <a:latin typeface="Arial"/>
              <a:ea typeface="Arial"/>
              <a:cs typeface="Arial"/>
              <a:sym typeface="Arial"/>
            </a:endParaRPr>
          </a:p>
        </p:txBody>
      </p:sp>
      <p:sp>
        <p:nvSpPr>
          <p:cNvPr id="207" name="Google Shape;207;p21"/>
          <p:cNvSpPr txBox="1"/>
          <p:nvPr/>
        </p:nvSpPr>
        <p:spPr>
          <a:xfrm>
            <a:off x="4241800" y="2297200"/>
            <a:ext cx="72264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Cet objectif vise à développer des </a:t>
            </a:r>
            <a:r>
              <a:rPr b="1" lang="en-US" sz="2400">
                <a:solidFill>
                  <a:schemeClr val="dk1"/>
                </a:solidFill>
              </a:rPr>
              <a:t>compétences pratiques</a:t>
            </a:r>
            <a:r>
              <a:rPr lang="en-US" sz="2400">
                <a:solidFill>
                  <a:schemeClr val="dk1"/>
                </a:solidFill>
              </a:rPr>
              <a:t>. Il s'agit d'apprendre aux élèves à </a:t>
            </a:r>
            <a:r>
              <a:rPr b="1" lang="en-US" sz="2400">
                <a:solidFill>
                  <a:schemeClr val="dk1"/>
                </a:solidFill>
              </a:rPr>
              <a:t>manipuler des outils</a:t>
            </a:r>
            <a:r>
              <a:rPr lang="en-US" sz="2400">
                <a:solidFill>
                  <a:schemeClr val="dk1"/>
                </a:solidFill>
              </a:rPr>
              <a:t>, </a:t>
            </a:r>
            <a:r>
              <a:rPr b="1" lang="en-US" sz="2400">
                <a:solidFill>
                  <a:schemeClr val="dk1"/>
                </a:solidFill>
              </a:rPr>
              <a:t>réparer des objets</a:t>
            </a:r>
            <a:r>
              <a:rPr lang="en-US" sz="2400">
                <a:solidFill>
                  <a:schemeClr val="dk1"/>
                </a:solidFill>
              </a:rPr>
              <a:t>, et </a:t>
            </a:r>
            <a:r>
              <a:rPr b="1" lang="en-US" sz="2400">
                <a:solidFill>
                  <a:schemeClr val="dk1"/>
                </a:solidFill>
              </a:rPr>
              <a:t>fabriquer</a:t>
            </a:r>
            <a:r>
              <a:rPr lang="en-US" sz="2400">
                <a:solidFill>
                  <a:schemeClr val="dk1"/>
                </a:solidFill>
              </a:rPr>
              <a:t> des systèmes techniques.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None/>
            </a:pPr>
            <a:r>
              <a:rPr lang="en-US" sz="2400">
                <a:solidFill>
                  <a:schemeClr val="dk1"/>
                </a:solidFill>
              </a:rPr>
              <a:t>Cela les rend capables d'interagir directement avec la technologie, pas seulement en théorie, mais aussi dans des tâches concrètes, manuelles et techniques.</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1" name="Shape 211"/>
        <p:cNvGrpSpPr/>
        <p:nvPr/>
      </p:nvGrpSpPr>
      <p:grpSpPr>
        <a:xfrm>
          <a:off x="0" y="0"/>
          <a:ext cx="0" cy="0"/>
          <a:chOff x="0" y="0"/>
          <a:chExt cx="0" cy="0"/>
        </a:xfrm>
      </p:grpSpPr>
      <p:sp>
        <p:nvSpPr>
          <p:cNvPr id="212" name="Google Shape;212;p22"/>
          <p:cNvSpPr txBox="1"/>
          <p:nvPr/>
        </p:nvSpPr>
        <p:spPr>
          <a:xfrm>
            <a:off x="4147677" y="585965"/>
            <a:ext cx="4515000" cy="523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Domaines et attendus</a:t>
            </a:r>
            <a:endParaRPr sz="3400">
              <a:latin typeface="Arial"/>
              <a:ea typeface="Arial"/>
              <a:cs typeface="Arial"/>
              <a:sym typeface="Arial"/>
            </a:endParaRPr>
          </a:p>
        </p:txBody>
      </p:sp>
      <p:sp>
        <p:nvSpPr>
          <p:cNvPr id="213" name="Google Shape;213;p22"/>
          <p:cNvSpPr/>
          <p:nvPr/>
        </p:nvSpPr>
        <p:spPr>
          <a:xfrm>
            <a:off x="5488804" y="3851331"/>
            <a:ext cx="1531873" cy="153187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14" name="Google Shape;214;p22"/>
          <p:cNvSpPr/>
          <p:nvPr/>
        </p:nvSpPr>
        <p:spPr>
          <a:xfrm>
            <a:off x="5595485" y="4153591"/>
            <a:ext cx="1376933" cy="96545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15" name="Google Shape;215;p22"/>
          <p:cNvSpPr/>
          <p:nvPr/>
        </p:nvSpPr>
        <p:spPr>
          <a:xfrm>
            <a:off x="5531984" y="3871651"/>
            <a:ext cx="1447800" cy="14478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16" name="Google Shape;216;p22"/>
          <p:cNvSpPr txBox="1"/>
          <p:nvPr/>
        </p:nvSpPr>
        <p:spPr>
          <a:xfrm>
            <a:off x="5751436" y="4251942"/>
            <a:ext cx="1009015" cy="688975"/>
          </a:xfrm>
          <a:prstGeom prst="rect">
            <a:avLst/>
          </a:prstGeom>
          <a:noFill/>
          <a:ln>
            <a:noFill/>
          </a:ln>
        </p:spPr>
        <p:txBody>
          <a:bodyPr anchorCtr="0" anchor="t" bIns="0" lIns="0" spcFirstLastPara="1" rIns="0" wrap="square" tIns="0">
            <a:spAutoFit/>
          </a:bodyPr>
          <a:lstStyle/>
          <a:p>
            <a:pPr indent="1905" lvl="0" marL="12065" marR="5080" rtl="0" algn="ctr">
              <a:lnSpc>
                <a:spcPct val="103529"/>
              </a:lnSpc>
              <a:spcBef>
                <a:spcPts val="0"/>
              </a:spcBef>
              <a:spcAft>
                <a:spcPts val="0"/>
              </a:spcAft>
              <a:buNone/>
            </a:pPr>
            <a:r>
              <a:rPr lang="en-US" sz="1700">
                <a:solidFill>
                  <a:srgbClr val="FFFFFF"/>
                </a:solidFill>
                <a:latin typeface="Arial"/>
                <a:ea typeface="Arial"/>
                <a:cs typeface="Arial"/>
                <a:sym typeface="Arial"/>
              </a:rPr>
              <a:t>création et innovation</a:t>
            </a:r>
            <a:endParaRPr sz="1700">
              <a:latin typeface="Arial"/>
              <a:ea typeface="Arial"/>
              <a:cs typeface="Arial"/>
              <a:sym typeface="Arial"/>
            </a:endParaRPr>
          </a:p>
        </p:txBody>
      </p:sp>
      <p:sp>
        <p:nvSpPr>
          <p:cNvPr id="217" name="Google Shape;217;p22"/>
          <p:cNvSpPr/>
          <p:nvPr/>
        </p:nvSpPr>
        <p:spPr>
          <a:xfrm>
            <a:off x="4587104" y="3383971"/>
            <a:ext cx="1064514" cy="87401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18" name="Google Shape;218;p22"/>
          <p:cNvSpPr/>
          <p:nvPr/>
        </p:nvSpPr>
        <p:spPr>
          <a:xfrm>
            <a:off x="4630030" y="3405307"/>
            <a:ext cx="980439" cy="788797"/>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19" name="Google Shape;219;p22"/>
          <p:cNvSpPr/>
          <p:nvPr/>
        </p:nvSpPr>
        <p:spPr>
          <a:xfrm>
            <a:off x="3969885" y="2936931"/>
            <a:ext cx="1458214" cy="118389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0" name="Google Shape;220;p22"/>
          <p:cNvSpPr/>
          <p:nvPr/>
        </p:nvSpPr>
        <p:spPr>
          <a:xfrm>
            <a:off x="4147685" y="3234111"/>
            <a:ext cx="1155954" cy="62255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1" name="Google Shape;221;p22"/>
          <p:cNvSpPr/>
          <p:nvPr/>
        </p:nvSpPr>
        <p:spPr>
          <a:xfrm>
            <a:off x="4013065" y="2957251"/>
            <a:ext cx="1374139" cy="1099820"/>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2" name="Google Shape;222;p22"/>
          <p:cNvSpPr txBox="1"/>
          <p:nvPr/>
        </p:nvSpPr>
        <p:spPr>
          <a:xfrm>
            <a:off x="4279379" y="3313929"/>
            <a:ext cx="845819" cy="386715"/>
          </a:xfrm>
          <a:prstGeom prst="rect">
            <a:avLst/>
          </a:prstGeom>
          <a:noFill/>
          <a:ln>
            <a:noFill/>
          </a:ln>
        </p:spPr>
        <p:txBody>
          <a:bodyPr anchorCtr="0" anchor="t" bIns="0" lIns="0" spcFirstLastPara="1" rIns="0" wrap="square" tIns="0">
            <a:spAutoFit/>
          </a:bodyPr>
          <a:lstStyle/>
          <a:p>
            <a:pPr indent="0" lvl="0" marL="38100" marR="0" rtl="0" algn="l">
              <a:lnSpc>
                <a:spcPct val="111428"/>
              </a:lnSpc>
              <a:spcBef>
                <a:spcPts val="0"/>
              </a:spcBef>
              <a:spcAft>
                <a:spcPts val="0"/>
              </a:spcAft>
              <a:buNone/>
            </a:pPr>
            <a:r>
              <a:rPr lang="en-US" sz="1400">
                <a:solidFill>
                  <a:srgbClr val="FFFFFF"/>
                </a:solidFill>
                <a:latin typeface="Arial"/>
                <a:ea typeface="Arial"/>
                <a:cs typeface="Arial"/>
                <a:sym typeface="Arial"/>
              </a:rPr>
              <a:t>usages et</a:t>
            </a:r>
            <a:endParaRPr sz="1400">
              <a:latin typeface="Arial"/>
              <a:ea typeface="Arial"/>
              <a:cs typeface="Arial"/>
              <a:sym typeface="Arial"/>
            </a:endParaRPr>
          </a:p>
          <a:p>
            <a:pPr indent="0" lvl="0" marL="12700" marR="0" rtl="0" algn="l">
              <a:lnSpc>
                <a:spcPct val="111428"/>
              </a:lnSpc>
              <a:spcBef>
                <a:spcPts val="0"/>
              </a:spcBef>
              <a:spcAft>
                <a:spcPts val="0"/>
              </a:spcAft>
              <a:buNone/>
            </a:pPr>
            <a:r>
              <a:rPr lang="en-US" sz="1400">
                <a:solidFill>
                  <a:srgbClr val="FFFFFF"/>
                </a:solidFill>
                <a:latin typeface="Arial"/>
                <a:ea typeface="Arial"/>
                <a:cs typeface="Arial"/>
                <a:sym typeface="Arial"/>
              </a:rPr>
              <a:t>interaction</a:t>
            </a:r>
            <a:endParaRPr sz="1400">
              <a:latin typeface="Arial"/>
              <a:ea typeface="Arial"/>
              <a:cs typeface="Arial"/>
              <a:sym typeface="Arial"/>
            </a:endParaRPr>
          </a:p>
        </p:txBody>
      </p:sp>
      <p:sp>
        <p:nvSpPr>
          <p:cNvPr id="223" name="Google Shape;223;p22"/>
          <p:cNvSpPr/>
          <p:nvPr/>
        </p:nvSpPr>
        <p:spPr>
          <a:xfrm>
            <a:off x="6857865" y="3383971"/>
            <a:ext cx="1064514" cy="874014"/>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4" name="Google Shape;224;p22"/>
          <p:cNvSpPr/>
          <p:nvPr/>
        </p:nvSpPr>
        <p:spPr>
          <a:xfrm>
            <a:off x="6901298" y="3405307"/>
            <a:ext cx="980440" cy="788797"/>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5" name="Google Shape;225;p22"/>
          <p:cNvSpPr/>
          <p:nvPr/>
        </p:nvSpPr>
        <p:spPr>
          <a:xfrm>
            <a:off x="7081384" y="2936931"/>
            <a:ext cx="1458214" cy="118389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6" name="Google Shape;226;p22"/>
          <p:cNvSpPr/>
          <p:nvPr/>
        </p:nvSpPr>
        <p:spPr>
          <a:xfrm>
            <a:off x="7055984" y="3234111"/>
            <a:ext cx="1506473" cy="622554"/>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7" name="Google Shape;227;p22"/>
          <p:cNvSpPr/>
          <p:nvPr/>
        </p:nvSpPr>
        <p:spPr>
          <a:xfrm>
            <a:off x="7124565" y="2957251"/>
            <a:ext cx="1374140" cy="1099820"/>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8" name="Google Shape;228;p22"/>
          <p:cNvSpPr txBox="1"/>
          <p:nvPr/>
        </p:nvSpPr>
        <p:spPr>
          <a:xfrm>
            <a:off x="7189330" y="3313929"/>
            <a:ext cx="1245235" cy="386715"/>
          </a:xfrm>
          <a:prstGeom prst="rect">
            <a:avLst/>
          </a:prstGeom>
          <a:noFill/>
          <a:ln>
            <a:noFill/>
          </a:ln>
        </p:spPr>
        <p:txBody>
          <a:bodyPr anchorCtr="0" anchor="t" bIns="0" lIns="0" spcFirstLastPara="1" rIns="0" wrap="square" tIns="0">
            <a:spAutoFit/>
          </a:bodyPr>
          <a:lstStyle/>
          <a:p>
            <a:pPr indent="0" lvl="0" marL="635" marR="0" rtl="0" algn="ctr">
              <a:lnSpc>
                <a:spcPct val="111428"/>
              </a:lnSpc>
              <a:spcBef>
                <a:spcPts val="0"/>
              </a:spcBef>
              <a:spcAft>
                <a:spcPts val="0"/>
              </a:spcAft>
              <a:buNone/>
            </a:pPr>
            <a:r>
              <a:rPr lang="en-US" sz="1400">
                <a:solidFill>
                  <a:srgbClr val="FFFFFF"/>
                </a:solidFill>
                <a:latin typeface="Arial"/>
                <a:ea typeface="Arial"/>
                <a:cs typeface="Arial"/>
                <a:sym typeface="Arial"/>
              </a:rPr>
              <a:t>structure et</a:t>
            </a:r>
            <a:endParaRPr sz="1400">
              <a:latin typeface="Arial"/>
              <a:ea typeface="Arial"/>
              <a:cs typeface="Arial"/>
              <a:sym typeface="Arial"/>
            </a:endParaRPr>
          </a:p>
          <a:p>
            <a:pPr indent="0" lvl="0" marL="0" marR="0" rtl="0" algn="ctr">
              <a:lnSpc>
                <a:spcPct val="111428"/>
              </a:lnSpc>
              <a:spcBef>
                <a:spcPts val="0"/>
              </a:spcBef>
              <a:spcAft>
                <a:spcPts val="0"/>
              </a:spcAft>
              <a:buNone/>
            </a:pPr>
            <a:r>
              <a:rPr lang="en-US" sz="1400">
                <a:solidFill>
                  <a:srgbClr val="FFFFFF"/>
                </a:solidFill>
                <a:latin typeface="Arial"/>
                <a:ea typeface="Arial"/>
                <a:cs typeface="Arial"/>
                <a:sym typeface="Arial"/>
              </a:rPr>
              <a:t>fonctionnement</a:t>
            </a:r>
            <a:endParaRPr sz="1400">
              <a:latin typeface="Arial"/>
              <a:ea typeface="Arial"/>
              <a:cs typeface="Arial"/>
              <a:sym typeface="Arial"/>
            </a:endParaRPr>
          </a:p>
        </p:txBody>
      </p:sp>
      <p:sp>
        <p:nvSpPr>
          <p:cNvPr id="229" name="Google Shape;229;p22"/>
          <p:cNvSpPr txBox="1"/>
          <p:nvPr/>
        </p:nvSpPr>
        <p:spPr>
          <a:xfrm>
            <a:off x="335144" y="1677091"/>
            <a:ext cx="1620520" cy="972819"/>
          </a:xfrm>
          <a:prstGeom prst="rect">
            <a:avLst/>
          </a:prstGeom>
          <a:solidFill>
            <a:srgbClr val="20205A"/>
          </a:solidFill>
          <a:ln>
            <a:noFill/>
          </a:ln>
        </p:spPr>
        <p:txBody>
          <a:bodyPr anchorCtr="0" anchor="t" bIns="0" lIns="0" spcFirstLastPara="1" rIns="0" wrap="square" tIns="0">
            <a:spAutoFit/>
          </a:bodyPr>
          <a:lstStyle/>
          <a:p>
            <a:pPr indent="0" lvl="0" marL="93345" marR="89535" rtl="0" algn="ctr">
              <a:lnSpc>
                <a:spcPct val="86500"/>
              </a:lnSpc>
              <a:spcBef>
                <a:spcPts val="0"/>
              </a:spcBef>
              <a:spcAft>
                <a:spcPts val="0"/>
              </a:spcAft>
              <a:buNone/>
            </a:pPr>
            <a:r>
              <a:rPr b="1" lang="en-US" sz="1200">
                <a:solidFill>
                  <a:srgbClr val="FFFFFF"/>
                </a:solidFill>
                <a:latin typeface="Arial"/>
                <a:ea typeface="Arial"/>
                <a:cs typeface="Arial"/>
                <a:sym typeface="Arial"/>
              </a:rPr>
              <a:t>Décrire les liens entre usages et évolutions technologiques des OST</a:t>
            </a:r>
            <a:endParaRPr sz="1200">
              <a:latin typeface="Arial"/>
              <a:ea typeface="Arial"/>
              <a:cs typeface="Arial"/>
              <a:sym typeface="Arial"/>
            </a:endParaRPr>
          </a:p>
        </p:txBody>
      </p:sp>
      <p:sp>
        <p:nvSpPr>
          <p:cNvPr id="230" name="Google Shape;230;p22"/>
          <p:cNvSpPr txBox="1"/>
          <p:nvPr/>
        </p:nvSpPr>
        <p:spPr>
          <a:xfrm>
            <a:off x="2115685" y="1677091"/>
            <a:ext cx="1620520" cy="972819"/>
          </a:xfrm>
          <a:prstGeom prst="rect">
            <a:avLst/>
          </a:prstGeom>
          <a:solidFill>
            <a:srgbClr val="20205A"/>
          </a:solidFill>
          <a:ln>
            <a:noFill/>
          </a:ln>
        </p:spPr>
        <p:txBody>
          <a:bodyPr anchorCtr="0" anchor="t" bIns="0" lIns="0" spcFirstLastPara="1" rIns="0" wrap="square" tIns="0">
            <a:spAutoFit/>
          </a:bodyPr>
          <a:lstStyle/>
          <a:p>
            <a:pPr indent="-1905" lvl="0" marL="48895" marR="39370" rtl="0" algn="ctr">
              <a:lnSpc>
                <a:spcPct val="86500"/>
              </a:lnSpc>
              <a:spcBef>
                <a:spcPts val="0"/>
              </a:spcBef>
              <a:spcAft>
                <a:spcPts val="0"/>
              </a:spcAft>
              <a:buNone/>
            </a:pPr>
            <a:r>
              <a:rPr b="1" lang="en-US" sz="1200">
                <a:solidFill>
                  <a:srgbClr val="FFFFFF"/>
                </a:solidFill>
                <a:latin typeface="Arial"/>
                <a:ea typeface="Arial"/>
                <a:cs typeface="Arial"/>
                <a:sym typeface="Arial"/>
              </a:rPr>
              <a:t>Décrire les interactions entre un OST, son environnement et les utilisateurs</a:t>
            </a:r>
            <a:endParaRPr sz="1200">
              <a:latin typeface="Arial"/>
              <a:ea typeface="Arial"/>
              <a:cs typeface="Arial"/>
              <a:sym typeface="Arial"/>
            </a:endParaRPr>
          </a:p>
        </p:txBody>
      </p:sp>
      <p:sp>
        <p:nvSpPr>
          <p:cNvPr id="231" name="Google Shape;231;p22"/>
          <p:cNvSpPr txBox="1"/>
          <p:nvPr/>
        </p:nvSpPr>
        <p:spPr>
          <a:xfrm>
            <a:off x="3898765" y="1677091"/>
            <a:ext cx="1617980" cy="972819"/>
          </a:xfrm>
          <a:prstGeom prst="rect">
            <a:avLst/>
          </a:prstGeom>
          <a:solidFill>
            <a:srgbClr val="20205A"/>
          </a:solidFill>
          <a:ln>
            <a:noFill/>
          </a:ln>
        </p:spPr>
        <p:txBody>
          <a:bodyPr anchorCtr="0" anchor="t" bIns="0" lIns="0" spcFirstLastPara="1" rIns="0" wrap="square" tIns="0">
            <a:spAutoFit/>
          </a:bodyPr>
          <a:lstStyle/>
          <a:p>
            <a:pPr indent="1270" lvl="0" marL="47625" marR="40640" rtl="0" algn="ctr">
              <a:lnSpc>
                <a:spcPct val="86800"/>
              </a:lnSpc>
              <a:spcBef>
                <a:spcPts val="0"/>
              </a:spcBef>
              <a:spcAft>
                <a:spcPts val="0"/>
              </a:spcAft>
              <a:buNone/>
            </a:pPr>
            <a:r>
              <a:rPr b="1" lang="en-US" sz="1200">
                <a:solidFill>
                  <a:srgbClr val="FFFFFF"/>
                </a:solidFill>
                <a:latin typeface="Arial"/>
                <a:ea typeface="Arial"/>
                <a:cs typeface="Arial"/>
                <a:sym typeface="Arial"/>
              </a:rPr>
              <a:t>Caractériser et choisir un OST selon différents critères</a:t>
            </a:r>
            <a:endParaRPr sz="1200">
              <a:latin typeface="Arial"/>
              <a:ea typeface="Arial"/>
              <a:cs typeface="Arial"/>
              <a:sym typeface="Arial"/>
            </a:endParaRPr>
          </a:p>
        </p:txBody>
      </p:sp>
      <p:sp>
        <p:nvSpPr>
          <p:cNvPr id="232" name="Google Shape;232;p22"/>
          <p:cNvSpPr/>
          <p:nvPr/>
        </p:nvSpPr>
        <p:spPr>
          <a:xfrm>
            <a:off x="6812145" y="1585639"/>
            <a:ext cx="1783333" cy="1186446"/>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33" name="Google Shape;233;p22"/>
          <p:cNvSpPr txBox="1"/>
          <p:nvPr/>
        </p:nvSpPr>
        <p:spPr>
          <a:xfrm>
            <a:off x="6935711" y="1662559"/>
            <a:ext cx="1496060" cy="968375"/>
          </a:xfrm>
          <a:prstGeom prst="rect">
            <a:avLst/>
          </a:prstGeom>
          <a:noFill/>
          <a:ln>
            <a:noFill/>
          </a:ln>
        </p:spPr>
        <p:txBody>
          <a:bodyPr anchorCtr="0" anchor="t" bIns="0" lIns="0" spcFirstLastPara="1" rIns="0" wrap="square" tIns="0">
            <a:spAutoFit/>
          </a:bodyPr>
          <a:lstStyle/>
          <a:p>
            <a:pPr indent="0" lvl="0" marL="12700" marR="5080" rtl="0" algn="ctr">
              <a:lnSpc>
                <a:spcPct val="86400"/>
              </a:lnSpc>
              <a:spcBef>
                <a:spcPts val="0"/>
              </a:spcBef>
              <a:spcAft>
                <a:spcPts val="0"/>
              </a:spcAft>
              <a:buNone/>
            </a:pPr>
            <a:r>
              <a:rPr b="1" lang="en-US" sz="1200">
                <a:latin typeface="Arial"/>
                <a:ea typeface="Arial"/>
                <a:cs typeface="Arial"/>
                <a:sym typeface="Arial"/>
              </a:rPr>
              <a:t>Décrire et caractériser l’organisation interne d’OST et ses échanges avec son environnement</a:t>
            </a:r>
            <a:endParaRPr sz="1200">
              <a:latin typeface="Arial"/>
              <a:ea typeface="Arial"/>
              <a:cs typeface="Arial"/>
              <a:sym typeface="Arial"/>
            </a:endParaRPr>
          </a:p>
        </p:txBody>
      </p:sp>
      <p:sp>
        <p:nvSpPr>
          <p:cNvPr id="234" name="Google Shape;234;p22"/>
          <p:cNvSpPr/>
          <p:nvPr/>
        </p:nvSpPr>
        <p:spPr>
          <a:xfrm>
            <a:off x="8607924" y="1636439"/>
            <a:ext cx="1732533" cy="1059446"/>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35" name="Google Shape;235;p22"/>
          <p:cNvSpPr txBox="1"/>
          <p:nvPr/>
        </p:nvSpPr>
        <p:spPr>
          <a:xfrm>
            <a:off x="8750160" y="1820036"/>
            <a:ext cx="1429385" cy="653415"/>
          </a:xfrm>
          <a:prstGeom prst="rect">
            <a:avLst/>
          </a:prstGeom>
          <a:noFill/>
          <a:ln>
            <a:noFill/>
          </a:ln>
        </p:spPr>
        <p:txBody>
          <a:bodyPr anchorCtr="0" anchor="t" bIns="0" lIns="0" spcFirstLastPara="1" rIns="0" wrap="square" tIns="0">
            <a:spAutoFit/>
          </a:bodyPr>
          <a:lstStyle/>
          <a:p>
            <a:pPr indent="1270" lvl="0" marL="12700" marR="5080" rtl="0" algn="ctr">
              <a:lnSpc>
                <a:spcPct val="86600"/>
              </a:lnSpc>
              <a:spcBef>
                <a:spcPts val="0"/>
              </a:spcBef>
              <a:spcAft>
                <a:spcPts val="0"/>
              </a:spcAft>
              <a:buNone/>
            </a:pPr>
            <a:r>
              <a:rPr b="1" lang="en-US" sz="1200">
                <a:latin typeface="Arial"/>
                <a:ea typeface="Arial"/>
                <a:cs typeface="Arial"/>
                <a:sym typeface="Arial"/>
              </a:rPr>
              <a:t>Identifier un dysfonctionnement d’un OST et y remédier</a:t>
            </a:r>
            <a:endParaRPr sz="1200">
              <a:latin typeface="Arial"/>
              <a:ea typeface="Arial"/>
              <a:cs typeface="Arial"/>
              <a:sym typeface="Arial"/>
            </a:endParaRPr>
          </a:p>
        </p:txBody>
      </p:sp>
      <p:sp>
        <p:nvSpPr>
          <p:cNvPr id="236" name="Google Shape;236;p22"/>
          <p:cNvSpPr/>
          <p:nvPr/>
        </p:nvSpPr>
        <p:spPr>
          <a:xfrm>
            <a:off x="10391005" y="1636439"/>
            <a:ext cx="1750314" cy="1059446"/>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37" name="Google Shape;237;p22"/>
          <p:cNvSpPr txBox="1"/>
          <p:nvPr/>
        </p:nvSpPr>
        <p:spPr>
          <a:xfrm>
            <a:off x="10513814" y="1741553"/>
            <a:ext cx="1468120" cy="810895"/>
          </a:xfrm>
          <a:prstGeom prst="rect">
            <a:avLst/>
          </a:prstGeom>
          <a:noFill/>
          <a:ln>
            <a:noFill/>
          </a:ln>
        </p:spPr>
        <p:txBody>
          <a:bodyPr anchorCtr="0" anchor="t" bIns="0" lIns="0" spcFirstLastPara="1" rIns="0" wrap="square" tIns="0">
            <a:spAutoFit/>
          </a:bodyPr>
          <a:lstStyle/>
          <a:p>
            <a:pPr indent="0" lvl="0" marL="12065" marR="5080" rtl="0" algn="ctr">
              <a:lnSpc>
                <a:spcPct val="86500"/>
              </a:lnSpc>
              <a:spcBef>
                <a:spcPts val="0"/>
              </a:spcBef>
              <a:spcAft>
                <a:spcPts val="0"/>
              </a:spcAft>
              <a:buNone/>
            </a:pPr>
            <a:r>
              <a:rPr b="1" lang="en-US" sz="1200">
                <a:latin typeface="Arial"/>
                <a:ea typeface="Arial"/>
                <a:cs typeface="Arial"/>
                <a:sym typeface="Arial"/>
              </a:rPr>
              <a:t>Comprendre et modifier un programme associé à une fonctionnalité d’un OST</a:t>
            </a:r>
            <a:endParaRPr sz="1200">
              <a:latin typeface="Arial"/>
              <a:ea typeface="Arial"/>
              <a:cs typeface="Arial"/>
              <a:sym typeface="Arial"/>
            </a:endParaRPr>
          </a:p>
        </p:txBody>
      </p:sp>
      <p:sp>
        <p:nvSpPr>
          <p:cNvPr id="238" name="Google Shape;238;p22"/>
          <p:cNvSpPr txBox="1"/>
          <p:nvPr/>
        </p:nvSpPr>
        <p:spPr>
          <a:xfrm>
            <a:off x="3776845" y="5548051"/>
            <a:ext cx="1617980" cy="970280"/>
          </a:xfrm>
          <a:prstGeom prst="rect">
            <a:avLst/>
          </a:prstGeom>
          <a:solidFill>
            <a:srgbClr val="005741"/>
          </a:solidFill>
          <a:ln>
            <a:noFill/>
          </a:ln>
        </p:spPr>
        <p:txBody>
          <a:bodyPr anchorCtr="0" anchor="t" bIns="0" lIns="0" spcFirstLastPara="1" rIns="0" wrap="square" tIns="0">
            <a:spAutoFit/>
          </a:bodyPr>
          <a:lstStyle/>
          <a:p>
            <a:pPr indent="0" lvl="0" marL="93980" marR="86360" rtl="0" algn="ctr">
              <a:lnSpc>
                <a:spcPct val="86800"/>
              </a:lnSpc>
              <a:spcBef>
                <a:spcPts val="0"/>
              </a:spcBef>
              <a:spcAft>
                <a:spcPts val="0"/>
              </a:spcAft>
              <a:buNone/>
            </a:pPr>
            <a:r>
              <a:rPr b="1" lang="en-US" sz="1200">
                <a:solidFill>
                  <a:srgbClr val="FFFFFF"/>
                </a:solidFill>
                <a:latin typeface="Arial"/>
                <a:ea typeface="Arial"/>
                <a:cs typeface="Arial"/>
                <a:sym typeface="Arial"/>
              </a:rPr>
              <a:t>Imaginer, concevoir et réaliser une ou des solutions</a:t>
            </a:r>
            <a:endParaRPr sz="1200">
              <a:latin typeface="Arial"/>
              <a:ea typeface="Arial"/>
              <a:cs typeface="Arial"/>
              <a:sym typeface="Arial"/>
            </a:endParaRPr>
          </a:p>
        </p:txBody>
      </p:sp>
      <p:sp>
        <p:nvSpPr>
          <p:cNvPr id="239" name="Google Shape;239;p22"/>
          <p:cNvSpPr txBox="1"/>
          <p:nvPr/>
        </p:nvSpPr>
        <p:spPr>
          <a:xfrm>
            <a:off x="5557384" y="5548051"/>
            <a:ext cx="1620520" cy="970280"/>
          </a:xfrm>
          <a:prstGeom prst="rect">
            <a:avLst/>
          </a:prstGeom>
          <a:solidFill>
            <a:srgbClr val="005741"/>
          </a:solidFill>
          <a:ln>
            <a:noFill/>
          </a:ln>
        </p:spPr>
        <p:txBody>
          <a:bodyPr anchorCtr="0" anchor="t" bIns="0" lIns="0" spcFirstLastPara="1" rIns="0" wrap="square" tIns="0">
            <a:spAutoFit/>
          </a:bodyPr>
          <a:lstStyle/>
          <a:p>
            <a:pPr indent="0" lvl="0" marL="71755" marR="62865" rtl="0" algn="ctr">
              <a:lnSpc>
                <a:spcPct val="86500"/>
              </a:lnSpc>
              <a:spcBef>
                <a:spcPts val="0"/>
              </a:spcBef>
              <a:spcAft>
                <a:spcPts val="0"/>
              </a:spcAft>
              <a:buNone/>
            </a:pPr>
            <a:r>
              <a:rPr b="1" lang="en-US" sz="1200">
                <a:solidFill>
                  <a:srgbClr val="FFFFFF"/>
                </a:solidFill>
                <a:latin typeface="Arial"/>
                <a:ea typeface="Arial"/>
                <a:cs typeface="Arial"/>
                <a:sym typeface="Arial"/>
              </a:rPr>
              <a:t>Valider les solutions techniques par des simulations ou par des protocoles de tests</a:t>
            </a:r>
            <a:endParaRPr sz="1200">
              <a:latin typeface="Arial"/>
              <a:ea typeface="Arial"/>
              <a:cs typeface="Arial"/>
              <a:sym typeface="Arial"/>
            </a:endParaRPr>
          </a:p>
        </p:txBody>
      </p:sp>
      <p:sp>
        <p:nvSpPr>
          <p:cNvPr id="240" name="Google Shape;240;p22"/>
          <p:cNvSpPr txBox="1"/>
          <p:nvPr/>
        </p:nvSpPr>
        <p:spPr>
          <a:xfrm>
            <a:off x="7337924" y="5548051"/>
            <a:ext cx="1620520" cy="970280"/>
          </a:xfrm>
          <a:prstGeom prst="rect">
            <a:avLst/>
          </a:prstGeom>
          <a:solidFill>
            <a:srgbClr val="005741"/>
          </a:solidFill>
          <a:ln>
            <a:noFill/>
          </a:ln>
        </p:spPr>
        <p:txBody>
          <a:bodyPr anchorCtr="0" anchor="t" bIns="0" lIns="0" spcFirstLastPara="1" rIns="0" wrap="square" tIns="0">
            <a:spAutoFit/>
          </a:bodyPr>
          <a:lstStyle/>
          <a:p>
            <a:pPr indent="101600" lvl="0" marL="73025" marR="61594" rtl="0" algn="just">
              <a:lnSpc>
                <a:spcPct val="86800"/>
              </a:lnSpc>
              <a:spcBef>
                <a:spcPts val="0"/>
              </a:spcBef>
              <a:spcAft>
                <a:spcPts val="0"/>
              </a:spcAft>
              <a:buNone/>
            </a:pPr>
            <a:r>
              <a:rPr b="1" lang="en-US" sz="1200">
                <a:solidFill>
                  <a:srgbClr val="FFFFFF"/>
                </a:solidFill>
                <a:latin typeface="Arial"/>
                <a:ea typeface="Arial"/>
                <a:cs typeface="Arial"/>
                <a:sym typeface="Arial"/>
              </a:rPr>
              <a:t>Concevoir, écrire, tester et mettre au point un programme</a:t>
            </a:r>
            <a:endParaRPr sz="1200">
              <a:latin typeface="Arial"/>
              <a:ea typeface="Arial"/>
              <a:cs typeface="Arial"/>
              <a:sym typeface="Arial"/>
            </a:endParaRPr>
          </a:p>
        </p:txBody>
      </p:sp>
      <p:sp>
        <p:nvSpPr>
          <p:cNvPr id="241" name="Google Shape;241;p22"/>
          <p:cNvSpPr txBox="1"/>
          <p:nvPr/>
        </p:nvSpPr>
        <p:spPr>
          <a:xfrm>
            <a:off x="8760396" y="4335404"/>
            <a:ext cx="3041700" cy="738900"/>
          </a:xfrm>
          <a:prstGeom prst="rect">
            <a:avLst/>
          </a:prstGeom>
          <a:noFill/>
          <a:ln>
            <a:noFill/>
          </a:ln>
        </p:spPr>
        <p:txBody>
          <a:bodyPr anchorCtr="0" anchor="t" bIns="0" lIns="0" spcFirstLastPara="1" rIns="0" wrap="square" tIns="0">
            <a:spAutoFit/>
          </a:bodyPr>
          <a:lstStyle/>
          <a:p>
            <a:pPr indent="0" lvl="0" marL="12700" marR="5080" rtl="0" algn="l">
              <a:lnSpc>
                <a:spcPct val="100000"/>
              </a:lnSpc>
              <a:spcBef>
                <a:spcPts val="0"/>
              </a:spcBef>
              <a:spcAft>
                <a:spcPts val="0"/>
              </a:spcAft>
              <a:buNone/>
            </a:pPr>
            <a:r>
              <a:rPr lang="en-US" sz="2400">
                <a:latin typeface="Arial"/>
                <a:ea typeface="Arial"/>
                <a:cs typeface="Arial"/>
                <a:sym typeface="Arial"/>
              </a:rPr>
              <a:t>« </a:t>
            </a:r>
            <a:r>
              <a:rPr lang="en-US" sz="2400"/>
              <a:t>A</a:t>
            </a:r>
            <a:r>
              <a:rPr lang="en-US" sz="2400">
                <a:latin typeface="Arial"/>
                <a:ea typeface="Arial"/>
                <a:cs typeface="Arial"/>
                <a:sym typeface="Arial"/>
              </a:rPr>
              <a:t>pprendre à faire et faire pour apprendre »</a:t>
            </a:r>
            <a:endParaRPr sz="24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p23"/>
          <p:cNvSpPr/>
          <p:nvPr/>
        </p:nvSpPr>
        <p:spPr>
          <a:xfrm>
            <a:off x="1757054" y="3366338"/>
            <a:ext cx="2865373" cy="119914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47" name="Google Shape;247;p23"/>
          <p:cNvSpPr txBox="1"/>
          <p:nvPr/>
        </p:nvSpPr>
        <p:spPr>
          <a:xfrm>
            <a:off x="2635897" y="1462405"/>
            <a:ext cx="5907405" cy="457834"/>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Les repères de progressivité</a:t>
            </a:r>
            <a:endParaRPr sz="3400">
              <a:latin typeface="Arial"/>
              <a:ea typeface="Arial"/>
              <a:cs typeface="Arial"/>
              <a:sym typeface="Arial"/>
            </a:endParaRPr>
          </a:p>
        </p:txBody>
      </p:sp>
      <p:sp>
        <p:nvSpPr>
          <p:cNvPr id="248" name="Google Shape;248;p23"/>
          <p:cNvSpPr/>
          <p:nvPr/>
        </p:nvSpPr>
        <p:spPr>
          <a:xfrm>
            <a:off x="6734440" y="3346960"/>
            <a:ext cx="2865373" cy="1199146"/>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49" name="Google Shape;249;p23"/>
          <p:cNvSpPr txBox="1"/>
          <p:nvPr/>
        </p:nvSpPr>
        <p:spPr>
          <a:xfrm>
            <a:off x="2379784" y="3513670"/>
            <a:ext cx="1592580" cy="859155"/>
          </a:xfrm>
          <a:prstGeom prst="rect">
            <a:avLst/>
          </a:prstGeom>
          <a:noFill/>
          <a:ln>
            <a:noFill/>
          </a:ln>
        </p:spPr>
        <p:txBody>
          <a:bodyPr anchorCtr="0" anchor="t" bIns="0" lIns="0" spcFirstLastPara="1" rIns="0" wrap="square" tIns="0">
            <a:spAutoFit/>
          </a:bodyPr>
          <a:lstStyle/>
          <a:p>
            <a:pPr indent="0" lvl="0" marL="12700" marR="5080" rtl="0" algn="ctr">
              <a:lnSpc>
                <a:spcPct val="86100"/>
              </a:lnSpc>
              <a:spcBef>
                <a:spcPts val="0"/>
              </a:spcBef>
              <a:spcAft>
                <a:spcPts val="0"/>
              </a:spcAft>
              <a:buNone/>
            </a:pPr>
            <a:r>
              <a:rPr lang="en-US" sz="1600">
                <a:latin typeface="Arial"/>
                <a:ea typeface="Arial"/>
                <a:cs typeface="Arial"/>
                <a:sym typeface="Arial"/>
              </a:rPr>
              <a:t>Identifier les données utilisées et produites par le programme</a:t>
            </a:r>
            <a:endParaRPr sz="1600">
              <a:latin typeface="Arial"/>
              <a:ea typeface="Arial"/>
              <a:cs typeface="Arial"/>
              <a:sym typeface="Arial"/>
            </a:endParaRPr>
          </a:p>
        </p:txBody>
      </p:sp>
      <p:sp>
        <p:nvSpPr>
          <p:cNvPr id="250" name="Google Shape;250;p23"/>
          <p:cNvSpPr/>
          <p:nvPr/>
        </p:nvSpPr>
        <p:spPr>
          <a:xfrm>
            <a:off x="4219121" y="3362335"/>
            <a:ext cx="2865373" cy="1199146"/>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1" name="Google Shape;251;p23"/>
          <p:cNvSpPr txBox="1"/>
          <p:nvPr/>
        </p:nvSpPr>
        <p:spPr>
          <a:xfrm>
            <a:off x="4985575" y="3513670"/>
            <a:ext cx="1379220" cy="859155"/>
          </a:xfrm>
          <a:prstGeom prst="rect">
            <a:avLst/>
          </a:prstGeom>
          <a:noFill/>
          <a:ln>
            <a:noFill/>
          </a:ln>
        </p:spPr>
        <p:txBody>
          <a:bodyPr anchorCtr="0" anchor="t" bIns="0" lIns="0" spcFirstLastPara="1" rIns="0" wrap="square" tIns="0">
            <a:spAutoFit/>
          </a:bodyPr>
          <a:lstStyle/>
          <a:p>
            <a:pPr indent="0" lvl="0" marL="12700" marR="5080" rtl="0" algn="ctr">
              <a:lnSpc>
                <a:spcPct val="86100"/>
              </a:lnSpc>
              <a:spcBef>
                <a:spcPts val="0"/>
              </a:spcBef>
              <a:spcAft>
                <a:spcPts val="0"/>
              </a:spcAft>
              <a:buNone/>
            </a:pPr>
            <a:r>
              <a:rPr lang="en-US" sz="1600">
                <a:latin typeface="Arial"/>
                <a:ea typeface="Arial"/>
                <a:cs typeface="Arial"/>
                <a:sym typeface="Arial"/>
              </a:rPr>
              <a:t>Comprendre et traduire en un algorithme le programme</a:t>
            </a:r>
            <a:endParaRPr sz="1600">
              <a:latin typeface="Arial"/>
              <a:ea typeface="Arial"/>
              <a:cs typeface="Arial"/>
              <a:sym typeface="Arial"/>
            </a:endParaRPr>
          </a:p>
        </p:txBody>
      </p:sp>
      <p:sp>
        <p:nvSpPr>
          <p:cNvPr id="252" name="Google Shape;252;p23"/>
          <p:cNvSpPr txBox="1"/>
          <p:nvPr/>
        </p:nvSpPr>
        <p:spPr>
          <a:xfrm>
            <a:off x="7428420" y="3618442"/>
            <a:ext cx="1496060" cy="648335"/>
          </a:xfrm>
          <a:prstGeom prst="rect">
            <a:avLst/>
          </a:prstGeom>
          <a:noFill/>
          <a:ln>
            <a:noFill/>
          </a:ln>
        </p:spPr>
        <p:txBody>
          <a:bodyPr anchorCtr="0" anchor="t" bIns="0" lIns="0" spcFirstLastPara="1" rIns="0" wrap="square" tIns="0">
            <a:spAutoFit/>
          </a:bodyPr>
          <a:lstStyle/>
          <a:p>
            <a:pPr indent="-5080" lvl="0" marL="12700" marR="5080" rtl="0" algn="ctr">
              <a:lnSpc>
                <a:spcPct val="86000"/>
              </a:lnSpc>
              <a:spcBef>
                <a:spcPts val="0"/>
              </a:spcBef>
              <a:spcAft>
                <a:spcPts val="0"/>
              </a:spcAft>
              <a:buNone/>
            </a:pPr>
            <a:r>
              <a:rPr lang="en-US" sz="1600">
                <a:latin typeface="Arial"/>
                <a:ea typeface="Arial"/>
                <a:cs typeface="Arial"/>
                <a:sym typeface="Arial"/>
              </a:rPr>
              <a:t>Modifier les paramètres d’un programme</a:t>
            </a:r>
            <a:endParaRPr sz="1600">
              <a:latin typeface="Arial"/>
              <a:ea typeface="Arial"/>
              <a:cs typeface="Arial"/>
              <a:sym typeface="Arial"/>
            </a:endParaRPr>
          </a:p>
        </p:txBody>
      </p:sp>
      <p:sp>
        <p:nvSpPr>
          <p:cNvPr id="253" name="Google Shape;253;p23"/>
          <p:cNvSpPr/>
          <p:nvPr/>
        </p:nvSpPr>
        <p:spPr>
          <a:xfrm>
            <a:off x="2824662" y="2569867"/>
            <a:ext cx="5603494" cy="604773"/>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4" name="Google Shape;254;p23"/>
          <p:cNvSpPr/>
          <p:nvPr/>
        </p:nvSpPr>
        <p:spPr>
          <a:xfrm>
            <a:off x="2761162" y="2554627"/>
            <a:ext cx="5725500" cy="724200"/>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5" name="Google Shape;255;p23"/>
          <p:cNvSpPr/>
          <p:nvPr/>
        </p:nvSpPr>
        <p:spPr>
          <a:xfrm>
            <a:off x="2872922" y="2595267"/>
            <a:ext cx="5509200" cy="510600"/>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6" name="Google Shape;256;p23"/>
          <p:cNvSpPr/>
          <p:nvPr/>
        </p:nvSpPr>
        <p:spPr>
          <a:xfrm>
            <a:off x="2872922" y="2595267"/>
            <a:ext cx="5509259" cy="510539"/>
          </a:xfrm>
          <a:custGeom>
            <a:rect b="b" l="l" r="r" t="t"/>
            <a:pathLst>
              <a:path extrusionOk="0" h="510539" w="5509259">
                <a:moveTo>
                  <a:pt x="0" y="85089"/>
                </a:moveTo>
                <a:lnTo>
                  <a:pt x="10530" y="44057"/>
                </a:lnTo>
                <a:lnTo>
                  <a:pt x="38415" y="13934"/>
                </a:lnTo>
                <a:lnTo>
                  <a:pt x="78090" y="283"/>
                </a:lnTo>
                <a:lnTo>
                  <a:pt x="5424170" y="0"/>
                </a:lnTo>
                <a:lnTo>
                  <a:pt x="5438716" y="1238"/>
                </a:lnTo>
                <a:lnTo>
                  <a:pt x="5476730" y="18172"/>
                </a:lnTo>
                <a:lnTo>
                  <a:pt x="5501980" y="50604"/>
                </a:lnTo>
                <a:lnTo>
                  <a:pt x="5509260" y="425449"/>
                </a:lnTo>
                <a:lnTo>
                  <a:pt x="5508021" y="439996"/>
                </a:lnTo>
                <a:lnTo>
                  <a:pt x="5491087" y="478010"/>
                </a:lnTo>
                <a:lnTo>
                  <a:pt x="5458655" y="503260"/>
                </a:lnTo>
                <a:lnTo>
                  <a:pt x="85090" y="510539"/>
                </a:lnTo>
                <a:lnTo>
                  <a:pt x="70543" y="509301"/>
                </a:lnTo>
                <a:lnTo>
                  <a:pt x="32529" y="492367"/>
                </a:lnTo>
                <a:lnTo>
                  <a:pt x="7279" y="459935"/>
                </a:lnTo>
                <a:lnTo>
                  <a:pt x="0" y="85089"/>
                </a:lnTo>
                <a:close/>
              </a:path>
            </a:pathLst>
          </a:custGeom>
          <a:noFill/>
          <a:ln cap="flat" cmpd="sng" w="10150">
            <a:solidFill>
              <a:srgbClr val="1F1F58"/>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57" name="Google Shape;257;p23"/>
          <p:cNvSpPr txBox="1"/>
          <p:nvPr/>
        </p:nvSpPr>
        <p:spPr>
          <a:xfrm>
            <a:off x="4365815" y="4612696"/>
            <a:ext cx="2181860" cy="82296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400">
                <a:latin typeface="Arial"/>
                <a:ea typeface="Arial"/>
                <a:cs typeface="Arial"/>
                <a:sym typeface="Arial"/>
              </a:rPr>
              <a:t>Compréhension</a:t>
            </a:r>
            <a:endParaRPr sz="2400">
              <a:latin typeface="Arial"/>
              <a:ea typeface="Arial"/>
              <a:cs typeface="Arial"/>
              <a:sym typeface="Arial"/>
            </a:endParaRPr>
          </a:p>
          <a:p>
            <a:pPr indent="0" lvl="0" marL="408940" marR="0" rtl="0" algn="l">
              <a:lnSpc>
                <a:spcPct val="100000"/>
              </a:lnSpc>
              <a:spcBef>
                <a:spcPts val="994"/>
              </a:spcBef>
              <a:spcAft>
                <a:spcPts val="0"/>
              </a:spcAft>
              <a:buNone/>
            </a:pPr>
            <a:r>
              <a:rPr lang="en-US" sz="2400">
                <a:latin typeface="Arial"/>
                <a:ea typeface="Arial"/>
                <a:cs typeface="Arial"/>
                <a:sym typeface="Arial"/>
              </a:rPr>
              <a:t>Niveau 5</a:t>
            </a:r>
            <a:r>
              <a:rPr baseline="30000" lang="en-US" sz="2400">
                <a:latin typeface="Arial"/>
                <a:ea typeface="Arial"/>
                <a:cs typeface="Arial"/>
                <a:sym typeface="Arial"/>
              </a:rPr>
              <a:t>ème</a:t>
            </a:r>
            <a:endParaRPr baseline="30000" sz="2400">
              <a:latin typeface="Arial"/>
              <a:ea typeface="Arial"/>
              <a:cs typeface="Arial"/>
              <a:sym typeface="Arial"/>
            </a:endParaRPr>
          </a:p>
        </p:txBody>
      </p:sp>
      <p:sp>
        <p:nvSpPr>
          <p:cNvPr id="258" name="Google Shape;258;p23"/>
          <p:cNvSpPr txBox="1"/>
          <p:nvPr/>
        </p:nvSpPr>
        <p:spPr>
          <a:xfrm>
            <a:off x="1979739" y="4612696"/>
            <a:ext cx="1961514" cy="33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400">
                <a:latin typeface="Arial"/>
                <a:ea typeface="Arial"/>
                <a:cs typeface="Arial"/>
                <a:sym typeface="Arial"/>
              </a:rPr>
              <a:t>Connaissance</a:t>
            </a:r>
            <a:endParaRPr sz="2400">
              <a:latin typeface="Arial"/>
              <a:ea typeface="Arial"/>
              <a:cs typeface="Arial"/>
              <a:sym typeface="Arial"/>
            </a:endParaRPr>
          </a:p>
        </p:txBody>
      </p:sp>
      <p:sp>
        <p:nvSpPr>
          <p:cNvPr id="259" name="Google Shape;259;p23"/>
          <p:cNvSpPr txBox="1"/>
          <p:nvPr/>
        </p:nvSpPr>
        <p:spPr>
          <a:xfrm>
            <a:off x="7180516" y="4612696"/>
            <a:ext cx="1520825" cy="33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2400">
                <a:latin typeface="Arial"/>
                <a:ea typeface="Arial"/>
                <a:cs typeface="Arial"/>
                <a:sym typeface="Arial"/>
              </a:rPr>
              <a:t>Application</a:t>
            </a:r>
            <a:endParaRPr sz="24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3" name="Shape 263"/>
        <p:cNvGrpSpPr/>
        <p:nvPr/>
      </p:nvGrpSpPr>
      <p:grpSpPr>
        <a:xfrm>
          <a:off x="0" y="0"/>
          <a:ext cx="0" cy="0"/>
          <a:chOff x="0" y="0"/>
          <a:chExt cx="0" cy="0"/>
        </a:xfrm>
      </p:grpSpPr>
      <p:sp>
        <p:nvSpPr>
          <p:cNvPr id="264" name="Google Shape;264;p24"/>
          <p:cNvSpPr txBox="1"/>
          <p:nvPr>
            <p:ph type="title"/>
          </p:nvPr>
        </p:nvSpPr>
        <p:spPr>
          <a:xfrm>
            <a:off x="0" y="393700"/>
            <a:ext cx="12123000" cy="822600"/>
          </a:xfrm>
          <a:prstGeom prst="rect">
            <a:avLst/>
          </a:prstGeom>
          <a:noFill/>
          <a:ln>
            <a:noFill/>
          </a:ln>
        </p:spPr>
        <p:txBody>
          <a:bodyPr anchorCtr="0" anchor="t" bIns="0" lIns="0" spcFirstLastPara="1" rIns="0" wrap="square" tIns="296200">
            <a:spAutoFit/>
          </a:bodyPr>
          <a:lstStyle/>
          <a:p>
            <a:pPr indent="0" lvl="0" marL="0" rtl="0" algn="ctr">
              <a:lnSpc>
                <a:spcPct val="100000"/>
              </a:lnSpc>
              <a:spcBef>
                <a:spcPts val="0"/>
              </a:spcBef>
              <a:spcAft>
                <a:spcPts val="0"/>
              </a:spcAft>
              <a:buNone/>
            </a:pPr>
            <a:r>
              <a:rPr lang="en-US"/>
              <a:t>Attendus et repères de progressivité</a:t>
            </a:r>
            <a:endParaRPr/>
          </a:p>
        </p:txBody>
      </p:sp>
      <p:sp>
        <p:nvSpPr>
          <p:cNvPr id="265" name="Google Shape;265;p24"/>
          <p:cNvSpPr/>
          <p:nvPr/>
        </p:nvSpPr>
        <p:spPr>
          <a:xfrm>
            <a:off x="511725" y="2954026"/>
            <a:ext cx="4473300" cy="38025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6" name="Google Shape;266;p24"/>
          <p:cNvSpPr txBox="1"/>
          <p:nvPr/>
        </p:nvSpPr>
        <p:spPr>
          <a:xfrm>
            <a:off x="706669" y="3164197"/>
            <a:ext cx="3172500" cy="35715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aseline="-25000" lang="en-US" sz="3300">
                <a:latin typeface="Arial"/>
                <a:ea typeface="Arial"/>
                <a:cs typeface="Arial"/>
                <a:sym typeface="Arial"/>
              </a:rPr>
              <a:t>5</a:t>
            </a:r>
            <a:r>
              <a:rPr lang="en-US" sz="1450">
                <a:latin typeface="Arial"/>
                <a:ea typeface="Arial"/>
                <a:cs typeface="Arial"/>
                <a:sym typeface="Arial"/>
              </a:rPr>
              <a:t>ème</a:t>
            </a:r>
            <a:endParaRPr sz="1450">
              <a:latin typeface="Arial"/>
              <a:ea typeface="Arial"/>
              <a:cs typeface="Arial"/>
              <a:sym typeface="Arial"/>
            </a:endParaRPr>
          </a:p>
          <a:p>
            <a:pPr indent="-172720" lvl="0" marL="185420" marR="629920" rtl="0" algn="l">
              <a:lnSpc>
                <a:spcPct val="103529"/>
              </a:lnSpc>
              <a:spcBef>
                <a:spcPts val="1550"/>
              </a:spcBef>
              <a:spcAft>
                <a:spcPts val="0"/>
              </a:spcAft>
              <a:buSzPts val="1700"/>
              <a:buFont typeface="Arial"/>
              <a:buChar char="•"/>
            </a:pPr>
            <a:r>
              <a:rPr lang="en-US" sz="1700">
                <a:latin typeface="Arial"/>
                <a:ea typeface="Arial"/>
                <a:cs typeface="Arial"/>
                <a:sym typeface="Arial"/>
              </a:rPr>
              <a:t>Associer des solutions techniques à une ou des fonctions techniques</a:t>
            </a:r>
            <a:endParaRPr sz="1700">
              <a:latin typeface="Arial"/>
              <a:ea typeface="Arial"/>
              <a:cs typeface="Arial"/>
              <a:sym typeface="Arial"/>
            </a:endParaRPr>
          </a:p>
          <a:p>
            <a:pPr indent="-172720" lvl="0" marL="185420" marR="5080" rtl="0" algn="l">
              <a:lnSpc>
                <a:spcPct val="86300"/>
              </a:lnSpc>
              <a:spcBef>
                <a:spcPts val="285"/>
              </a:spcBef>
              <a:spcAft>
                <a:spcPts val="0"/>
              </a:spcAft>
              <a:buSzPts val="1700"/>
              <a:buFont typeface="Arial"/>
              <a:buChar char="•"/>
            </a:pPr>
            <a:r>
              <a:rPr lang="en-US" sz="1700">
                <a:latin typeface="Arial"/>
                <a:ea typeface="Arial"/>
                <a:cs typeface="Arial"/>
                <a:sym typeface="Arial"/>
              </a:rPr>
              <a:t>Identifier des constituants de la chaîne d’énergie d’un objet technique (l’organisation de la chaîne d’énergie étant fournie)</a:t>
            </a:r>
            <a:endParaRPr sz="1700">
              <a:latin typeface="Arial"/>
              <a:ea typeface="Arial"/>
              <a:cs typeface="Arial"/>
              <a:sym typeface="Arial"/>
            </a:endParaRPr>
          </a:p>
          <a:p>
            <a:pPr indent="-172720" lvl="0" marL="185420" marR="7620" rtl="0" algn="l">
              <a:lnSpc>
                <a:spcPct val="103529"/>
              </a:lnSpc>
              <a:spcBef>
                <a:spcPts val="295"/>
              </a:spcBef>
              <a:spcAft>
                <a:spcPts val="0"/>
              </a:spcAft>
              <a:buSzPts val="1700"/>
              <a:buFont typeface="Arial"/>
              <a:buChar char="•"/>
            </a:pPr>
            <a:r>
              <a:rPr lang="en-US" sz="1700">
                <a:latin typeface="Arial"/>
                <a:ea typeface="Arial"/>
                <a:cs typeface="Arial"/>
                <a:sym typeface="Arial"/>
              </a:rPr>
              <a:t>Indiquer la nature des énergies en entrée et en sortie des constituants de la chaîne d’énergie</a:t>
            </a:r>
            <a:endParaRPr sz="1700">
              <a:latin typeface="Arial"/>
              <a:ea typeface="Arial"/>
              <a:cs typeface="Arial"/>
              <a:sym typeface="Arial"/>
            </a:endParaRPr>
          </a:p>
        </p:txBody>
      </p:sp>
      <p:sp>
        <p:nvSpPr>
          <p:cNvPr id="267" name="Google Shape;267;p24"/>
          <p:cNvSpPr/>
          <p:nvPr/>
        </p:nvSpPr>
        <p:spPr>
          <a:xfrm>
            <a:off x="4019475" y="2954025"/>
            <a:ext cx="4465500" cy="3802500"/>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68" name="Google Shape;268;p24"/>
          <p:cNvSpPr txBox="1"/>
          <p:nvPr/>
        </p:nvSpPr>
        <p:spPr>
          <a:xfrm>
            <a:off x="5148984" y="3448897"/>
            <a:ext cx="2370600" cy="30021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aseline="-25000" lang="en-US" sz="3300">
                <a:latin typeface="Arial"/>
                <a:ea typeface="Arial"/>
                <a:cs typeface="Arial"/>
                <a:sym typeface="Arial"/>
              </a:rPr>
              <a:t>4</a:t>
            </a:r>
            <a:r>
              <a:rPr lang="en-US" sz="1450">
                <a:latin typeface="Arial"/>
                <a:ea typeface="Arial"/>
                <a:cs typeface="Arial"/>
                <a:sym typeface="Arial"/>
              </a:rPr>
              <a:t>ème</a:t>
            </a:r>
            <a:endParaRPr sz="1450">
              <a:latin typeface="Arial"/>
              <a:ea typeface="Arial"/>
              <a:cs typeface="Arial"/>
              <a:sym typeface="Arial"/>
            </a:endParaRPr>
          </a:p>
          <a:p>
            <a:pPr indent="-172720" lvl="0" marL="185420" marR="5080" rtl="0" algn="l">
              <a:lnSpc>
                <a:spcPct val="86300"/>
              </a:lnSpc>
              <a:spcBef>
                <a:spcPts val="1540"/>
              </a:spcBef>
              <a:spcAft>
                <a:spcPts val="0"/>
              </a:spcAft>
              <a:buSzPts val="1700"/>
              <a:buFont typeface="Arial"/>
              <a:buChar char="•"/>
            </a:pPr>
            <a:r>
              <a:rPr lang="en-US" sz="1700">
                <a:latin typeface="Arial"/>
                <a:ea typeface="Arial"/>
                <a:cs typeface="Arial"/>
                <a:sym typeface="Arial"/>
              </a:rPr>
              <a:t>Identifier les constituants d’une chaîne d’énergie et les associer à leurs fonctions</a:t>
            </a:r>
            <a:endParaRPr sz="1700">
              <a:latin typeface="Arial"/>
              <a:ea typeface="Arial"/>
              <a:cs typeface="Arial"/>
              <a:sym typeface="Arial"/>
            </a:endParaRPr>
          </a:p>
          <a:p>
            <a:pPr indent="-172720" lvl="0" marL="185420" marR="233679" rtl="0" algn="l">
              <a:lnSpc>
                <a:spcPct val="86300"/>
              </a:lnSpc>
              <a:spcBef>
                <a:spcPts val="300"/>
              </a:spcBef>
              <a:spcAft>
                <a:spcPts val="0"/>
              </a:spcAft>
              <a:buSzPts val="1700"/>
              <a:buFont typeface="Arial"/>
              <a:buChar char="•"/>
            </a:pPr>
            <a:r>
              <a:rPr lang="en-US" sz="1700">
                <a:latin typeface="Arial"/>
                <a:ea typeface="Arial"/>
                <a:cs typeface="Arial"/>
                <a:sym typeface="Arial"/>
              </a:rPr>
              <a:t>Repérer les transformations d’énergie et les flux d’énergie au sein de l’OST</a:t>
            </a:r>
            <a:endParaRPr sz="1700">
              <a:latin typeface="Arial"/>
              <a:ea typeface="Arial"/>
              <a:cs typeface="Arial"/>
              <a:sym typeface="Arial"/>
            </a:endParaRPr>
          </a:p>
        </p:txBody>
      </p:sp>
      <p:sp>
        <p:nvSpPr>
          <p:cNvPr id="269" name="Google Shape;269;p24"/>
          <p:cNvSpPr/>
          <p:nvPr/>
        </p:nvSpPr>
        <p:spPr>
          <a:xfrm>
            <a:off x="7519575" y="2954026"/>
            <a:ext cx="4465500" cy="380250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70" name="Google Shape;270;p24"/>
          <p:cNvSpPr txBox="1"/>
          <p:nvPr/>
        </p:nvSpPr>
        <p:spPr>
          <a:xfrm>
            <a:off x="8942619" y="4100172"/>
            <a:ext cx="2405400" cy="151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aseline="-25000" lang="en-US" sz="3300">
                <a:latin typeface="Arial"/>
                <a:ea typeface="Arial"/>
                <a:cs typeface="Arial"/>
                <a:sym typeface="Arial"/>
              </a:rPr>
              <a:t>3</a:t>
            </a:r>
            <a:r>
              <a:rPr lang="en-US" sz="1450">
                <a:latin typeface="Arial"/>
                <a:ea typeface="Arial"/>
                <a:cs typeface="Arial"/>
                <a:sym typeface="Arial"/>
              </a:rPr>
              <a:t>ème</a:t>
            </a:r>
            <a:endParaRPr sz="1450">
              <a:latin typeface="Arial"/>
              <a:ea typeface="Arial"/>
              <a:cs typeface="Arial"/>
              <a:sym typeface="Arial"/>
            </a:endParaRPr>
          </a:p>
          <a:p>
            <a:pPr indent="-172720" lvl="0" marL="185420" marR="5080" rtl="0" algn="l">
              <a:lnSpc>
                <a:spcPct val="103529"/>
              </a:lnSpc>
              <a:spcBef>
                <a:spcPts val="1550"/>
              </a:spcBef>
              <a:spcAft>
                <a:spcPts val="0"/>
              </a:spcAft>
              <a:buSzPts val="1700"/>
              <a:buFont typeface="Arial"/>
              <a:buChar char="•"/>
            </a:pPr>
            <a:r>
              <a:rPr lang="en-US" sz="1700">
                <a:latin typeface="Arial"/>
                <a:ea typeface="Arial"/>
                <a:cs typeface="Arial"/>
                <a:sym typeface="Arial"/>
              </a:rPr>
              <a:t>Élaborer, à l’aide d’un schéma bloc, la chaîne d’énergie d’un OST</a:t>
            </a:r>
            <a:endParaRPr sz="1700">
              <a:latin typeface="Arial"/>
              <a:ea typeface="Arial"/>
              <a:cs typeface="Arial"/>
              <a:sym typeface="Arial"/>
            </a:endParaRPr>
          </a:p>
        </p:txBody>
      </p:sp>
      <p:sp>
        <p:nvSpPr>
          <p:cNvPr id="271" name="Google Shape;271;p24"/>
          <p:cNvSpPr txBox="1"/>
          <p:nvPr/>
        </p:nvSpPr>
        <p:spPr>
          <a:xfrm>
            <a:off x="304800" y="1407425"/>
            <a:ext cx="11887200" cy="1385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800"/>
              <a:t>O</a:t>
            </a:r>
            <a:r>
              <a:rPr b="1" lang="en-US" sz="1800"/>
              <a:t>bjectif : L’élève ait compris le fonctionnement d’un objet ou d’un système technique</a:t>
            </a:r>
            <a:endParaRPr b="1" sz="1800"/>
          </a:p>
          <a:p>
            <a:pPr indent="0" lvl="0" marL="0" rtl="0" algn="ctr">
              <a:spcBef>
                <a:spcPts val="0"/>
              </a:spcBef>
              <a:spcAft>
                <a:spcPts val="0"/>
              </a:spcAft>
              <a:buNone/>
            </a:pPr>
            <a:r>
              <a:rPr b="1" lang="en-US" sz="1800"/>
              <a:t>La compétence à développer chez l’élève : Décrire et caractériser l’organisation interne d’OST et ses échanges avec son environnement</a:t>
            </a:r>
            <a:endParaRPr b="1" sz="1800"/>
          </a:p>
          <a:p>
            <a:pPr indent="0" lvl="0" marL="12700" rtl="0" algn="ctr">
              <a:spcBef>
                <a:spcPts val="0"/>
              </a:spcBef>
              <a:spcAft>
                <a:spcPts val="0"/>
              </a:spcAft>
              <a:buNone/>
            </a:pPr>
            <a:r>
              <a:rPr b="1" lang="en-US" sz="2400">
                <a:solidFill>
                  <a:srgbClr val="20205A"/>
                </a:solidFill>
              </a:rPr>
              <a:t>Les repères de progressivité de l’attendu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75" name="Shape 275"/>
        <p:cNvGrpSpPr/>
        <p:nvPr/>
      </p:nvGrpSpPr>
      <p:grpSpPr>
        <a:xfrm>
          <a:off x="0" y="0"/>
          <a:ext cx="0" cy="0"/>
          <a:chOff x="0" y="0"/>
          <a:chExt cx="0" cy="0"/>
        </a:xfrm>
      </p:grpSpPr>
      <p:sp>
        <p:nvSpPr>
          <p:cNvPr id="276" name="Google Shape;276;p25"/>
          <p:cNvSpPr txBox="1"/>
          <p:nvPr/>
        </p:nvSpPr>
        <p:spPr>
          <a:xfrm>
            <a:off x="-1" y="905550"/>
            <a:ext cx="12192000" cy="1108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US" sz="3600"/>
              <a:t>La philosophie générale : « apprendre à faire et faire pour apprendre »</a:t>
            </a:r>
            <a:endParaRPr b="1" sz="3600"/>
          </a:p>
        </p:txBody>
      </p:sp>
      <p:sp>
        <p:nvSpPr>
          <p:cNvPr id="277" name="Google Shape;277;p25"/>
          <p:cNvSpPr txBox="1"/>
          <p:nvPr/>
        </p:nvSpPr>
        <p:spPr>
          <a:xfrm>
            <a:off x="1003300" y="2476500"/>
            <a:ext cx="10287000" cy="407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300"/>
              <a:t>« Apprendre à faire »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Cela implique que l'élève doit acquérir des connaissances et des compétences théoriques pour être capable de réaliser des actions concrètes. Avant de savoir « faire », l'élève doit comprendre les concepts qui sous-tendent les actions qu'il va réaliser. Par exemple, pour construire un objet technique ou utiliser un logiciel, il faut d'abord apprendre les outils, les matériaux, et les méthodes.</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C'est l'idée que l'acquisition théorique est nécessaire pour pouvoir bien faire en pratique.</a:t>
            </a:r>
            <a:endParaRPr sz="2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1" name="Shape 281"/>
        <p:cNvGrpSpPr/>
        <p:nvPr/>
      </p:nvGrpSpPr>
      <p:grpSpPr>
        <a:xfrm>
          <a:off x="0" y="0"/>
          <a:ext cx="0" cy="0"/>
          <a:chOff x="0" y="0"/>
          <a:chExt cx="0" cy="0"/>
        </a:xfrm>
      </p:grpSpPr>
      <p:sp>
        <p:nvSpPr>
          <p:cNvPr id="282" name="Google Shape;282;p26"/>
          <p:cNvSpPr txBox="1"/>
          <p:nvPr/>
        </p:nvSpPr>
        <p:spPr>
          <a:xfrm>
            <a:off x="1090930" y="308661"/>
            <a:ext cx="9721200" cy="10467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La philosophie générale : « apprendre à faire et</a:t>
            </a:r>
            <a:endParaRPr sz="3400">
              <a:latin typeface="Arial"/>
              <a:ea typeface="Arial"/>
              <a:cs typeface="Arial"/>
              <a:sym typeface="Arial"/>
            </a:endParaRPr>
          </a:p>
          <a:p>
            <a:pPr indent="0" lvl="0" marL="12700" marR="0" rtl="0" algn="l">
              <a:lnSpc>
                <a:spcPct val="100000"/>
              </a:lnSpc>
              <a:spcBef>
                <a:spcPts val="0"/>
              </a:spcBef>
              <a:spcAft>
                <a:spcPts val="0"/>
              </a:spcAft>
              <a:buNone/>
            </a:pPr>
            <a:r>
              <a:rPr b="1" lang="en-US" sz="3400">
                <a:latin typeface="Arial"/>
                <a:ea typeface="Arial"/>
                <a:cs typeface="Arial"/>
                <a:sym typeface="Arial"/>
              </a:rPr>
              <a:t>faire pour apprendre »</a:t>
            </a:r>
            <a:endParaRPr sz="3400">
              <a:latin typeface="Arial"/>
              <a:ea typeface="Arial"/>
              <a:cs typeface="Arial"/>
              <a:sym typeface="Arial"/>
            </a:endParaRPr>
          </a:p>
        </p:txBody>
      </p:sp>
      <p:sp>
        <p:nvSpPr>
          <p:cNvPr id="283" name="Google Shape;283;p26"/>
          <p:cNvSpPr txBox="1"/>
          <p:nvPr/>
        </p:nvSpPr>
        <p:spPr>
          <a:xfrm>
            <a:off x="342900" y="2108200"/>
            <a:ext cx="115950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 Faire pour apprendre » :</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Ici, l'idée est que l'action elle-même devient un moyen d’apprentissage. En d'autres termes, c'est en faisant, en expérimentant, que l'élève consolide ses connaissances et développe de nouvelles compétences. Ce processus est cyclique : l'élève expérimente, tire des leçons de ses actions, puis ajuste et s’améliore.</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La pratique permet de cristalliser la théorie. Par exemple, un élève qui construit un circuit électronique comprendra mieux les lois de l'électricité parce qu'il les met en œuvre dans un contexte réel.</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87" name="Shape 287"/>
        <p:cNvGrpSpPr/>
        <p:nvPr/>
      </p:nvGrpSpPr>
      <p:grpSpPr>
        <a:xfrm>
          <a:off x="0" y="0"/>
          <a:ext cx="0" cy="0"/>
          <a:chOff x="0" y="0"/>
          <a:chExt cx="0" cy="0"/>
        </a:xfrm>
      </p:grpSpPr>
      <p:sp>
        <p:nvSpPr>
          <p:cNvPr id="288" name="Google Shape;288;p27"/>
          <p:cNvSpPr txBox="1"/>
          <p:nvPr/>
        </p:nvSpPr>
        <p:spPr>
          <a:xfrm>
            <a:off x="1090930" y="308661"/>
            <a:ext cx="9721200" cy="10467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La philosophie générale : « apprendre à faire et</a:t>
            </a:r>
            <a:endParaRPr sz="3400">
              <a:latin typeface="Arial"/>
              <a:ea typeface="Arial"/>
              <a:cs typeface="Arial"/>
              <a:sym typeface="Arial"/>
            </a:endParaRPr>
          </a:p>
          <a:p>
            <a:pPr indent="0" lvl="0" marL="12700" marR="0" rtl="0" algn="l">
              <a:lnSpc>
                <a:spcPct val="100000"/>
              </a:lnSpc>
              <a:spcBef>
                <a:spcPts val="0"/>
              </a:spcBef>
              <a:spcAft>
                <a:spcPts val="0"/>
              </a:spcAft>
              <a:buNone/>
            </a:pPr>
            <a:r>
              <a:rPr b="1" lang="en-US" sz="3400">
                <a:latin typeface="Arial"/>
                <a:ea typeface="Arial"/>
                <a:cs typeface="Arial"/>
                <a:sym typeface="Arial"/>
              </a:rPr>
              <a:t>faire pour apprendre »</a:t>
            </a:r>
            <a:endParaRPr sz="3400">
              <a:latin typeface="Arial"/>
              <a:ea typeface="Arial"/>
              <a:cs typeface="Arial"/>
              <a:sym typeface="Arial"/>
            </a:endParaRPr>
          </a:p>
        </p:txBody>
      </p:sp>
      <p:sp>
        <p:nvSpPr>
          <p:cNvPr id="289" name="Google Shape;289;p27"/>
          <p:cNvSpPr txBox="1"/>
          <p:nvPr/>
        </p:nvSpPr>
        <p:spPr>
          <a:xfrm>
            <a:off x="342900" y="2108200"/>
            <a:ext cx="11595000" cy="498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 Apprendre à faire » met l'accent sur l'importance de comprendre avant d'agir.</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 Faire pour apprendre » valorise l'apprentissage par l'action, où les élèves apprennent en pratiquant et en expérimentant.</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US" sz="2400"/>
              <a:t>Cette approche est particulièrement pertinente dans l'enseignement de la technologie, où les élèves doivent non seulement connaître les principes techniques, mais aussi les appliquer </a:t>
            </a:r>
            <a:r>
              <a:rPr b="1" lang="en-US" sz="2400" u="sng"/>
              <a:t>dans des projets concrets</a:t>
            </a:r>
            <a:r>
              <a:rPr lang="en-US" sz="2400"/>
              <a:t>. </a:t>
            </a:r>
            <a:endParaRPr sz="2400"/>
          </a:p>
          <a:p>
            <a:pPr indent="0" lvl="0" marL="0" rtl="0" algn="l">
              <a:spcBef>
                <a:spcPts val="0"/>
              </a:spcBef>
              <a:spcAft>
                <a:spcPts val="0"/>
              </a:spcAft>
              <a:buNone/>
            </a:pPr>
            <a:r>
              <a:t/>
            </a:r>
            <a:endParaRPr sz="2400"/>
          </a:p>
          <a:p>
            <a:pPr indent="0" lvl="0" marL="0" rtl="0" algn="l">
              <a:spcBef>
                <a:spcPts val="0"/>
              </a:spcBef>
              <a:spcAft>
                <a:spcPts val="0"/>
              </a:spcAft>
              <a:buClr>
                <a:schemeClr val="dk1"/>
              </a:buClr>
              <a:buSzPts val="1100"/>
              <a:buFont typeface="Arial"/>
              <a:buNone/>
            </a:pPr>
            <a:r>
              <a:rPr lang="en-US" sz="2400"/>
              <a:t>Cela permet de développer à la fois des compétences pratiques (manipuler des outils, construire des objets) et des compétences analytiques (résoudre des problèmes, comprendre les systèmes techniques).</a:t>
            </a:r>
            <a:endParaRPr sz="2400"/>
          </a:p>
          <a:p>
            <a:pPr indent="0" lvl="0" marL="0" rtl="0" algn="l">
              <a:spcBef>
                <a:spcPts val="0"/>
              </a:spcBef>
              <a:spcAft>
                <a:spcPts val="0"/>
              </a:spcAft>
              <a:buNone/>
            </a:pPr>
            <a:r>
              <a:t/>
            </a: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3" name="Shape 293"/>
        <p:cNvGrpSpPr/>
        <p:nvPr/>
      </p:nvGrpSpPr>
      <p:grpSpPr>
        <a:xfrm>
          <a:off x="0" y="0"/>
          <a:ext cx="0" cy="0"/>
          <a:chOff x="0" y="0"/>
          <a:chExt cx="0" cy="0"/>
        </a:xfrm>
      </p:grpSpPr>
      <p:sp>
        <p:nvSpPr>
          <p:cNvPr id="294" name="Google Shape;294;p28"/>
          <p:cNvSpPr txBox="1"/>
          <p:nvPr/>
        </p:nvSpPr>
        <p:spPr>
          <a:xfrm>
            <a:off x="1090930" y="308661"/>
            <a:ext cx="9721200" cy="10467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3400">
                <a:latin typeface="Arial"/>
                <a:ea typeface="Arial"/>
                <a:cs typeface="Arial"/>
                <a:sym typeface="Arial"/>
              </a:rPr>
              <a:t>La philosophie générale : « apprendre à faire et</a:t>
            </a:r>
            <a:endParaRPr sz="3400">
              <a:latin typeface="Arial"/>
              <a:ea typeface="Arial"/>
              <a:cs typeface="Arial"/>
              <a:sym typeface="Arial"/>
            </a:endParaRPr>
          </a:p>
          <a:p>
            <a:pPr indent="0" lvl="0" marL="12700" marR="0" rtl="0" algn="l">
              <a:lnSpc>
                <a:spcPct val="100000"/>
              </a:lnSpc>
              <a:spcBef>
                <a:spcPts val="0"/>
              </a:spcBef>
              <a:spcAft>
                <a:spcPts val="0"/>
              </a:spcAft>
              <a:buNone/>
            </a:pPr>
            <a:r>
              <a:rPr b="1" lang="en-US" sz="3400">
                <a:latin typeface="Arial"/>
                <a:ea typeface="Arial"/>
                <a:cs typeface="Arial"/>
                <a:sym typeface="Arial"/>
              </a:rPr>
              <a:t>faire pour apprendre »</a:t>
            </a:r>
            <a:endParaRPr sz="3400">
              <a:latin typeface="Arial"/>
              <a:ea typeface="Arial"/>
              <a:cs typeface="Arial"/>
              <a:sym typeface="Arial"/>
            </a:endParaRPr>
          </a:p>
        </p:txBody>
      </p:sp>
      <p:sp>
        <p:nvSpPr>
          <p:cNvPr id="295" name="Google Shape;295;p28"/>
          <p:cNvSpPr/>
          <p:nvPr/>
        </p:nvSpPr>
        <p:spPr>
          <a:xfrm>
            <a:off x="2049779" y="2324522"/>
            <a:ext cx="8079600" cy="34314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96" name="Google Shape;296;p28"/>
          <p:cNvSpPr/>
          <p:nvPr/>
        </p:nvSpPr>
        <p:spPr>
          <a:xfrm>
            <a:off x="2161539" y="5725582"/>
            <a:ext cx="2880360" cy="891540"/>
          </a:xfrm>
          <a:custGeom>
            <a:rect b="b" l="l" r="r" t="t"/>
            <a:pathLst>
              <a:path extrusionOk="0" h="891540" w="2880360">
                <a:moveTo>
                  <a:pt x="0" y="891540"/>
                </a:moveTo>
                <a:lnTo>
                  <a:pt x="2880360" y="891540"/>
                </a:lnTo>
                <a:lnTo>
                  <a:pt x="2880360" y="0"/>
                </a:lnTo>
                <a:lnTo>
                  <a:pt x="0" y="0"/>
                </a:lnTo>
                <a:lnTo>
                  <a:pt x="0" y="89154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97" name="Google Shape;297;p28"/>
          <p:cNvSpPr/>
          <p:nvPr/>
        </p:nvSpPr>
        <p:spPr>
          <a:xfrm>
            <a:off x="5281929" y="5463454"/>
            <a:ext cx="240029" cy="429260"/>
          </a:xfrm>
          <a:custGeom>
            <a:rect b="b" l="l" r="r" t="t"/>
            <a:pathLst>
              <a:path extrusionOk="0" h="429260" w="240029">
                <a:moveTo>
                  <a:pt x="0" y="429259"/>
                </a:moveTo>
                <a:lnTo>
                  <a:pt x="240029" y="429259"/>
                </a:lnTo>
                <a:lnTo>
                  <a:pt x="229870" y="0"/>
                </a:lnTo>
              </a:path>
            </a:pathLst>
          </a:custGeom>
          <a:noFill/>
          <a:ln cap="flat" cmpd="sng" w="25400">
            <a:solidFill>
              <a:srgbClr val="4830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98" name="Google Shape;298;p28"/>
          <p:cNvSpPr txBox="1"/>
          <p:nvPr/>
        </p:nvSpPr>
        <p:spPr>
          <a:xfrm>
            <a:off x="2161539" y="5725582"/>
            <a:ext cx="2880300" cy="738900"/>
          </a:xfrm>
          <a:prstGeom prst="rect">
            <a:avLst/>
          </a:prstGeom>
          <a:noFill/>
          <a:ln cap="flat" cmpd="sng" w="25400">
            <a:solidFill>
              <a:srgbClr val="48301F"/>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2400">
                <a:latin typeface="Arial"/>
                <a:ea typeface="Arial"/>
                <a:cs typeface="Arial"/>
                <a:sym typeface="Arial"/>
              </a:rPr>
              <a:t>Pour comprendre le</a:t>
            </a:r>
            <a:endParaRPr sz="2400">
              <a:latin typeface="Arial"/>
              <a:ea typeface="Arial"/>
              <a:cs typeface="Arial"/>
              <a:sym typeface="Arial"/>
            </a:endParaRPr>
          </a:p>
          <a:p>
            <a:pPr indent="0" lvl="0" marL="0" marR="0" rtl="0" algn="ctr">
              <a:lnSpc>
                <a:spcPct val="100000"/>
              </a:lnSpc>
              <a:spcBef>
                <a:spcPts val="0"/>
              </a:spcBef>
              <a:spcAft>
                <a:spcPts val="0"/>
              </a:spcAft>
              <a:buNone/>
            </a:pPr>
            <a:r>
              <a:rPr lang="en-US" sz="2400">
                <a:latin typeface="Arial"/>
                <a:ea typeface="Arial"/>
                <a:cs typeface="Arial"/>
                <a:sym typeface="Arial"/>
              </a:rPr>
              <a:t>fonctionnement</a:t>
            </a:r>
            <a:endParaRPr sz="2400">
              <a:latin typeface="Arial"/>
              <a:ea typeface="Arial"/>
              <a:cs typeface="Arial"/>
              <a:sym typeface="Arial"/>
            </a:endParaRPr>
          </a:p>
        </p:txBody>
      </p:sp>
      <p:sp>
        <p:nvSpPr>
          <p:cNvPr id="299" name="Google Shape;299;p28"/>
          <p:cNvSpPr/>
          <p:nvPr/>
        </p:nvSpPr>
        <p:spPr>
          <a:xfrm>
            <a:off x="480059" y="1488862"/>
            <a:ext cx="3360420" cy="891539"/>
          </a:xfrm>
          <a:custGeom>
            <a:rect b="b" l="l" r="r" t="t"/>
            <a:pathLst>
              <a:path extrusionOk="0" h="891539" w="3360420">
                <a:moveTo>
                  <a:pt x="0" y="891539"/>
                </a:moveTo>
                <a:lnTo>
                  <a:pt x="3360420" y="891539"/>
                </a:lnTo>
                <a:lnTo>
                  <a:pt x="3360420" y="0"/>
                </a:lnTo>
                <a:lnTo>
                  <a:pt x="0" y="0"/>
                </a:lnTo>
                <a:lnTo>
                  <a:pt x="0" y="891539"/>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00" name="Google Shape;300;p28"/>
          <p:cNvSpPr/>
          <p:nvPr/>
        </p:nvSpPr>
        <p:spPr>
          <a:xfrm>
            <a:off x="4120514" y="1655994"/>
            <a:ext cx="965835" cy="892175"/>
          </a:xfrm>
          <a:custGeom>
            <a:rect b="b" l="l" r="r" t="t"/>
            <a:pathLst>
              <a:path extrusionOk="0" h="892175" w="965835">
                <a:moveTo>
                  <a:pt x="0" y="0"/>
                </a:moveTo>
                <a:lnTo>
                  <a:pt x="776478" y="17018"/>
                </a:lnTo>
                <a:lnTo>
                  <a:pt x="965835" y="891666"/>
                </a:lnTo>
              </a:path>
            </a:pathLst>
          </a:custGeom>
          <a:noFill/>
          <a:ln cap="flat" cmpd="sng" w="25400">
            <a:solidFill>
              <a:srgbClr val="4830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01" name="Google Shape;301;p28"/>
          <p:cNvSpPr txBox="1"/>
          <p:nvPr/>
        </p:nvSpPr>
        <p:spPr>
          <a:xfrm>
            <a:off x="480059" y="1488862"/>
            <a:ext cx="3360300" cy="738900"/>
          </a:xfrm>
          <a:prstGeom prst="rect">
            <a:avLst/>
          </a:prstGeom>
          <a:noFill/>
          <a:ln cap="flat" cmpd="sng" w="25400">
            <a:solidFill>
              <a:srgbClr val="48301F"/>
            </a:solidFill>
            <a:prstDash val="solid"/>
            <a:round/>
            <a:headEnd len="sm" w="sm" type="none"/>
            <a:tailEnd len="sm" w="sm" type="none"/>
          </a:ln>
        </p:spPr>
        <p:txBody>
          <a:bodyPr anchorCtr="0" anchor="t" bIns="0" lIns="0" spcFirstLastPara="1" rIns="0" wrap="square" tIns="0">
            <a:spAutoFit/>
          </a:bodyPr>
          <a:lstStyle/>
          <a:p>
            <a:pPr indent="0" lvl="0" marL="252095" marR="0" rtl="0" algn="l">
              <a:lnSpc>
                <a:spcPct val="100000"/>
              </a:lnSpc>
              <a:spcBef>
                <a:spcPts val="0"/>
              </a:spcBef>
              <a:spcAft>
                <a:spcPts val="0"/>
              </a:spcAft>
              <a:buNone/>
            </a:pPr>
            <a:r>
              <a:rPr lang="en-US" sz="2400">
                <a:latin typeface="Arial"/>
                <a:ea typeface="Arial"/>
                <a:cs typeface="Arial"/>
                <a:sym typeface="Arial"/>
              </a:rPr>
              <a:t>Pour comprendre les</a:t>
            </a:r>
            <a:endParaRPr sz="2400">
              <a:latin typeface="Arial"/>
              <a:ea typeface="Arial"/>
              <a:cs typeface="Arial"/>
              <a:sym typeface="Arial"/>
            </a:endParaRPr>
          </a:p>
          <a:p>
            <a:pPr indent="0" lvl="0" marL="201295" marR="0" rtl="0" algn="l">
              <a:lnSpc>
                <a:spcPct val="100000"/>
              </a:lnSpc>
              <a:spcBef>
                <a:spcPts val="0"/>
              </a:spcBef>
              <a:spcAft>
                <a:spcPts val="0"/>
              </a:spcAft>
              <a:buNone/>
            </a:pPr>
            <a:r>
              <a:rPr lang="en-US" sz="2400">
                <a:latin typeface="Arial"/>
                <a:ea typeface="Arial"/>
                <a:cs typeface="Arial"/>
                <a:sym typeface="Arial"/>
              </a:rPr>
              <a:t>usages et les impacts</a:t>
            </a:r>
            <a:endParaRPr sz="2400">
              <a:latin typeface="Arial"/>
              <a:ea typeface="Arial"/>
              <a:cs typeface="Arial"/>
              <a:sym typeface="Arial"/>
            </a:endParaRPr>
          </a:p>
        </p:txBody>
      </p:sp>
      <p:sp>
        <p:nvSpPr>
          <p:cNvPr id="302" name="Google Shape;302;p28"/>
          <p:cNvSpPr/>
          <p:nvPr/>
        </p:nvSpPr>
        <p:spPr>
          <a:xfrm>
            <a:off x="6097270" y="1531534"/>
            <a:ext cx="335914" cy="942975"/>
          </a:xfrm>
          <a:custGeom>
            <a:rect b="b" l="l" r="r" t="t"/>
            <a:pathLst>
              <a:path extrusionOk="0" h="942975" w="335914">
                <a:moveTo>
                  <a:pt x="335914" y="0"/>
                </a:moveTo>
                <a:lnTo>
                  <a:pt x="0" y="0"/>
                </a:lnTo>
                <a:lnTo>
                  <a:pt x="208152" y="942466"/>
                </a:lnTo>
              </a:path>
            </a:pathLst>
          </a:custGeom>
          <a:noFill/>
          <a:ln cap="flat" cmpd="sng" w="25400">
            <a:solidFill>
              <a:srgbClr val="4830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03" name="Google Shape;303;p28"/>
          <p:cNvSpPr txBox="1"/>
          <p:nvPr/>
        </p:nvSpPr>
        <p:spPr>
          <a:xfrm>
            <a:off x="6769100" y="1364402"/>
            <a:ext cx="4031100" cy="738900"/>
          </a:xfrm>
          <a:prstGeom prst="rect">
            <a:avLst/>
          </a:prstGeom>
          <a:noFill/>
          <a:ln cap="flat" cmpd="sng" w="25400">
            <a:solidFill>
              <a:srgbClr val="48301F"/>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2400">
                <a:latin typeface="Arial"/>
                <a:ea typeface="Arial"/>
                <a:cs typeface="Arial"/>
                <a:sym typeface="Arial"/>
              </a:rPr>
              <a:t>Pour choisir, programmer</a:t>
            </a:r>
            <a:endParaRPr sz="2400">
              <a:latin typeface="Arial"/>
              <a:ea typeface="Arial"/>
              <a:cs typeface="Arial"/>
              <a:sym typeface="Arial"/>
            </a:endParaRPr>
          </a:p>
          <a:p>
            <a:pPr indent="0" lvl="0" marL="0" marR="0" rtl="0" algn="ctr">
              <a:lnSpc>
                <a:spcPct val="100000"/>
              </a:lnSpc>
              <a:spcBef>
                <a:spcPts val="0"/>
              </a:spcBef>
              <a:spcAft>
                <a:spcPts val="0"/>
              </a:spcAft>
              <a:buNone/>
            </a:pPr>
            <a:r>
              <a:rPr lang="en-US" sz="2400">
                <a:latin typeface="Arial"/>
                <a:ea typeface="Arial"/>
                <a:cs typeface="Arial"/>
                <a:sym typeface="Arial"/>
              </a:rPr>
              <a:t>des solutions</a:t>
            </a:r>
            <a:endParaRPr sz="2400">
              <a:latin typeface="Arial"/>
              <a:ea typeface="Arial"/>
              <a:cs typeface="Arial"/>
              <a:sym typeface="Arial"/>
            </a:endParaRPr>
          </a:p>
        </p:txBody>
      </p:sp>
      <p:sp>
        <p:nvSpPr>
          <p:cNvPr id="304" name="Google Shape;304;p28"/>
          <p:cNvSpPr/>
          <p:nvPr/>
        </p:nvSpPr>
        <p:spPr>
          <a:xfrm>
            <a:off x="8351901" y="5443134"/>
            <a:ext cx="264159" cy="480060"/>
          </a:xfrm>
          <a:custGeom>
            <a:rect b="b" l="l" r="r" t="t"/>
            <a:pathLst>
              <a:path extrusionOk="0" h="480060" w="264159">
                <a:moveTo>
                  <a:pt x="264032" y="480060"/>
                </a:moveTo>
                <a:lnTo>
                  <a:pt x="0" y="480060"/>
                </a:lnTo>
                <a:lnTo>
                  <a:pt x="61975" y="0"/>
                </a:lnTo>
              </a:path>
            </a:pathLst>
          </a:custGeom>
          <a:noFill/>
          <a:ln cap="flat" cmpd="sng" w="25400">
            <a:solidFill>
              <a:srgbClr val="48301F"/>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05" name="Google Shape;305;p28"/>
          <p:cNvSpPr txBox="1"/>
          <p:nvPr/>
        </p:nvSpPr>
        <p:spPr>
          <a:xfrm>
            <a:off x="8879840" y="5756062"/>
            <a:ext cx="3167400" cy="369300"/>
          </a:xfrm>
          <a:prstGeom prst="rect">
            <a:avLst/>
          </a:prstGeom>
          <a:noFill/>
          <a:ln cap="flat" cmpd="sng" w="25400">
            <a:solidFill>
              <a:srgbClr val="48301F"/>
            </a:solidFill>
            <a:prstDash val="solid"/>
            <a:round/>
            <a:headEnd len="sm" w="sm" type="none"/>
            <a:tailEnd len="sm" w="sm" type="none"/>
          </a:ln>
        </p:spPr>
        <p:txBody>
          <a:bodyPr anchorCtr="0" anchor="t" bIns="0" lIns="0" spcFirstLastPara="1" rIns="0" wrap="square" tIns="0">
            <a:spAutoFit/>
          </a:bodyPr>
          <a:lstStyle/>
          <a:p>
            <a:pPr indent="0" lvl="0" marL="317500" marR="0" rtl="0" algn="l">
              <a:lnSpc>
                <a:spcPct val="100000"/>
              </a:lnSpc>
              <a:spcBef>
                <a:spcPts val="0"/>
              </a:spcBef>
              <a:spcAft>
                <a:spcPts val="0"/>
              </a:spcAft>
              <a:buNone/>
            </a:pPr>
            <a:r>
              <a:rPr lang="en-US" sz="2400">
                <a:latin typeface="Arial"/>
                <a:ea typeface="Arial"/>
                <a:cs typeface="Arial"/>
                <a:sym typeface="Arial"/>
              </a:rPr>
              <a:t>Pour créer innover</a:t>
            </a:r>
            <a:endParaRPr sz="2400">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9" name="Shape 309"/>
        <p:cNvGrpSpPr/>
        <p:nvPr/>
      </p:nvGrpSpPr>
      <p:grpSpPr>
        <a:xfrm>
          <a:off x="0" y="0"/>
          <a:ext cx="0" cy="0"/>
          <a:chOff x="0" y="0"/>
          <a:chExt cx="0" cy="0"/>
        </a:xfrm>
      </p:grpSpPr>
      <p:sp>
        <p:nvSpPr>
          <p:cNvPr id="310" name="Google Shape;310;p29"/>
          <p:cNvSpPr txBox="1"/>
          <p:nvPr>
            <p:ph type="title"/>
          </p:nvPr>
        </p:nvSpPr>
        <p:spPr>
          <a:xfrm>
            <a:off x="488314" y="149593"/>
            <a:ext cx="11215370" cy="925194"/>
          </a:xfrm>
          <a:prstGeom prst="rect">
            <a:avLst/>
          </a:prstGeom>
          <a:noFill/>
          <a:ln>
            <a:noFill/>
          </a:ln>
        </p:spPr>
        <p:txBody>
          <a:bodyPr anchorCtr="0" anchor="t" bIns="0" lIns="0" spcFirstLastPara="1" rIns="0" wrap="square" tIns="0">
            <a:spAutoFit/>
          </a:bodyPr>
          <a:lstStyle/>
          <a:p>
            <a:pPr indent="0" lvl="0" marL="711200" rtl="0" algn="l">
              <a:lnSpc>
                <a:spcPct val="114088"/>
              </a:lnSpc>
              <a:spcBef>
                <a:spcPts val="0"/>
              </a:spcBef>
              <a:spcAft>
                <a:spcPts val="0"/>
              </a:spcAft>
              <a:buNone/>
            </a:pPr>
            <a:r>
              <a:rPr lang="en-US"/>
              <a:t>Une comparaison rapide entre le programme de</a:t>
            </a:r>
            <a:endParaRPr/>
          </a:p>
          <a:p>
            <a:pPr indent="0" lvl="0" marL="711200" rtl="0" algn="l">
              <a:lnSpc>
                <a:spcPct val="114088"/>
              </a:lnSpc>
              <a:spcBef>
                <a:spcPts val="0"/>
              </a:spcBef>
              <a:spcAft>
                <a:spcPts val="0"/>
              </a:spcAft>
              <a:buNone/>
            </a:pPr>
            <a:r>
              <a:rPr lang="en-US"/>
              <a:t>2020 et le programme 2024</a:t>
            </a:r>
            <a:endParaRPr/>
          </a:p>
        </p:txBody>
      </p:sp>
      <p:sp>
        <p:nvSpPr>
          <p:cNvPr id="311" name="Google Shape;311;p29"/>
          <p:cNvSpPr/>
          <p:nvPr/>
        </p:nvSpPr>
        <p:spPr>
          <a:xfrm>
            <a:off x="795019" y="2377439"/>
            <a:ext cx="2550414" cy="156235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2" name="Google Shape;312;p29"/>
          <p:cNvSpPr/>
          <p:nvPr/>
        </p:nvSpPr>
        <p:spPr>
          <a:xfrm>
            <a:off x="762000" y="2771139"/>
            <a:ext cx="2682494" cy="81559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3" name="Google Shape;313;p29"/>
          <p:cNvSpPr/>
          <p:nvPr/>
        </p:nvSpPr>
        <p:spPr>
          <a:xfrm>
            <a:off x="838200" y="2397760"/>
            <a:ext cx="2466340" cy="147828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4" name="Google Shape;314;p29"/>
          <p:cNvSpPr txBox="1"/>
          <p:nvPr/>
        </p:nvSpPr>
        <p:spPr>
          <a:xfrm>
            <a:off x="944562" y="2891206"/>
            <a:ext cx="2252980" cy="490855"/>
          </a:xfrm>
          <a:prstGeom prst="rect">
            <a:avLst/>
          </a:prstGeom>
          <a:noFill/>
          <a:ln>
            <a:noFill/>
          </a:ln>
        </p:spPr>
        <p:txBody>
          <a:bodyPr anchorCtr="0" anchor="t" bIns="0" lIns="0" spcFirstLastPara="1" rIns="0" wrap="square" tIns="0">
            <a:spAutoFit/>
          </a:bodyPr>
          <a:lstStyle/>
          <a:p>
            <a:pPr indent="0" lvl="0" marL="0" marR="0" rtl="0" algn="ctr">
              <a:lnSpc>
                <a:spcPct val="111578"/>
              </a:lnSpc>
              <a:spcBef>
                <a:spcPts val="0"/>
              </a:spcBef>
              <a:spcAft>
                <a:spcPts val="0"/>
              </a:spcAft>
              <a:buNone/>
            </a:pPr>
            <a:r>
              <a:rPr lang="en-US" sz="1900">
                <a:latin typeface="Arial"/>
                <a:ea typeface="Arial"/>
                <a:cs typeface="Arial"/>
                <a:sym typeface="Arial"/>
              </a:rPr>
              <a:t>Design, innovation et</a:t>
            </a:r>
            <a:endParaRPr sz="1900">
              <a:latin typeface="Arial"/>
              <a:ea typeface="Arial"/>
              <a:cs typeface="Arial"/>
              <a:sym typeface="Arial"/>
            </a:endParaRPr>
          </a:p>
          <a:p>
            <a:pPr indent="0" lvl="0" marL="1905" marR="0" rtl="0" algn="ctr">
              <a:lnSpc>
                <a:spcPct val="110526"/>
              </a:lnSpc>
              <a:spcBef>
                <a:spcPts val="0"/>
              </a:spcBef>
              <a:spcAft>
                <a:spcPts val="0"/>
              </a:spcAft>
              <a:buNone/>
            </a:pPr>
            <a:r>
              <a:rPr lang="en-US" sz="1900">
                <a:latin typeface="Arial"/>
                <a:ea typeface="Arial"/>
                <a:cs typeface="Arial"/>
                <a:sym typeface="Arial"/>
              </a:rPr>
              <a:t>créativité</a:t>
            </a:r>
            <a:endParaRPr sz="1900">
              <a:latin typeface="Arial"/>
              <a:ea typeface="Arial"/>
              <a:cs typeface="Arial"/>
              <a:sym typeface="Arial"/>
            </a:endParaRPr>
          </a:p>
        </p:txBody>
      </p:sp>
      <p:sp>
        <p:nvSpPr>
          <p:cNvPr id="315" name="Google Shape;315;p29"/>
          <p:cNvSpPr/>
          <p:nvPr/>
        </p:nvSpPr>
        <p:spPr>
          <a:xfrm>
            <a:off x="3510279" y="2377439"/>
            <a:ext cx="2550414" cy="156235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6" name="Google Shape;316;p29"/>
          <p:cNvSpPr/>
          <p:nvPr/>
        </p:nvSpPr>
        <p:spPr>
          <a:xfrm>
            <a:off x="3497579" y="2395220"/>
            <a:ext cx="2641854" cy="156743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7" name="Google Shape;317;p29"/>
          <p:cNvSpPr/>
          <p:nvPr/>
        </p:nvSpPr>
        <p:spPr>
          <a:xfrm>
            <a:off x="3553459" y="2397760"/>
            <a:ext cx="2466340" cy="147828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18" name="Google Shape;318;p29"/>
          <p:cNvSpPr txBox="1"/>
          <p:nvPr/>
        </p:nvSpPr>
        <p:spPr>
          <a:xfrm>
            <a:off x="3678809" y="2516556"/>
            <a:ext cx="2212340" cy="1240155"/>
          </a:xfrm>
          <a:prstGeom prst="rect">
            <a:avLst/>
          </a:prstGeom>
          <a:noFill/>
          <a:ln>
            <a:noFill/>
          </a:ln>
        </p:spPr>
        <p:txBody>
          <a:bodyPr anchorCtr="0" anchor="t" bIns="0" lIns="0" spcFirstLastPara="1" rIns="0" wrap="square" tIns="0">
            <a:spAutoFit/>
          </a:bodyPr>
          <a:lstStyle/>
          <a:p>
            <a:pPr indent="635" lvl="0" marL="0" marR="0" rtl="0" algn="ctr">
              <a:lnSpc>
                <a:spcPct val="86200"/>
              </a:lnSpc>
              <a:spcBef>
                <a:spcPts val="0"/>
              </a:spcBef>
              <a:spcAft>
                <a:spcPts val="0"/>
              </a:spcAft>
              <a:buNone/>
            </a:pPr>
            <a:r>
              <a:rPr lang="en-US" sz="1900">
                <a:latin typeface="Arial"/>
                <a:ea typeface="Arial"/>
                <a:cs typeface="Arial"/>
                <a:sym typeface="Arial"/>
              </a:rPr>
              <a:t>Les objets techniques, les services et les changements induits dans la Société</a:t>
            </a:r>
            <a:endParaRPr sz="1900">
              <a:latin typeface="Arial"/>
              <a:ea typeface="Arial"/>
              <a:cs typeface="Arial"/>
              <a:sym typeface="Arial"/>
            </a:endParaRPr>
          </a:p>
        </p:txBody>
      </p:sp>
      <p:sp>
        <p:nvSpPr>
          <p:cNvPr id="319" name="Google Shape;319;p29"/>
          <p:cNvSpPr/>
          <p:nvPr/>
        </p:nvSpPr>
        <p:spPr>
          <a:xfrm>
            <a:off x="2151379" y="4104640"/>
            <a:ext cx="2552954" cy="156235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0" name="Google Shape;320;p29"/>
          <p:cNvSpPr/>
          <p:nvPr/>
        </p:nvSpPr>
        <p:spPr>
          <a:xfrm>
            <a:off x="2118360" y="4246879"/>
            <a:ext cx="2679954" cy="13185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1" name="Google Shape;321;p29"/>
          <p:cNvSpPr/>
          <p:nvPr/>
        </p:nvSpPr>
        <p:spPr>
          <a:xfrm>
            <a:off x="2194560" y="4124959"/>
            <a:ext cx="2468880" cy="1478280"/>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2" name="Google Shape;322;p29"/>
          <p:cNvSpPr txBox="1"/>
          <p:nvPr/>
        </p:nvSpPr>
        <p:spPr>
          <a:xfrm>
            <a:off x="2301494" y="4368851"/>
            <a:ext cx="2254885" cy="991235"/>
          </a:xfrm>
          <a:prstGeom prst="rect">
            <a:avLst/>
          </a:prstGeom>
          <a:noFill/>
          <a:ln>
            <a:noFill/>
          </a:ln>
        </p:spPr>
        <p:txBody>
          <a:bodyPr anchorCtr="0" anchor="t" bIns="0" lIns="0" spcFirstLastPara="1" rIns="0" wrap="square" tIns="0">
            <a:spAutoFit/>
          </a:bodyPr>
          <a:lstStyle/>
          <a:p>
            <a:pPr indent="0" lvl="0" marL="0" marR="0" rtl="0" algn="ctr">
              <a:lnSpc>
                <a:spcPct val="86300"/>
              </a:lnSpc>
              <a:spcBef>
                <a:spcPts val="0"/>
              </a:spcBef>
              <a:spcAft>
                <a:spcPts val="0"/>
              </a:spcAft>
              <a:buNone/>
            </a:pPr>
            <a:r>
              <a:rPr lang="en-US" sz="1900">
                <a:latin typeface="Arial"/>
                <a:ea typeface="Arial"/>
                <a:cs typeface="Arial"/>
                <a:sym typeface="Arial"/>
              </a:rPr>
              <a:t>La modélisation et la simulation des objets et systèmes techniques</a:t>
            </a:r>
            <a:endParaRPr sz="1900">
              <a:latin typeface="Arial"/>
              <a:ea typeface="Arial"/>
              <a:cs typeface="Arial"/>
              <a:sym typeface="Arial"/>
            </a:endParaRPr>
          </a:p>
        </p:txBody>
      </p:sp>
      <p:sp>
        <p:nvSpPr>
          <p:cNvPr id="323" name="Google Shape;323;p29"/>
          <p:cNvSpPr/>
          <p:nvPr/>
        </p:nvSpPr>
        <p:spPr>
          <a:xfrm>
            <a:off x="838200" y="1823720"/>
            <a:ext cx="5181600" cy="4353560"/>
          </a:xfrm>
          <a:custGeom>
            <a:rect b="b" l="l" r="r" t="t"/>
            <a:pathLst>
              <a:path extrusionOk="0" h="4353560" w="5181600">
                <a:moveTo>
                  <a:pt x="0" y="4353560"/>
                </a:moveTo>
                <a:lnTo>
                  <a:pt x="5181600" y="4353560"/>
                </a:lnTo>
                <a:lnTo>
                  <a:pt x="5181600" y="0"/>
                </a:lnTo>
                <a:lnTo>
                  <a:pt x="0" y="0"/>
                </a:lnTo>
                <a:lnTo>
                  <a:pt x="0" y="4353560"/>
                </a:lnTo>
                <a:close/>
              </a:path>
            </a:pathLst>
          </a:custGeom>
          <a:noFill/>
          <a:ln cap="flat" cmpd="sng" w="101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4" name="Google Shape;324;p29"/>
          <p:cNvSpPr/>
          <p:nvPr/>
        </p:nvSpPr>
        <p:spPr>
          <a:xfrm>
            <a:off x="7901940" y="3698240"/>
            <a:ext cx="1719833" cy="171729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5" name="Google Shape;325;p29"/>
          <p:cNvSpPr/>
          <p:nvPr/>
        </p:nvSpPr>
        <p:spPr>
          <a:xfrm>
            <a:off x="8018780" y="4168140"/>
            <a:ext cx="1554733" cy="818134"/>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6" name="Google Shape;326;p29"/>
          <p:cNvSpPr/>
          <p:nvPr/>
        </p:nvSpPr>
        <p:spPr>
          <a:xfrm>
            <a:off x="7945119" y="3718559"/>
            <a:ext cx="1635760" cy="1633219"/>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7" name="Google Shape;327;p29"/>
          <p:cNvSpPr txBox="1"/>
          <p:nvPr/>
        </p:nvSpPr>
        <p:spPr>
          <a:xfrm>
            <a:off x="8201025" y="4289730"/>
            <a:ext cx="1125220" cy="490855"/>
          </a:xfrm>
          <a:prstGeom prst="rect">
            <a:avLst/>
          </a:prstGeom>
          <a:noFill/>
          <a:ln>
            <a:noFill/>
          </a:ln>
        </p:spPr>
        <p:txBody>
          <a:bodyPr anchorCtr="0" anchor="t" bIns="0" lIns="0" spcFirstLastPara="1" rIns="0" wrap="square" tIns="0">
            <a:spAutoFit/>
          </a:bodyPr>
          <a:lstStyle/>
          <a:p>
            <a:pPr indent="0" lvl="0" marL="0" marR="0" rtl="0" algn="l">
              <a:lnSpc>
                <a:spcPct val="111578"/>
              </a:lnSpc>
              <a:spcBef>
                <a:spcPts val="0"/>
              </a:spcBef>
              <a:spcAft>
                <a:spcPts val="0"/>
              </a:spcAft>
              <a:buNone/>
            </a:pPr>
            <a:r>
              <a:rPr lang="en-US" sz="1900">
                <a:solidFill>
                  <a:srgbClr val="FFFFFF"/>
                </a:solidFill>
                <a:latin typeface="Arial"/>
                <a:ea typeface="Arial"/>
                <a:cs typeface="Arial"/>
                <a:sym typeface="Arial"/>
              </a:rPr>
              <a:t>création et</a:t>
            </a:r>
            <a:endParaRPr sz="1900">
              <a:latin typeface="Arial"/>
              <a:ea typeface="Arial"/>
              <a:cs typeface="Arial"/>
              <a:sym typeface="Arial"/>
            </a:endParaRPr>
          </a:p>
          <a:p>
            <a:pPr indent="0" lvl="0" marL="12700" marR="0" rtl="0" algn="l">
              <a:lnSpc>
                <a:spcPct val="110526"/>
              </a:lnSpc>
              <a:spcBef>
                <a:spcPts val="0"/>
              </a:spcBef>
              <a:spcAft>
                <a:spcPts val="0"/>
              </a:spcAft>
              <a:buNone/>
            </a:pPr>
            <a:r>
              <a:rPr lang="en-US" sz="1900">
                <a:solidFill>
                  <a:srgbClr val="FFFFFF"/>
                </a:solidFill>
                <a:latin typeface="Arial"/>
                <a:ea typeface="Arial"/>
                <a:cs typeface="Arial"/>
                <a:sym typeface="Arial"/>
              </a:rPr>
              <a:t>innovation</a:t>
            </a:r>
            <a:endParaRPr sz="1900">
              <a:latin typeface="Arial"/>
              <a:ea typeface="Arial"/>
              <a:cs typeface="Arial"/>
              <a:sym typeface="Arial"/>
            </a:endParaRPr>
          </a:p>
        </p:txBody>
      </p:sp>
      <p:sp>
        <p:nvSpPr>
          <p:cNvPr id="328" name="Google Shape;328;p29"/>
          <p:cNvSpPr/>
          <p:nvPr/>
        </p:nvSpPr>
        <p:spPr>
          <a:xfrm>
            <a:off x="6832600" y="3134360"/>
            <a:ext cx="1239774" cy="100863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29" name="Google Shape;329;p29"/>
          <p:cNvSpPr/>
          <p:nvPr/>
        </p:nvSpPr>
        <p:spPr>
          <a:xfrm>
            <a:off x="6875398" y="3155060"/>
            <a:ext cx="1155192" cy="924559"/>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0" name="Google Shape;330;p29"/>
          <p:cNvSpPr/>
          <p:nvPr/>
        </p:nvSpPr>
        <p:spPr>
          <a:xfrm>
            <a:off x="6136640" y="2628900"/>
            <a:ext cx="1636014" cy="1326133"/>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1" name="Google Shape;331;p29"/>
          <p:cNvSpPr/>
          <p:nvPr/>
        </p:nvSpPr>
        <p:spPr>
          <a:xfrm>
            <a:off x="6329679" y="2956572"/>
            <a:ext cx="1310894" cy="70382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2" name="Google Shape;332;p29"/>
          <p:cNvSpPr/>
          <p:nvPr/>
        </p:nvSpPr>
        <p:spPr>
          <a:xfrm>
            <a:off x="6179820" y="2649220"/>
            <a:ext cx="1551940" cy="124205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3" name="Google Shape;333;p29"/>
          <p:cNvSpPr txBox="1"/>
          <p:nvPr/>
        </p:nvSpPr>
        <p:spPr>
          <a:xfrm>
            <a:off x="6490589" y="3063045"/>
            <a:ext cx="935990" cy="414655"/>
          </a:xfrm>
          <a:prstGeom prst="rect">
            <a:avLst/>
          </a:prstGeom>
          <a:noFill/>
          <a:ln>
            <a:noFill/>
          </a:ln>
        </p:spPr>
        <p:txBody>
          <a:bodyPr anchorCtr="0" anchor="t" bIns="0" lIns="0" spcFirstLastPara="1" rIns="0" wrap="square" tIns="0">
            <a:spAutoFit/>
          </a:bodyPr>
          <a:lstStyle/>
          <a:p>
            <a:pPr indent="0" lvl="0" marL="25400" marR="0" rtl="0" algn="l">
              <a:lnSpc>
                <a:spcPct val="111812"/>
              </a:lnSpc>
              <a:spcBef>
                <a:spcPts val="0"/>
              </a:spcBef>
              <a:spcAft>
                <a:spcPts val="0"/>
              </a:spcAft>
              <a:buNone/>
            </a:pPr>
            <a:r>
              <a:rPr lang="en-US" sz="1600">
                <a:solidFill>
                  <a:srgbClr val="FFFFFF"/>
                </a:solidFill>
                <a:latin typeface="Arial"/>
                <a:ea typeface="Arial"/>
                <a:cs typeface="Arial"/>
                <a:sym typeface="Arial"/>
              </a:rPr>
              <a:t>usages et</a:t>
            </a:r>
            <a:endParaRPr sz="1600">
              <a:latin typeface="Arial"/>
              <a:ea typeface="Arial"/>
              <a:cs typeface="Arial"/>
              <a:sym typeface="Arial"/>
            </a:endParaRPr>
          </a:p>
          <a:p>
            <a:pPr indent="0" lvl="0" marL="0" marR="0" rtl="0" algn="l">
              <a:lnSpc>
                <a:spcPct val="110937"/>
              </a:lnSpc>
              <a:spcBef>
                <a:spcPts val="0"/>
              </a:spcBef>
              <a:spcAft>
                <a:spcPts val="0"/>
              </a:spcAft>
              <a:buNone/>
            </a:pPr>
            <a:r>
              <a:rPr lang="en-US" sz="1600">
                <a:solidFill>
                  <a:srgbClr val="FFFFFF"/>
                </a:solidFill>
                <a:latin typeface="Arial"/>
                <a:ea typeface="Arial"/>
                <a:cs typeface="Arial"/>
                <a:sym typeface="Arial"/>
              </a:rPr>
              <a:t>interaction</a:t>
            </a:r>
            <a:endParaRPr sz="1600">
              <a:latin typeface="Arial"/>
              <a:ea typeface="Arial"/>
              <a:cs typeface="Arial"/>
              <a:sym typeface="Arial"/>
            </a:endParaRPr>
          </a:p>
        </p:txBody>
      </p:sp>
      <p:sp>
        <p:nvSpPr>
          <p:cNvPr id="334" name="Google Shape;334;p29"/>
          <p:cNvSpPr/>
          <p:nvPr/>
        </p:nvSpPr>
        <p:spPr>
          <a:xfrm>
            <a:off x="9451340" y="3134360"/>
            <a:ext cx="1239774" cy="100863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5" name="Google Shape;335;p29"/>
          <p:cNvSpPr/>
          <p:nvPr/>
        </p:nvSpPr>
        <p:spPr>
          <a:xfrm>
            <a:off x="9495408" y="3155060"/>
            <a:ext cx="1155192" cy="92455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6" name="Google Shape;336;p29"/>
          <p:cNvSpPr/>
          <p:nvPr/>
        </p:nvSpPr>
        <p:spPr>
          <a:xfrm>
            <a:off x="9751059" y="2628900"/>
            <a:ext cx="1636013" cy="1326133"/>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7" name="Google Shape;337;p29"/>
          <p:cNvSpPr/>
          <p:nvPr/>
        </p:nvSpPr>
        <p:spPr>
          <a:xfrm>
            <a:off x="9718040" y="2956572"/>
            <a:ext cx="1699513" cy="703821"/>
          </a:xfrm>
          <a:prstGeom prst="rect">
            <a:avLst/>
          </a:prstGeom>
          <a:blipFill rotWithShape="1">
            <a:blip r:embed="rId2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8" name="Google Shape;338;p29"/>
          <p:cNvSpPr/>
          <p:nvPr/>
        </p:nvSpPr>
        <p:spPr>
          <a:xfrm>
            <a:off x="9794240" y="2649220"/>
            <a:ext cx="1551940" cy="1242059"/>
          </a:xfrm>
          <a:prstGeom prst="rect">
            <a:avLst/>
          </a:prstGeom>
          <a:blipFill rotWithShape="1">
            <a:blip r:embed="rId2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39" name="Google Shape;339;p29"/>
          <p:cNvSpPr txBox="1"/>
          <p:nvPr/>
        </p:nvSpPr>
        <p:spPr>
          <a:xfrm>
            <a:off x="9880218" y="3063045"/>
            <a:ext cx="1381760" cy="414655"/>
          </a:xfrm>
          <a:prstGeom prst="rect">
            <a:avLst/>
          </a:prstGeom>
          <a:noFill/>
          <a:ln>
            <a:noFill/>
          </a:ln>
        </p:spPr>
        <p:txBody>
          <a:bodyPr anchorCtr="0" anchor="t" bIns="0" lIns="0" spcFirstLastPara="1" rIns="0" wrap="square" tIns="0">
            <a:spAutoFit/>
          </a:bodyPr>
          <a:lstStyle/>
          <a:p>
            <a:pPr indent="0" lvl="0" marL="2540" marR="0" rtl="0" algn="ctr">
              <a:lnSpc>
                <a:spcPct val="111812"/>
              </a:lnSpc>
              <a:spcBef>
                <a:spcPts val="0"/>
              </a:spcBef>
              <a:spcAft>
                <a:spcPts val="0"/>
              </a:spcAft>
              <a:buNone/>
            </a:pPr>
            <a:r>
              <a:rPr lang="en-US" sz="1600">
                <a:solidFill>
                  <a:srgbClr val="FFFFFF"/>
                </a:solidFill>
                <a:latin typeface="Arial"/>
                <a:ea typeface="Arial"/>
                <a:cs typeface="Arial"/>
                <a:sym typeface="Arial"/>
              </a:rPr>
              <a:t>structure et</a:t>
            </a:r>
            <a:endParaRPr sz="1600">
              <a:latin typeface="Arial"/>
              <a:ea typeface="Arial"/>
              <a:cs typeface="Arial"/>
              <a:sym typeface="Arial"/>
            </a:endParaRPr>
          </a:p>
          <a:p>
            <a:pPr indent="0" lvl="0" marL="0" marR="0" rtl="0" algn="ctr">
              <a:lnSpc>
                <a:spcPct val="110937"/>
              </a:lnSpc>
              <a:spcBef>
                <a:spcPts val="0"/>
              </a:spcBef>
              <a:spcAft>
                <a:spcPts val="0"/>
              </a:spcAft>
              <a:buNone/>
            </a:pPr>
            <a:r>
              <a:rPr lang="en-US" sz="1600">
                <a:solidFill>
                  <a:srgbClr val="FFFFFF"/>
                </a:solidFill>
                <a:latin typeface="Arial"/>
                <a:ea typeface="Arial"/>
                <a:cs typeface="Arial"/>
                <a:sym typeface="Arial"/>
              </a:rPr>
              <a:t>fonctionnement</a:t>
            </a:r>
            <a:endParaRPr sz="1600">
              <a:latin typeface="Arial"/>
              <a:ea typeface="Arial"/>
              <a:cs typeface="Arial"/>
              <a:sym typeface="Arial"/>
            </a:endParaRPr>
          </a:p>
        </p:txBody>
      </p:sp>
      <p:sp>
        <p:nvSpPr>
          <p:cNvPr id="340" name="Google Shape;340;p29"/>
          <p:cNvSpPr/>
          <p:nvPr/>
        </p:nvSpPr>
        <p:spPr>
          <a:xfrm>
            <a:off x="6172200" y="1823720"/>
            <a:ext cx="5181600" cy="4353560"/>
          </a:xfrm>
          <a:custGeom>
            <a:rect b="b" l="l" r="r" t="t"/>
            <a:pathLst>
              <a:path extrusionOk="0" h="4353560" w="5181600">
                <a:moveTo>
                  <a:pt x="0" y="4353560"/>
                </a:moveTo>
                <a:lnTo>
                  <a:pt x="5181600" y="4353560"/>
                </a:lnTo>
                <a:lnTo>
                  <a:pt x="5181600" y="0"/>
                </a:lnTo>
                <a:lnTo>
                  <a:pt x="0" y="0"/>
                </a:lnTo>
                <a:lnTo>
                  <a:pt x="0" y="4353560"/>
                </a:lnTo>
                <a:close/>
              </a:path>
            </a:pathLst>
          </a:custGeom>
          <a:noFill/>
          <a:ln cap="flat" cmpd="sng" w="101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41" name="Google Shape;341;p29"/>
          <p:cNvSpPr txBox="1"/>
          <p:nvPr/>
        </p:nvSpPr>
        <p:spPr>
          <a:xfrm>
            <a:off x="3043301" y="1406593"/>
            <a:ext cx="777240" cy="3638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50">
                <a:latin typeface="Arial"/>
                <a:ea typeface="Arial"/>
                <a:cs typeface="Arial"/>
                <a:sym typeface="Arial"/>
              </a:rPr>
              <a:t>2020</a:t>
            </a:r>
            <a:endParaRPr sz="2650">
              <a:latin typeface="Arial"/>
              <a:ea typeface="Arial"/>
              <a:cs typeface="Arial"/>
              <a:sym typeface="Arial"/>
            </a:endParaRPr>
          </a:p>
        </p:txBody>
      </p:sp>
      <p:sp>
        <p:nvSpPr>
          <p:cNvPr id="342" name="Google Shape;342;p29"/>
          <p:cNvSpPr txBox="1"/>
          <p:nvPr/>
        </p:nvSpPr>
        <p:spPr>
          <a:xfrm>
            <a:off x="8339708" y="1450662"/>
            <a:ext cx="778510" cy="3638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650">
                <a:latin typeface="Arial"/>
                <a:ea typeface="Arial"/>
                <a:cs typeface="Arial"/>
                <a:sym typeface="Arial"/>
              </a:rPr>
              <a:t>2024</a:t>
            </a:r>
            <a:endParaRPr sz="265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6" name="Shape 346"/>
        <p:cNvGrpSpPr/>
        <p:nvPr/>
      </p:nvGrpSpPr>
      <p:grpSpPr>
        <a:xfrm>
          <a:off x="0" y="0"/>
          <a:ext cx="0" cy="0"/>
          <a:chOff x="0" y="0"/>
          <a:chExt cx="0" cy="0"/>
        </a:xfrm>
      </p:grpSpPr>
      <p:sp>
        <p:nvSpPr>
          <p:cNvPr id="347" name="Google Shape;347;p30"/>
          <p:cNvSpPr txBox="1"/>
          <p:nvPr/>
        </p:nvSpPr>
        <p:spPr>
          <a:xfrm>
            <a:off x="1611083" y="1089117"/>
            <a:ext cx="10005695" cy="431800"/>
          </a:xfrm>
          <a:prstGeom prst="rect">
            <a:avLst/>
          </a:prstGeom>
          <a:noFill/>
          <a:ln>
            <a:noFill/>
          </a:ln>
        </p:spPr>
        <p:txBody>
          <a:bodyPr anchorCtr="0" anchor="t" bIns="0" lIns="0" spcFirstLastPara="1" rIns="0" wrap="square" tIns="0">
            <a:spAutoFit/>
          </a:bodyPr>
          <a:lstStyle/>
          <a:p>
            <a:pPr indent="0" lvl="0" marL="12700" marR="0" rtl="0" algn="l">
              <a:lnSpc>
                <a:spcPct val="118970"/>
              </a:lnSpc>
              <a:spcBef>
                <a:spcPts val="0"/>
              </a:spcBef>
              <a:spcAft>
                <a:spcPts val="0"/>
              </a:spcAft>
              <a:buNone/>
            </a:pPr>
            <a:r>
              <a:rPr b="1" lang="en-US" sz="3400">
                <a:latin typeface="Arial"/>
                <a:ea typeface="Arial"/>
                <a:cs typeface="Arial"/>
                <a:sym typeface="Arial"/>
              </a:rPr>
              <a:t>Des connaissances au service des compétences</a:t>
            </a:r>
            <a:endParaRPr sz="3400">
              <a:latin typeface="Arial"/>
              <a:ea typeface="Arial"/>
              <a:cs typeface="Arial"/>
              <a:sym typeface="Arial"/>
            </a:endParaRPr>
          </a:p>
        </p:txBody>
      </p:sp>
      <p:sp>
        <p:nvSpPr>
          <p:cNvPr id="348" name="Google Shape;348;p30"/>
          <p:cNvSpPr/>
          <p:nvPr/>
        </p:nvSpPr>
        <p:spPr>
          <a:xfrm>
            <a:off x="5594007" y="4854882"/>
            <a:ext cx="1724914" cy="172491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49" name="Google Shape;349;p30"/>
          <p:cNvSpPr txBox="1"/>
          <p:nvPr/>
        </p:nvSpPr>
        <p:spPr>
          <a:xfrm>
            <a:off x="5899823" y="5230858"/>
            <a:ext cx="1114425" cy="937894"/>
          </a:xfrm>
          <a:prstGeom prst="rect">
            <a:avLst/>
          </a:prstGeom>
          <a:noFill/>
          <a:ln>
            <a:noFill/>
          </a:ln>
        </p:spPr>
        <p:txBody>
          <a:bodyPr anchorCtr="0" anchor="t" bIns="0" lIns="0" spcFirstLastPara="1" rIns="0" wrap="square" tIns="0">
            <a:spAutoFit/>
          </a:bodyPr>
          <a:lstStyle/>
          <a:p>
            <a:pPr indent="1270" lvl="0" marL="12065" marR="5080" rtl="0" algn="ctr">
              <a:lnSpc>
                <a:spcPct val="86100"/>
              </a:lnSpc>
              <a:spcBef>
                <a:spcPts val="0"/>
              </a:spcBef>
              <a:spcAft>
                <a:spcPts val="0"/>
              </a:spcAft>
              <a:buNone/>
            </a:pPr>
            <a:r>
              <a:rPr b="1" lang="en-US" sz="1400">
                <a:latin typeface="Arial"/>
                <a:ea typeface="Arial"/>
                <a:cs typeface="Arial"/>
                <a:sym typeface="Arial"/>
              </a:rPr>
              <a:t>Analyser leurs usages et les interactions des OST</a:t>
            </a:r>
            <a:endParaRPr sz="1400">
              <a:latin typeface="Arial"/>
              <a:ea typeface="Arial"/>
              <a:cs typeface="Arial"/>
              <a:sym typeface="Arial"/>
            </a:endParaRPr>
          </a:p>
        </p:txBody>
      </p:sp>
      <p:sp>
        <p:nvSpPr>
          <p:cNvPr id="350" name="Google Shape;350;p30"/>
          <p:cNvSpPr/>
          <p:nvPr/>
        </p:nvSpPr>
        <p:spPr>
          <a:xfrm>
            <a:off x="4014127" y="5441609"/>
            <a:ext cx="1580133" cy="55143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1" name="Google Shape;351;p30"/>
          <p:cNvSpPr/>
          <p:nvPr/>
        </p:nvSpPr>
        <p:spPr>
          <a:xfrm>
            <a:off x="4057307" y="5464469"/>
            <a:ext cx="1496060" cy="4673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2" name="Google Shape;352;p30"/>
          <p:cNvSpPr/>
          <p:nvPr/>
        </p:nvSpPr>
        <p:spPr>
          <a:xfrm>
            <a:off x="3236887" y="5052989"/>
            <a:ext cx="1641094" cy="133121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3" name="Google Shape;353;p30"/>
          <p:cNvSpPr txBox="1"/>
          <p:nvPr/>
        </p:nvSpPr>
        <p:spPr>
          <a:xfrm>
            <a:off x="3511842" y="5480405"/>
            <a:ext cx="1094740" cy="439420"/>
          </a:xfrm>
          <a:prstGeom prst="rect">
            <a:avLst/>
          </a:prstGeom>
          <a:noFill/>
          <a:ln>
            <a:noFill/>
          </a:ln>
        </p:spPr>
        <p:txBody>
          <a:bodyPr anchorCtr="0" anchor="t" bIns="0" lIns="0" spcFirstLastPara="1" rIns="0" wrap="square" tIns="0">
            <a:spAutoFit/>
          </a:bodyPr>
          <a:lstStyle/>
          <a:p>
            <a:pPr indent="-45720" lvl="0" marL="58419" marR="5080" rtl="0" algn="l">
              <a:lnSpc>
                <a:spcPct val="103750"/>
              </a:lnSpc>
              <a:spcBef>
                <a:spcPts val="0"/>
              </a:spcBef>
              <a:spcAft>
                <a:spcPts val="0"/>
              </a:spcAft>
              <a:buNone/>
            </a:pPr>
            <a:r>
              <a:rPr lang="en-US" sz="1600">
                <a:latin typeface="Arial"/>
                <a:ea typeface="Arial"/>
                <a:cs typeface="Arial"/>
                <a:sym typeface="Arial"/>
              </a:rPr>
              <a:t>Histoire des techniques</a:t>
            </a:r>
            <a:endParaRPr sz="1600">
              <a:latin typeface="Arial"/>
              <a:ea typeface="Arial"/>
              <a:cs typeface="Arial"/>
              <a:sym typeface="Arial"/>
            </a:endParaRPr>
          </a:p>
        </p:txBody>
      </p:sp>
      <p:sp>
        <p:nvSpPr>
          <p:cNvPr id="354" name="Google Shape;354;p30"/>
          <p:cNvSpPr/>
          <p:nvPr/>
        </p:nvSpPr>
        <p:spPr>
          <a:xfrm>
            <a:off x="4618647" y="3879510"/>
            <a:ext cx="1239773" cy="123977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5" name="Google Shape;355;p30"/>
          <p:cNvSpPr/>
          <p:nvPr/>
        </p:nvSpPr>
        <p:spPr>
          <a:xfrm>
            <a:off x="4662208" y="3903131"/>
            <a:ext cx="1155953" cy="115595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6" name="Google Shape;356;p30"/>
          <p:cNvSpPr/>
          <p:nvPr/>
        </p:nvSpPr>
        <p:spPr>
          <a:xfrm>
            <a:off x="3937927" y="3356269"/>
            <a:ext cx="1643633" cy="133121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7" name="Google Shape;357;p30"/>
          <p:cNvSpPr txBox="1"/>
          <p:nvPr/>
        </p:nvSpPr>
        <p:spPr>
          <a:xfrm>
            <a:off x="4247806" y="3782792"/>
            <a:ext cx="1029969" cy="440055"/>
          </a:xfrm>
          <a:prstGeom prst="rect">
            <a:avLst/>
          </a:prstGeom>
          <a:noFill/>
          <a:ln>
            <a:noFill/>
          </a:ln>
        </p:spPr>
        <p:txBody>
          <a:bodyPr anchorCtr="0" anchor="t" bIns="0" lIns="0" spcFirstLastPara="1" rIns="0" wrap="square" tIns="0">
            <a:spAutoFit/>
          </a:bodyPr>
          <a:lstStyle/>
          <a:p>
            <a:pPr indent="0" lvl="0" marL="0" marR="0" rtl="0" algn="ctr">
              <a:lnSpc>
                <a:spcPct val="111812"/>
              </a:lnSpc>
              <a:spcBef>
                <a:spcPts val="0"/>
              </a:spcBef>
              <a:spcAft>
                <a:spcPts val="0"/>
              </a:spcAft>
              <a:buNone/>
            </a:pPr>
            <a:r>
              <a:rPr lang="en-US" sz="1600">
                <a:latin typeface="Arial"/>
                <a:ea typeface="Arial"/>
                <a:cs typeface="Arial"/>
                <a:sym typeface="Arial"/>
              </a:rPr>
              <a:t>Analyse du</a:t>
            </a:r>
            <a:endParaRPr sz="1600">
              <a:latin typeface="Arial"/>
              <a:ea typeface="Arial"/>
              <a:cs typeface="Arial"/>
              <a:sym typeface="Arial"/>
            </a:endParaRPr>
          </a:p>
          <a:p>
            <a:pPr indent="0" lvl="0" marL="0" marR="0" rtl="0" algn="ctr">
              <a:lnSpc>
                <a:spcPct val="111812"/>
              </a:lnSpc>
              <a:spcBef>
                <a:spcPts val="0"/>
              </a:spcBef>
              <a:spcAft>
                <a:spcPts val="0"/>
              </a:spcAft>
              <a:buNone/>
            </a:pPr>
            <a:r>
              <a:rPr lang="en-US" sz="1600">
                <a:latin typeface="Arial"/>
                <a:ea typeface="Arial"/>
                <a:cs typeface="Arial"/>
                <a:sym typeface="Arial"/>
              </a:rPr>
              <a:t>besoin</a:t>
            </a:r>
            <a:endParaRPr sz="1600">
              <a:latin typeface="Arial"/>
              <a:ea typeface="Arial"/>
              <a:cs typeface="Arial"/>
              <a:sym typeface="Arial"/>
            </a:endParaRPr>
          </a:p>
        </p:txBody>
      </p:sp>
      <p:sp>
        <p:nvSpPr>
          <p:cNvPr id="358" name="Google Shape;358;p30"/>
          <p:cNvSpPr/>
          <p:nvPr/>
        </p:nvSpPr>
        <p:spPr>
          <a:xfrm>
            <a:off x="6180747" y="3277529"/>
            <a:ext cx="551433" cy="157759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59" name="Google Shape;359;p30"/>
          <p:cNvSpPr/>
          <p:nvPr/>
        </p:nvSpPr>
        <p:spPr>
          <a:xfrm>
            <a:off x="6223927" y="3300389"/>
            <a:ext cx="467360" cy="1493520"/>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0" name="Google Shape;360;p30"/>
          <p:cNvSpPr/>
          <p:nvPr/>
        </p:nvSpPr>
        <p:spPr>
          <a:xfrm>
            <a:off x="5634647" y="2652689"/>
            <a:ext cx="1643633" cy="1331214"/>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1" name="Google Shape;361;p30"/>
          <p:cNvSpPr txBox="1"/>
          <p:nvPr/>
        </p:nvSpPr>
        <p:spPr>
          <a:xfrm>
            <a:off x="5878741" y="3079847"/>
            <a:ext cx="1161415" cy="440055"/>
          </a:xfrm>
          <a:prstGeom prst="rect">
            <a:avLst/>
          </a:prstGeom>
          <a:noFill/>
          <a:ln>
            <a:noFill/>
          </a:ln>
        </p:spPr>
        <p:txBody>
          <a:bodyPr anchorCtr="0" anchor="t" bIns="0" lIns="0" spcFirstLastPara="1" rIns="0" wrap="square" tIns="0">
            <a:spAutoFit/>
          </a:bodyPr>
          <a:lstStyle/>
          <a:p>
            <a:pPr indent="0" lvl="0" marL="0" marR="0" rtl="0" algn="ctr">
              <a:lnSpc>
                <a:spcPct val="111812"/>
              </a:lnSpc>
              <a:spcBef>
                <a:spcPts val="0"/>
              </a:spcBef>
              <a:spcAft>
                <a:spcPts val="0"/>
              </a:spcAft>
              <a:buNone/>
            </a:pPr>
            <a:r>
              <a:rPr lang="en-US" sz="1600">
                <a:latin typeface="Arial"/>
                <a:ea typeface="Arial"/>
                <a:cs typeface="Arial"/>
                <a:sym typeface="Arial"/>
              </a:rPr>
              <a:t>Analyse</a:t>
            </a:r>
            <a:endParaRPr sz="1600">
              <a:latin typeface="Arial"/>
              <a:ea typeface="Arial"/>
              <a:cs typeface="Arial"/>
              <a:sym typeface="Arial"/>
            </a:endParaRPr>
          </a:p>
          <a:p>
            <a:pPr indent="0" lvl="0" marL="0" marR="0" rtl="0" algn="ctr">
              <a:lnSpc>
                <a:spcPct val="111812"/>
              </a:lnSpc>
              <a:spcBef>
                <a:spcPts val="0"/>
              </a:spcBef>
              <a:spcAft>
                <a:spcPts val="0"/>
              </a:spcAft>
              <a:buNone/>
            </a:pPr>
            <a:r>
              <a:rPr lang="en-US" sz="1600">
                <a:latin typeface="Arial"/>
                <a:ea typeface="Arial"/>
                <a:cs typeface="Arial"/>
                <a:sym typeface="Arial"/>
              </a:rPr>
              <a:t>fonctionnelle</a:t>
            </a:r>
            <a:endParaRPr sz="1600">
              <a:latin typeface="Arial"/>
              <a:ea typeface="Arial"/>
              <a:cs typeface="Arial"/>
              <a:sym typeface="Arial"/>
            </a:endParaRPr>
          </a:p>
        </p:txBody>
      </p:sp>
      <p:sp>
        <p:nvSpPr>
          <p:cNvPr id="362" name="Google Shape;362;p30"/>
          <p:cNvSpPr/>
          <p:nvPr/>
        </p:nvSpPr>
        <p:spPr>
          <a:xfrm>
            <a:off x="7054507" y="3879510"/>
            <a:ext cx="1239773" cy="123977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3" name="Google Shape;363;p30"/>
          <p:cNvSpPr/>
          <p:nvPr/>
        </p:nvSpPr>
        <p:spPr>
          <a:xfrm>
            <a:off x="7097052" y="3903131"/>
            <a:ext cx="1155953" cy="1155954"/>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4" name="Google Shape;364;p30"/>
          <p:cNvSpPr/>
          <p:nvPr/>
        </p:nvSpPr>
        <p:spPr>
          <a:xfrm>
            <a:off x="7285647" y="3356269"/>
            <a:ext cx="1793494" cy="1331214"/>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5" name="Google Shape;365;p30"/>
          <p:cNvSpPr txBox="1"/>
          <p:nvPr/>
        </p:nvSpPr>
        <p:spPr>
          <a:xfrm>
            <a:off x="7438428" y="3782792"/>
            <a:ext cx="1433830" cy="440055"/>
          </a:xfrm>
          <a:prstGeom prst="rect">
            <a:avLst/>
          </a:prstGeom>
          <a:noFill/>
          <a:ln>
            <a:noFill/>
          </a:ln>
        </p:spPr>
        <p:txBody>
          <a:bodyPr anchorCtr="0" anchor="t" bIns="0" lIns="0" spcFirstLastPara="1" rIns="0" wrap="square" tIns="0">
            <a:spAutoFit/>
          </a:bodyPr>
          <a:lstStyle/>
          <a:p>
            <a:pPr indent="0" lvl="0" marL="0" marR="0" rtl="0" algn="ctr">
              <a:lnSpc>
                <a:spcPct val="111812"/>
              </a:lnSpc>
              <a:spcBef>
                <a:spcPts val="0"/>
              </a:spcBef>
              <a:spcAft>
                <a:spcPts val="0"/>
              </a:spcAft>
              <a:buNone/>
            </a:pPr>
            <a:r>
              <a:rPr lang="en-US" sz="1600">
                <a:latin typeface="Arial"/>
                <a:ea typeface="Arial"/>
                <a:cs typeface="Arial"/>
                <a:sym typeface="Arial"/>
              </a:rPr>
              <a:t>Communication</a:t>
            </a:r>
            <a:endParaRPr sz="1600">
              <a:latin typeface="Arial"/>
              <a:ea typeface="Arial"/>
              <a:cs typeface="Arial"/>
              <a:sym typeface="Arial"/>
            </a:endParaRPr>
          </a:p>
          <a:p>
            <a:pPr indent="0" lvl="0" marL="0" marR="0" rtl="0" algn="ctr">
              <a:lnSpc>
                <a:spcPct val="111812"/>
              </a:lnSpc>
              <a:spcBef>
                <a:spcPts val="0"/>
              </a:spcBef>
              <a:spcAft>
                <a:spcPts val="0"/>
              </a:spcAft>
              <a:buNone/>
            </a:pPr>
            <a:r>
              <a:rPr lang="en-US" sz="1600">
                <a:latin typeface="Arial"/>
                <a:ea typeface="Arial"/>
                <a:cs typeface="Arial"/>
                <a:sym typeface="Arial"/>
              </a:rPr>
              <a:t>technique</a:t>
            </a:r>
            <a:endParaRPr sz="1600">
              <a:latin typeface="Arial"/>
              <a:ea typeface="Arial"/>
              <a:cs typeface="Arial"/>
              <a:sym typeface="Arial"/>
            </a:endParaRPr>
          </a:p>
        </p:txBody>
      </p:sp>
      <p:sp>
        <p:nvSpPr>
          <p:cNvPr id="366" name="Google Shape;366;p30"/>
          <p:cNvSpPr/>
          <p:nvPr/>
        </p:nvSpPr>
        <p:spPr>
          <a:xfrm>
            <a:off x="7318667" y="5441609"/>
            <a:ext cx="1580133" cy="551433"/>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7" name="Google Shape;367;p30"/>
          <p:cNvSpPr/>
          <p:nvPr/>
        </p:nvSpPr>
        <p:spPr>
          <a:xfrm>
            <a:off x="7361847" y="5464469"/>
            <a:ext cx="1496059" cy="467360"/>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8" name="Google Shape;368;p30"/>
          <p:cNvSpPr/>
          <p:nvPr/>
        </p:nvSpPr>
        <p:spPr>
          <a:xfrm>
            <a:off x="8034947" y="5052989"/>
            <a:ext cx="1641094" cy="1331214"/>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69" name="Google Shape;369;p30"/>
          <p:cNvSpPr txBox="1"/>
          <p:nvPr/>
        </p:nvSpPr>
        <p:spPr>
          <a:xfrm>
            <a:off x="8275866" y="5480405"/>
            <a:ext cx="1163955" cy="439420"/>
          </a:xfrm>
          <a:prstGeom prst="rect">
            <a:avLst/>
          </a:prstGeom>
          <a:noFill/>
          <a:ln>
            <a:noFill/>
          </a:ln>
        </p:spPr>
        <p:txBody>
          <a:bodyPr anchorCtr="0" anchor="t" bIns="0" lIns="0" spcFirstLastPara="1" rIns="0" wrap="square" tIns="0">
            <a:spAutoFit/>
          </a:bodyPr>
          <a:lstStyle/>
          <a:p>
            <a:pPr indent="68580" lvl="0" marL="12700" marR="5080" rtl="0" algn="l">
              <a:lnSpc>
                <a:spcPct val="103750"/>
              </a:lnSpc>
              <a:spcBef>
                <a:spcPts val="0"/>
              </a:spcBef>
              <a:spcAft>
                <a:spcPts val="0"/>
              </a:spcAft>
              <a:buNone/>
            </a:pPr>
            <a:r>
              <a:rPr lang="en-US" sz="1600">
                <a:latin typeface="Arial"/>
                <a:ea typeface="Arial"/>
                <a:cs typeface="Arial"/>
                <a:sym typeface="Arial"/>
              </a:rPr>
              <a:t>Analyse du Cycle de Vie</a:t>
            </a:r>
            <a:endParaRPr sz="1600">
              <a:latin typeface="Arial"/>
              <a:ea typeface="Arial"/>
              <a:cs typeface="Arial"/>
              <a:sym typeface="Arial"/>
            </a:endParaRPr>
          </a:p>
        </p:txBody>
      </p:sp>
      <p:sp>
        <p:nvSpPr>
          <p:cNvPr id="370" name="Google Shape;370;p30"/>
          <p:cNvSpPr txBox="1"/>
          <p:nvPr/>
        </p:nvSpPr>
        <p:spPr>
          <a:xfrm>
            <a:off x="633704" y="4468183"/>
            <a:ext cx="2642235" cy="60833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2400">
                <a:solidFill>
                  <a:srgbClr val="FF0000"/>
                </a:solidFill>
                <a:latin typeface="Arial"/>
                <a:ea typeface="Arial"/>
                <a:cs typeface="Arial"/>
                <a:sym typeface="Arial"/>
              </a:rPr>
              <a:t>IA</a:t>
            </a:r>
            <a:endParaRPr sz="2400">
              <a:latin typeface="Arial"/>
              <a:ea typeface="Arial"/>
              <a:cs typeface="Arial"/>
              <a:sym typeface="Arial"/>
            </a:endParaRPr>
          </a:p>
          <a:p>
            <a:pPr indent="0" lvl="0" marL="12700" marR="0" rtl="0" algn="l">
              <a:lnSpc>
                <a:spcPct val="100000"/>
              </a:lnSpc>
              <a:spcBef>
                <a:spcPts val="20"/>
              </a:spcBef>
              <a:spcAft>
                <a:spcPts val="0"/>
              </a:spcAft>
              <a:buNone/>
            </a:pPr>
            <a:r>
              <a:rPr lang="en-US" sz="1800">
                <a:solidFill>
                  <a:srgbClr val="FF0000"/>
                </a:solidFill>
                <a:latin typeface="Arial"/>
                <a:ea typeface="Arial"/>
                <a:cs typeface="Arial"/>
                <a:sym typeface="Arial"/>
              </a:rPr>
              <a:t>Impacts sociétaux et biais</a:t>
            </a:r>
            <a:endParaRPr sz="1800">
              <a:latin typeface="Arial"/>
              <a:ea typeface="Arial"/>
              <a:cs typeface="Arial"/>
              <a:sym typeface="Arial"/>
            </a:endParaRPr>
          </a:p>
        </p:txBody>
      </p:sp>
      <p:sp>
        <p:nvSpPr>
          <p:cNvPr id="371" name="Google Shape;371;p30"/>
          <p:cNvSpPr/>
          <p:nvPr/>
        </p:nvSpPr>
        <p:spPr>
          <a:xfrm>
            <a:off x="1357287" y="5251110"/>
            <a:ext cx="1201420" cy="1198879"/>
          </a:xfrm>
          <a:prstGeom prst="rect">
            <a:avLst/>
          </a:prstGeom>
          <a:blipFill rotWithShape="1">
            <a:blip r:embed="rId1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72" name="Google Shape;372;p30"/>
          <p:cNvSpPr txBox="1"/>
          <p:nvPr/>
        </p:nvSpPr>
        <p:spPr>
          <a:xfrm>
            <a:off x="4062247" y="1778280"/>
            <a:ext cx="5149215" cy="81534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00">
                <a:latin typeface="Arial"/>
                <a:ea typeface="Arial"/>
                <a:cs typeface="Arial"/>
                <a:sym typeface="Arial"/>
              </a:rPr>
              <a:t>Pas d’outils de représentations normés préconisés</a:t>
            </a:r>
            <a:endParaRPr sz="1800">
              <a:latin typeface="Arial"/>
              <a:ea typeface="Arial"/>
              <a:cs typeface="Arial"/>
              <a:sym typeface="Arial"/>
            </a:endParaRPr>
          </a:p>
          <a:p>
            <a:pPr indent="0" lvl="0" marL="0" marR="349885" rtl="0" algn="ctr">
              <a:lnSpc>
                <a:spcPct val="100000"/>
              </a:lnSpc>
              <a:spcBef>
                <a:spcPts val="295"/>
              </a:spcBef>
              <a:spcAft>
                <a:spcPts val="0"/>
              </a:spcAft>
              <a:buNone/>
            </a:pPr>
            <a:r>
              <a:rPr lang="en-US" sz="1800">
                <a:latin typeface="Arial"/>
                <a:ea typeface="Arial"/>
                <a:cs typeface="Arial"/>
                <a:sym typeface="Arial"/>
              </a:rPr>
              <a:t>Transmettre les connaissances pour</a:t>
            </a:r>
            <a:endParaRPr sz="1800">
              <a:latin typeface="Arial"/>
              <a:ea typeface="Arial"/>
              <a:cs typeface="Arial"/>
              <a:sym typeface="Arial"/>
            </a:endParaRPr>
          </a:p>
          <a:p>
            <a:pPr indent="0" lvl="0" marL="0" marR="347345" rtl="0" algn="ctr">
              <a:lnSpc>
                <a:spcPct val="118888"/>
              </a:lnSpc>
              <a:spcBef>
                <a:spcPts val="0"/>
              </a:spcBef>
              <a:spcAft>
                <a:spcPts val="0"/>
              </a:spcAft>
              <a:buNone/>
            </a:pPr>
            <a:r>
              <a:rPr lang="en-US" sz="1800">
                <a:latin typeface="Arial"/>
                <a:ea typeface="Arial"/>
                <a:cs typeface="Arial"/>
                <a:sym typeface="Arial"/>
              </a:rPr>
              <a:t>décoder/compléter</a:t>
            </a:r>
            <a:endParaRPr sz="1800">
              <a:latin typeface="Arial"/>
              <a:ea typeface="Arial"/>
              <a:cs typeface="Arial"/>
              <a:sym typeface="Arial"/>
            </a:endParaRPr>
          </a:p>
        </p:txBody>
      </p:sp>
      <p:sp>
        <p:nvSpPr>
          <p:cNvPr id="373" name="Google Shape;373;p30"/>
          <p:cNvSpPr txBox="1"/>
          <p:nvPr/>
        </p:nvSpPr>
        <p:spPr>
          <a:xfrm>
            <a:off x="9033421" y="3188805"/>
            <a:ext cx="2594100" cy="5541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00">
                <a:latin typeface="Arial"/>
                <a:ea typeface="Arial"/>
                <a:cs typeface="Arial"/>
                <a:sym typeface="Arial"/>
              </a:rPr>
              <a:t>Importance de la </a:t>
            </a:r>
            <a:r>
              <a:rPr lang="en-US" sz="1800"/>
              <a:t>maîtrise</a:t>
            </a:r>
            <a:endParaRPr sz="1800">
              <a:latin typeface="Arial"/>
              <a:ea typeface="Arial"/>
              <a:cs typeface="Arial"/>
              <a:sym typeface="Arial"/>
            </a:endParaRPr>
          </a:p>
          <a:p>
            <a:pPr indent="0" lvl="0" marL="27940" marR="0" rtl="0" algn="l">
              <a:lnSpc>
                <a:spcPct val="100000"/>
              </a:lnSpc>
              <a:spcBef>
                <a:spcPts val="0"/>
              </a:spcBef>
              <a:spcAft>
                <a:spcPts val="0"/>
              </a:spcAft>
              <a:buNone/>
            </a:pPr>
            <a:r>
              <a:rPr lang="en-US" sz="1800">
                <a:latin typeface="Arial"/>
                <a:ea typeface="Arial"/>
                <a:cs typeface="Arial"/>
                <a:sym typeface="Arial"/>
              </a:rPr>
              <a:t>du vocabulaire technique</a:t>
            </a:r>
            <a:endParaRPr sz="1800">
              <a:latin typeface="Arial"/>
              <a:ea typeface="Arial"/>
              <a:cs typeface="Arial"/>
              <a:sym typeface="Arial"/>
            </a:endParaRPr>
          </a:p>
        </p:txBody>
      </p:sp>
      <p:sp>
        <p:nvSpPr>
          <p:cNvPr id="374" name="Google Shape;374;p30"/>
          <p:cNvSpPr txBox="1"/>
          <p:nvPr/>
        </p:nvSpPr>
        <p:spPr>
          <a:xfrm>
            <a:off x="9142412" y="4012146"/>
            <a:ext cx="2378710" cy="52895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800">
                <a:latin typeface="Arial"/>
                <a:ea typeface="Arial"/>
                <a:cs typeface="Arial"/>
                <a:sym typeface="Arial"/>
              </a:rPr>
              <a:t>Pas de représentations</a:t>
            </a:r>
            <a:endParaRPr sz="1800">
              <a:latin typeface="Arial"/>
              <a:ea typeface="Arial"/>
              <a:cs typeface="Arial"/>
              <a:sym typeface="Arial"/>
            </a:endParaRPr>
          </a:p>
          <a:p>
            <a:pPr indent="0" lvl="0" marL="0" marR="0" rtl="0" algn="ctr">
              <a:lnSpc>
                <a:spcPct val="100000"/>
              </a:lnSpc>
              <a:spcBef>
                <a:spcPts val="0"/>
              </a:spcBef>
              <a:spcAft>
                <a:spcPts val="0"/>
              </a:spcAft>
              <a:buNone/>
            </a:pPr>
            <a:r>
              <a:rPr lang="en-US" sz="1800">
                <a:latin typeface="Arial"/>
                <a:ea typeface="Arial"/>
                <a:cs typeface="Arial"/>
                <a:sym typeface="Arial"/>
              </a:rPr>
              <a:t>normées préconisées</a:t>
            </a:r>
            <a:endParaRPr sz="18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78" name="Shape 378"/>
        <p:cNvGrpSpPr/>
        <p:nvPr/>
      </p:nvGrpSpPr>
      <p:grpSpPr>
        <a:xfrm>
          <a:off x="0" y="0"/>
          <a:ext cx="0" cy="0"/>
          <a:chOff x="0" y="0"/>
          <a:chExt cx="0" cy="0"/>
        </a:xfrm>
      </p:grpSpPr>
      <p:sp>
        <p:nvSpPr>
          <p:cNvPr id="379" name="Google Shape;379;p31"/>
          <p:cNvSpPr txBox="1"/>
          <p:nvPr/>
        </p:nvSpPr>
        <p:spPr>
          <a:xfrm>
            <a:off x="1199603" y="802326"/>
            <a:ext cx="10005695" cy="431800"/>
          </a:xfrm>
          <a:prstGeom prst="rect">
            <a:avLst/>
          </a:prstGeom>
          <a:noFill/>
          <a:ln>
            <a:noFill/>
          </a:ln>
        </p:spPr>
        <p:txBody>
          <a:bodyPr anchorCtr="0" anchor="t" bIns="0" lIns="0" spcFirstLastPara="1" rIns="0" wrap="square" tIns="0">
            <a:spAutoFit/>
          </a:bodyPr>
          <a:lstStyle/>
          <a:p>
            <a:pPr indent="0" lvl="0" marL="12700" marR="0" rtl="0" algn="l">
              <a:lnSpc>
                <a:spcPct val="118970"/>
              </a:lnSpc>
              <a:spcBef>
                <a:spcPts val="0"/>
              </a:spcBef>
              <a:spcAft>
                <a:spcPts val="0"/>
              </a:spcAft>
              <a:buNone/>
            </a:pPr>
            <a:r>
              <a:rPr b="1" lang="en-US" sz="3400">
                <a:latin typeface="Arial"/>
                <a:ea typeface="Arial"/>
                <a:cs typeface="Arial"/>
                <a:sym typeface="Arial"/>
              </a:rPr>
              <a:t>Des connaissances au service des compétences</a:t>
            </a:r>
            <a:endParaRPr sz="3400">
              <a:latin typeface="Arial"/>
              <a:ea typeface="Arial"/>
              <a:cs typeface="Arial"/>
              <a:sym typeface="Arial"/>
            </a:endParaRPr>
          </a:p>
        </p:txBody>
      </p:sp>
      <p:sp>
        <p:nvSpPr>
          <p:cNvPr id="380" name="Google Shape;380;p31"/>
          <p:cNvSpPr/>
          <p:nvPr/>
        </p:nvSpPr>
        <p:spPr>
          <a:xfrm>
            <a:off x="3685308" y="5031052"/>
            <a:ext cx="1539494" cy="153949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1" name="Google Shape;381;p31"/>
          <p:cNvSpPr txBox="1"/>
          <p:nvPr/>
        </p:nvSpPr>
        <p:spPr>
          <a:xfrm>
            <a:off x="3943121" y="5410101"/>
            <a:ext cx="1026160" cy="744855"/>
          </a:xfrm>
          <a:prstGeom prst="rect">
            <a:avLst/>
          </a:prstGeom>
          <a:noFill/>
          <a:ln>
            <a:noFill/>
          </a:ln>
        </p:spPr>
        <p:txBody>
          <a:bodyPr anchorCtr="0" anchor="t" bIns="0" lIns="0" spcFirstLastPara="1" rIns="0" wrap="square" tIns="0">
            <a:spAutoFit/>
          </a:bodyPr>
          <a:lstStyle/>
          <a:p>
            <a:pPr indent="-4445" lvl="0" marL="12065" marR="5080" rtl="0" algn="ctr">
              <a:lnSpc>
                <a:spcPct val="86400"/>
              </a:lnSpc>
              <a:spcBef>
                <a:spcPts val="0"/>
              </a:spcBef>
              <a:spcAft>
                <a:spcPts val="0"/>
              </a:spcAft>
              <a:buNone/>
            </a:pPr>
            <a:r>
              <a:rPr lang="en-US" sz="1100">
                <a:latin typeface="Arial"/>
                <a:ea typeface="Arial"/>
                <a:cs typeface="Arial"/>
                <a:sym typeface="Arial"/>
              </a:rPr>
              <a:t>Comprendre la structure, fonctionnement, comportement d’un OST</a:t>
            </a:r>
            <a:endParaRPr sz="1100">
              <a:latin typeface="Arial"/>
              <a:ea typeface="Arial"/>
              <a:cs typeface="Arial"/>
              <a:sym typeface="Arial"/>
            </a:endParaRPr>
          </a:p>
        </p:txBody>
      </p:sp>
      <p:sp>
        <p:nvSpPr>
          <p:cNvPr id="382" name="Google Shape;382;p31"/>
          <p:cNvSpPr/>
          <p:nvPr/>
        </p:nvSpPr>
        <p:spPr>
          <a:xfrm>
            <a:off x="2278148" y="5551765"/>
            <a:ext cx="1415033" cy="498081"/>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3" name="Google Shape;383;p31"/>
          <p:cNvSpPr/>
          <p:nvPr/>
        </p:nvSpPr>
        <p:spPr>
          <a:xfrm>
            <a:off x="2321329" y="5574612"/>
            <a:ext cx="1330960" cy="414019"/>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4" name="Google Shape;384;p31"/>
          <p:cNvSpPr/>
          <p:nvPr/>
        </p:nvSpPr>
        <p:spPr>
          <a:xfrm>
            <a:off x="1584729" y="5203772"/>
            <a:ext cx="1468373" cy="119405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5" name="Google Shape;385;p31"/>
          <p:cNvSpPr txBox="1"/>
          <p:nvPr/>
        </p:nvSpPr>
        <p:spPr>
          <a:xfrm>
            <a:off x="1938172" y="5661664"/>
            <a:ext cx="767715" cy="2419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700">
                <a:latin typeface="Arial"/>
                <a:ea typeface="Arial"/>
                <a:cs typeface="Arial"/>
                <a:sym typeface="Arial"/>
              </a:rPr>
              <a:t>Energie</a:t>
            </a:r>
            <a:endParaRPr sz="1700">
              <a:latin typeface="Arial"/>
              <a:ea typeface="Arial"/>
              <a:cs typeface="Arial"/>
              <a:sym typeface="Arial"/>
            </a:endParaRPr>
          </a:p>
        </p:txBody>
      </p:sp>
      <p:sp>
        <p:nvSpPr>
          <p:cNvPr id="386" name="Google Shape;386;p31"/>
          <p:cNvSpPr/>
          <p:nvPr/>
        </p:nvSpPr>
        <p:spPr>
          <a:xfrm>
            <a:off x="2814089" y="4159832"/>
            <a:ext cx="1115314" cy="1115314"/>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7" name="Google Shape;387;p31"/>
          <p:cNvSpPr/>
          <p:nvPr/>
        </p:nvSpPr>
        <p:spPr>
          <a:xfrm>
            <a:off x="2858539" y="4184216"/>
            <a:ext cx="1029462" cy="1029588"/>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8" name="Google Shape;388;p31"/>
          <p:cNvSpPr/>
          <p:nvPr/>
        </p:nvSpPr>
        <p:spPr>
          <a:xfrm>
            <a:off x="2179089" y="3695000"/>
            <a:ext cx="1529333" cy="1191526"/>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89" name="Google Shape;389;p31"/>
          <p:cNvSpPr txBox="1"/>
          <p:nvPr/>
        </p:nvSpPr>
        <p:spPr>
          <a:xfrm>
            <a:off x="2337587" y="4151892"/>
            <a:ext cx="1214755" cy="241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700">
                <a:latin typeface="Arial"/>
                <a:ea typeface="Arial"/>
                <a:cs typeface="Arial"/>
                <a:sym typeface="Arial"/>
              </a:rPr>
              <a:t>Informations</a:t>
            </a:r>
            <a:endParaRPr sz="1700">
              <a:latin typeface="Arial"/>
              <a:ea typeface="Arial"/>
              <a:cs typeface="Arial"/>
              <a:sym typeface="Arial"/>
            </a:endParaRPr>
          </a:p>
        </p:txBody>
      </p:sp>
      <p:sp>
        <p:nvSpPr>
          <p:cNvPr id="390" name="Google Shape;390;p31"/>
          <p:cNvSpPr/>
          <p:nvPr/>
        </p:nvSpPr>
        <p:spPr>
          <a:xfrm>
            <a:off x="4206008" y="3623892"/>
            <a:ext cx="498081" cy="1415033"/>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1" name="Google Shape;391;p31"/>
          <p:cNvSpPr/>
          <p:nvPr/>
        </p:nvSpPr>
        <p:spPr>
          <a:xfrm>
            <a:off x="4249189" y="3646752"/>
            <a:ext cx="414020" cy="133095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2" name="Google Shape;392;p31"/>
          <p:cNvSpPr/>
          <p:nvPr/>
        </p:nvSpPr>
        <p:spPr>
          <a:xfrm>
            <a:off x="3720869" y="3070160"/>
            <a:ext cx="1468373" cy="1191526"/>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3" name="Google Shape;393;p31"/>
          <p:cNvSpPr txBox="1"/>
          <p:nvPr/>
        </p:nvSpPr>
        <p:spPr>
          <a:xfrm>
            <a:off x="4083837" y="3525906"/>
            <a:ext cx="745490" cy="24193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700">
                <a:latin typeface="Arial"/>
                <a:ea typeface="Arial"/>
                <a:cs typeface="Arial"/>
                <a:sym typeface="Arial"/>
              </a:rPr>
              <a:t>Matière</a:t>
            </a:r>
            <a:endParaRPr sz="1700">
              <a:latin typeface="Arial"/>
              <a:ea typeface="Arial"/>
              <a:cs typeface="Arial"/>
              <a:sym typeface="Arial"/>
            </a:endParaRPr>
          </a:p>
        </p:txBody>
      </p:sp>
      <p:sp>
        <p:nvSpPr>
          <p:cNvPr id="394" name="Google Shape;394;p31"/>
          <p:cNvSpPr/>
          <p:nvPr/>
        </p:nvSpPr>
        <p:spPr>
          <a:xfrm>
            <a:off x="4980708" y="4159832"/>
            <a:ext cx="1112773" cy="1115314"/>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5" name="Google Shape;395;p31"/>
          <p:cNvSpPr/>
          <p:nvPr/>
        </p:nvSpPr>
        <p:spPr>
          <a:xfrm>
            <a:off x="5023761" y="4184216"/>
            <a:ext cx="1029462" cy="1029588"/>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6" name="Google Shape;396;p31"/>
          <p:cNvSpPr/>
          <p:nvPr/>
        </p:nvSpPr>
        <p:spPr>
          <a:xfrm>
            <a:off x="5229629" y="3695000"/>
            <a:ext cx="1529333" cy="1191526"/>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7" name="Google Shape;397;p31"/>
          <p:cNvSpPr txBox="1"/>
          <p:nvPr/>
        </p:nvSpPr>
        <p:spPr>
          <a:xfrm>
            <a:off x="5390286" y="4040132"/>
            <a:ext cx="1151255" cy="464820"/>
          </a:xfrm>
          <a:prstGeom prst="rect">
            <a:avLst/>
          </a:prstGeom>
          <a:noFill/>
          <a:ln>
            <a:noFill/>
          </a:ln>
        </p:spPr>
        <p:txBody>
          <a:bodyPr anchorCtr="0" anchor="t" bIns="0" lIns="0" spcFirstLastPara="1" rIns="0" wrap="square" tIns="0">
            <a:spAutoFit/>
          </a:bodyPr>
          <a:lstStyle/>
          <a:p>
            <a:pPr indent="-96520" lvl="0" marL="109220" marR="5080" rtl="0" algn="l">
              <a:lnSpc>
                <a:spcPct val="103529"/>
              </a:lnSpc>
              <a:spcBef>
                <a:spcPts val="0"/>
              </a:spcBef>
              <a:spcAft>
                <a:spcPts val="0"/>
              </a:spcAft>
              <a:buNone/>
            </a:pPr>
            <a:r>
              <a:rPr lang="en-US" sz="1700">
                <a:latin typeface="Arial"/>
                <a:ea typeface="Arial"/>
                <a:cs typeface="Arial"/>
                <a:sym typeface="Arial"/>
              </a:rPr>
              <a:t>Vocabulaire technique</a:t>
            </a:r>
            <a:endParaRPr sz="1700">
              <a:latin typeface="Arial"/>
              <a:ea typeface="Arial"/>
              <a:cs typeface="Arial"/>
              <a:sym typeface="Arial"/>
            </a:endParaRPr>
          </a:p>
        </p:txBody>
      </p:sp>
      <p:sp>
        <p:nvSpPr>
          <p:cNvPr id="398" name="Google Shape;398;p31"/>
          <p:cNvSpPr/>
          <p:nvPr/>
        </p:nvSpPr>
        <p:spPr>
          <a:xfrm>
            <a:off x="5216929" y="5551765"/>
            <a:ext cx="1415033" cy="498081"/>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399" name="Google Shape;399;p31"/>
          <p:cNvSpPr/>
          <p:nvPr/>
        </p:nvSpPr>
        <p:spPr>
          <a:xfrm>
            <a:off x="5260109" y="5574612"/>
            <a:ext cx="1330959" cy="414019"/>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0" name="Google Shape;400;p31"/>
          <p:cNvSpPr/>
          <p:nvPr/>
        </p:nvSpPr>
        <p:spPr>
          <a:xfrm>
            <a:off x="5801129" y="5203772"/>
            <a:ext cx="1633473" cy="1214386"/>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01" name="Google Shape;401;p31"/>
          <p:cNvSpPr txBox="1"/>
          <p:nvPr/>
        </p:nvSpPr>
        <p:spPr>
          <a:xfrm>
            <a:off x="5959881" y="5326384"/>
            <a:ext cx="1260475" cy="912494"/>
          </a:xfrm>
          <a:prstGeom prst="rect">
            <a:avLst/>
          </a:prstGeom>
          <a:noFill/>
          <a:ln>
            <a:noFill/>
          </a:ln>
        </p:spPr>
        <p:txBody>
          <a:bodyPr anchorCtr="0" anchor="t" bIns="0" lIns="0" spcFirstLastPara="1" rIns="0" wrap="square" tIns="0">
            <a:spAutoFit/>
          </a:bodyPr>
          <a:lstStyle/>
          <a:p>
            <a:pPr indent="1905" lvl="0" marL="12065" marR="5080" rtl="0" algn="ctr">
              <a:lnSpc>
                <a:spcPct val="86300"/>
              </a:lnSpc>
              <a:spcBef>
                <a:spcPts val="0"/>
              </a:spcBef>
              <a:spcAft>
                <a:spcPts val="0"/>
              </a:spcAft>
              <a:buNone/>
            </a:pPr>
            <a:r>
              <a:rPr lang="en-US" sz="1700">
                <a:latin typeface="Arial"/>
                <a:ea typeface="Arial"/>
                <a:cs typeface="Arial"/>
                <a:sym typeface="Arial"/>
              </a:rPr>
              <a:t>Procédés de fabrication et de réparation</a:t>
            </a:r>
            <a:endParaRPr sz="1700">
              <a:latin typeface="Arial"/>
              <a:ea typeface="Arial"/>
              <a:cs typeface="Arial"/>
              <a:sym typeface="Arial"/>
            </a:endParaRPr>
          </a:p>
        </p:txBody>
      </p:sp>
      <p:sp>
        <p:nvSpPr>
          <p:cNvPr id="402" name="Google Shape;402;p31"/>
          <p:cNvSpPr txBox="1"/>
          <p:nvPr/>
        </p:nvSpPr>
        <p:spPr>
          <a:xfrm>
            <a:off x="1181821" y="3578273"/>
            <a:ext cx="842644" cy="2622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Réseau</a:t>
            </a:r>
            <a:endParaRPr sz="1850">
              <a:latin typeface="Arial"/>
              <a:ea typeface="Arial"/>
              <a:cs typeface="Arial"/>
              <a:sym typeface="Arial"/>
            </a:endParaRPr>
          </a:p>
        </p:txBody>
      </p:sp>
      <p:sp>
        <p:nvSpPr>
          <p:cNvPr id="403" name="Google Shape;403;p31"/>
          <p:cNvSpPr txBox="1"/>
          <p:nvPr/>
        </p:nvSpPr>
        <p:spPr>
          <a:xfrm>
            <a:off x="1023071" y="4282110"/>
            <a:ext cx="1024890" cy="2616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b="1" lang="en-US" sz="1850">
                <a:solidFill>
                  <a:srgbClr val="FF0000"/>
                </a:solidFill>
                <a:latin typeface="Arial"/>
                <a:ea typeface="Arial"/>
                <a:cs typeface="Arial"/>
                <a:sym typeface="Arial"/>
              </a:rPr>
              <a:t>Données</a:t>
            </a:r>
            <a:endParaRPr sz="1850">
              <a:latin typeface="Arial"/>
              <a:ea typeface="Arial"/>
              <a:cs typeface="Arial"/>
              <a:sym typeface="Arial"/>
            </a:endParaRPr>
          </a:p>
        </p:txBody>
      </p:sp>
      <p:sp>
        <p:nvSpPr>
          <p:cNvPr id="404" name="Google Shape;404;p31"/>
          <p:cNvSpPr txBox="1"/>
          <p:nvPr/>
        </p:nvSpPr>
        <p:spPr>
          <a:xfrm>
            <a:off x="2253383" y="3209595"/>
            <a:ext cx="1161415" cy="2616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Algorithme</a:t>
            </a:r>
            <a:endParaRPr sz="1850">
              <a:latin typeface="Arial"/>
              <a:ea typeface="Arial"/>
              <a:cs typeface="Arial"/>
              <a:sym typeface="Arial"/>
            </a:endParaRPr>
          </a:p>
        </p:txBody>
      </p:sp>
      <p:sp>
        <p:nvSpPr>
          <p:cNvPr id="405" name="Google Shape;405;p31"/>
          <p:cNvSpPr txBox="1"/>
          <p:nvPr/>
        </p:nvSpPr>
        <p:spPr>
          <a:xfrm>
            <a:off x="3850663" y="2334819"/>
            <a:ext cx="1307465" cy="546100"/>
          </a:xfrm>
          <a:prstGeom prst="rect">
            <a:avLst/>
          </a:prstGeom>
          <a:noFill/>
          <a:ln>
            <a:noFill/>
          </a:ln>
        </p:spPr>
        <p:txBody>
          <a:bodyPr anchorCtr="0" anchor="t" bIns="0" lIns="0" spcFirstLastPara="1" rIns="0" wrap="square" tIns="0">
            <a:spAutoFit/>
          </a:bodyPr>
          <a:lstStyle/>
          <a:p>
            <a:pPr indent="101600" lvl="0" marL="12700" marR="5080" rtl="0" algn="l">
              <a:lnSpc>
                <a:spcPct val="100899"/>
              </a:lnSpc>
              <a:spcBef>
                <a:spcPts val="0"/>
              </a:spcBef>
              <a:spcAft>
                <a:spcPts val="0"/>
              </a:spcAft>
              <a:buNone/>
            </a:pPr>
            <a:r>
              <a:rPr lang="en-US" sz="1850">
                <a:latin typeface="Arial"/>
                <a:ea typeface="Arial"/>
                <a:cs typeface="Arial"/>
                <a:sym typeface="Arial"/>
              </a:rPr>
              <a:t>Propriétés mécaniques</a:t>
            </a:r>
            <a:endParaRPr sz="1850">
              <a:latin typeface="Arial"/>
              <a:ea typeface="Arial"/>
              <a:cs typeface="Arial"/>
              <a:sym typeface="Arial"/>
            </a:endParaRPr>
          </a:p>
        </p:txBody>
      </p:sp>
      <p:sp>
        <p:nvSpPr>
          <p:cNvPr id="406" name="Google Shape;406;p31"/>
          <p:cNvSpPr txBox="1"/>
          <p:nvPr/>
        </p:nvSpPr>
        <p:spPr>
          <a:xfrm>
            <a:off x="777643" y="4799000"/>
            <a:ext cx="713105" cy="2616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Forme</a:t>
            </a:r>
            <a:endParaRPr sz="1850">
              <a:latin typeface="Arial"/>
              <a:ea typeface="Arial"/>
              <a:cs typeface="Arial"/>
              <a:sym typeface="Arial"/>
            </a:endParaRPr>
          </a:p>
        </p:txBody>
      </p:sp>
      <p:sp>
        <p:nvSpPr>
          <p:cNvPr id="407" name="Google Shape;407;p31"/>
          <p:cNvSpPr txBox="1"/>
          <p:nvPr/>
        </p:nvSpPr>
        <p:spPr>
          <a:xfrm>
            <a:off x="282978" y="5340274"/>
            <a:ext cx="1224915" cy="2616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Conversion</a:t>
            </a:r>
            <a:endParaRPr sz="1850">
              <a:latin typeface="Arial"/>
              <a:ea typeface="Arial"/>
              <a:cs typeface="Arial"/>
              <a:sym typeface="Arial"/>
            </a:endParaRPr>
          </a:p>
        </p:txBody>
      </p:sp>
      <p:sp>
        <p:nvSpPr>
          <p:cNvPr id="408" name="Google Shape;408;p31"/>
          <p:cNvSpPr txBox="1"/>
          <p:nvPr/>
        </p:nvSpPr>
        <p:spPr>
          <a:xfrm>
            <a:off x="6638694" y="1357577"/>
            <a:ext cx="4740275" cy="581660"/>
          </a:xfrm>
          <a:prstGeom prst="rect">
            <a:avLst/>
          </a:prstGeom>
          <a:noFill/>
          <a:ln>
            <a:noFill/>
          </a:ln>
        </p:spPr>
        <p:txBody>
          <a:bodyPr anchorCtr="0" anchor="t" bIns="0" lIns="0" spcFirstLastPara="1" rIns="0" wrap="square" tIns="0">
            <a:spAutoFit/>
          </a:bodyPr>
          <a:lstStyle/>
          <a:p>
            <a:pPr indent="0" lvl="0" marL="12700" marR="5080" rtl="0" algn="l">
              <a:lnSpc>
                <a:spcPct val="107500"/>
              </a:lnSpc>
              <a:spcBef>
                <a:spcPts val="0"/>
              </a:spcBef>
              <a:spcAft>
                <a:spcPts val="0"/>
              </a:spcAft>
              <a:buNone/>
            </a:pPr>
            <a:r>
              <a:rPr lang="en-US" sz="2000">
                <a:latin typeface="Calibri"/>
                <a:ea typeface="Calibri"/>
                <a:cs typeface="Calibri"/>
                <a:sym typeface="Calibri"/>
              </a:rPr>
              <a:t>Ce qui évolue : Transmettre les connaissances pour faire un choix critérié :</a:t>
            </a:r>
            <a:endParaRPr sz="2000">
              <a:latin typeface="Calibri"/>
              <a:ea typeface="Calibri"/>
              <a:cs typeface="Calibri"/>
              <a:sym typeface="Calibri"/>
            </a:endParaRPr>
          </a:p>
        </p:txBody>
      </p:sp>
      <p:sp>
        <p:nvSpPr>
          <p:cNvPr id="409" name="Google Shape;409;p31"/>
          <p:cNvSpPr txBox="1"/>
          <p:nvPr/>
        </p:nvSpPr>
        <p:spPr>
          <a:xfrm>
            <a:off x="6638694" y="2084191"/>
            <a:ext cx="4783455" cy="1374775"/>
          </a:xfrm>
          <a:prstGeom prst="rect">
            <a:avLst/>
          </a:prstGeom>
          <a:noFill/>
          <a:ln>
            <a:noFill/>
          </a:ln>
        </p:spPr>
        <p:txBody>
          <a:bodyPr anchorCtr="0" anchor="t" bIns="0" lIns="0" spcFirstLastPara="1" rIns="0" wrap="square" tIns="0">
            <a:spAutoFit/>
          </a:bodyPr>
          <a:lstStyle/>
          <a:p>
            <a:pPr indent="-287020" lvl="0" marL="299720" marR="5080" rtl="0" algn="l">
              <a:lnSpc>
                <a:spcPct val="107500"/>
              </a:lnSpc>
              <a:spcBef>
                <a:spcPts val="0"/>
              </a:spcBef>
              <a:spcAft>
                <a:spcPts val="0"/>
              </a:spcAft>
              <a:buSzPts val="2000"/>
              <a:buFont typeface="Arial"/>
              <a:buChar char="•"/>
            </a:pPr>
            <a:r>
              <a:rPr lang="en-US" sz="2000">
                <a:latin typeface="Calibri"/>
                <a:ea typeface="Calibri"/>
                <a:cs typeface="Calibri"/>
                <a:sym typeface="Calibri"/>
              </a:rPr>
              <a:t>d’un matériau (propriétés, caractéristiques, domaines d’application),</a:t>
            </a:r>
            <a:endParaRPr sz="2000">
              <a:latin typeface="Calibri"/>
              <a:ea typeface="Calibri"/>
              <a:cs typeface="Calibri"/>
              <a:sym typeface="Calibri"/>
            </a:endParaRPr>
          </a:p>
          <a:p>
            <a:pPr indent="-287020" lvl="0" marL="299720" marR="0" rtl="0" algn="l">
              <a:lnSpc>
                <a:spcPct val="100000"/>
              </a:lnSpc>
              <a:spcBef>
                <a:spcPts val="960"/>
              </a:spcBef>
              <a:spcAft>
                <a:spcPts val="0"/>
              </a:spcAft>
              <a:buSzPts val="2000"/>
              <a:buFont typeface="Arial"/>
              <a:buChar char="•"/>
            </a:pPr>
            <a:r>
              <a:rPr lang="en-US" sz="2000">
                <a:latin typeface="Calibri"/>
                <a:ea typeface="Calibri"/>
                <a:cs typeface="Calibri"/>
                <a:sym typeface="Calibri"/>
              </a:rPr>
              <a:t>d’une source et d’une conversion d’énergie</a:t>
            </a:r>
            <a:endParaRPr sz="2000">
              <a:latin typeface="Calibri"/>
              <a:ea typeface="Calibri"/>
              <a:cs typeface="Calibri"/>
              <a:sym typeface="Calibri"/>
            </a:endParaRPr>
          </a:p>
          <a:p>
            <a:pPr indent="0" lvl="0" marL="299720" marR="0" rtl="0" algn="l">
              <a:lnSpc>
                <a:spcPct val="100000"/>
              </a:lnSpc>
              <a:spcBef>
                <a:spcPts val="160"/>
              </a:spcBef>
              <a:spcAft>
                <a:spcPts val="0"/>
              </a:spcAft>
              <a:buNone/>
            </a:pPr>
            <a:r>
              <a:rPr lang="en-US" sz="2000">
                <a:latin typeface="Calibri"/>
                <a:ea typeface="Calibri"/>
                <a:cs typeface="Calibri"/>
                <a:sym typeface="Calibri"/>
              </a:rPr>
              <a:t>pour la réalisation ou l’évolution d’un OST</a:t>
            </a:r>
            <a:endParaRPr sz="2000">
              <a:latin typeface="Calibri"/>
              <a:ea typeface="Calibri"/>
              <a:cs typeface="Calibri"/>
              <a:sym typeface="Calibri"/>
            </a:endParaRPr>
          </a:p>
        </p:txBody>
      </p:sp>
      <p:sp>
        <p:nvSpPr>
          <p:cNvPr id="410" name="Google Shape;410;p31"/>
          <p:cNvSpPr txBox="1"/>
          <p:nvPr/>
        </p:nvSpPr>
        <p:spPr>
          <a:xfrm>
            <a:off x="7937903" y="4308604"/>
            <a:ext cx="3143885" cy="546100"/>
          </a:xfrm>
          <a:prstGeom prst="rect">
            <a:avLst/>
          </a:prstGeom>
          <a:noFill/>
          <a:ln>
            <a:noFill/>
          </a:ln>
        </p:spPr>
        <p:txBody>
          <a:bodyPr anchorCtr="0" anchor="t" bIns="0" lIns="0" spcFirstLastPara="1" rIns="0" wrap="square" tIns="0">
            <a:spAutoFit/>
          </a:bodyPr>
          <a:lstStyle/>
          <a:p>
            <a:pPr indent="0" lvl="0" marL="12700" marR="5080" rtl="0" algn="l">
              <a:lnSpc>
                <a:spcPct val="106500"/>
              </a:lnSpc>
              <a:spcBef>
                <a:spcPts val="0"/>
              </a:spcBef>
              <a:spcAft>
                <a:spcPts val="0"/>
              </a:spcAft>
              <a:buNone/>
            </a:pPr>
            <a:r>
              <a:rPr lang="en-US" sz="1800">
                <a:latin typeface="Arial"/>
                <a:ea typeface="Arial"/>
                <a:cs typeface="Arial"/>
                <a:sym typeface="Arial"/>
              </a:rPr>
              <a:t>Ce qui évolue, transmettre des connaissances pour</a:t>
            </a:r>
            <a:endParaRPr sz="1800">
              <a:latin typeface="Arial"/>
              <a:ea typeface="Arial"/>
              <a:cs typeface="Arial"/>
              <a:sym typeface="Arial"/>
            </a:endParaRPr>
          </a:p>
        </p:txBody>
      </p:sp>
      <p:sp>
        <p:nvSpPr>
          <p:cNvPr id="411" name="Google Shape;411;p31"/>
          <p:cNvSpPr txBox="1"/>
          <p:nvPr/>
        </p:nvSpPr>
        <p:spPr>
          <a:xfrm>
            <a:off x="7937903" y="4997325"/>
            <a:ext cx="3414395" cy="1428115"/>
          </a:xfrm>
          <a:prstGeom prst="rect">
            <a:avLst/>
          </a:prstGeom>
          <a:noFill/>
          <a:ln>
            <a:noFill/>
          </a:ln>
        </p:spPr>
        <p:txBody>
          <a:bodyPr anchorCtr="0" anchor="t" bIns="0" lIns="0" spcFirstLastPara="1" rIns="0" wrap="square" tIns="0">
            <a:spAutoFit/>
          </a:bodyPr>
          <a:lstStyle/>
          <a:p>
            <a:pPr indent="-287020" lvl="0" marL="299720" marR="5080" rtl="0" algn="l">
              <a:lnSpc>
                <a:spcPct val="107000"/>
              </a:lnSpc>
              <a:spcBef>
                <a:spcPts val="0"/>
              </a:spcBef>
              <a:spcAft>
                <a:spcPts val="0"/>
              </a:spcAft>
              <a:buSzPts val="1800"/>
              <a:buFont typeface="Arial"/>
              <a:buChar char="•"/>
            </a:pPr>
            <a:r>
              <a:rPr lang="en-US" sz="1800">
                <a:latin typeface="Arial"/>
                <a:ea typeface="Arial"/>
                <a:cs typeface="Arial"/>
                <a:sym typeface="Arial"/>
              </a:rPr>
              <a:t>Mettre en forme, structurer, traiter,	transmission des données pour faire fonctionner des OST mobilisant des programmes informatiques</a:t>
            </a:r>
            <a:endParaRPr sz="18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5" name="Shape 415"/>
        <p:cNvGrpSpPr/>
        <p:nvPr/>
      </p:nvGrpSpPr>
      <p:grpSpPr>
        <a:xfrm>
          <a:off x="0" y="0"/>
          <a:ext cx="0" cy="0"/>
          <a:chOff x="0" y="0"/>
          <a:chExt cx="0" cy="0"/>
        </a:xfrm>
      </p:grpSpPr>
      <p:sp>
        <p:nvSpPr>
          <p:cNvPr id="416" name="Google Shape;416;p32"/>
          <p:cNvSpPr txBox="1"/>
          <p:nvPr/>
        </p:nvSpPr>
        <p:spPr>
          <a:xfrm>
            <a:off x="1237005" y="864670"/>
            <a:ext cx="10005695" cy="431800"/>
          </a:xfrm>
          <a:prstGeom prst="rect">
            <a:avLst/>
          </a:prstGeom>
          <a:noFill/>
          <a:ln>
            <a:noFill/>
          </a:ln>
        </p:spPr>
        <p:txBody>
          <a:bodyPr anchorCtr="0" anchor="t" bIns="0" lIns="0" spcFirstLastPara="1" rIns="0" wrap="square" tIns="0">
            <a:spAutoFit/>
          </a:bodyPr>
          <a:lstStyle/>
          <a:p>
            <a:pPr indent="0" lvl="0" marL="12700" marR="0" rtl="0" algn="l">
              <a:lnSpc>
                <a:spcPct val="118970"/>
              </a:lnSpc>
              <a:spcBef>
                <a:spcPts val="0"/>
              </a:spcBef>
              <a:spcAft>
                <a:spcPts val="0"/>
              </a:spcAft>
              <a:buNone/>
            </a:pPr>
            <a:r>
              <a:rPr b="1" lang="en-US" sz="3400">
                <a:latin typeface="Arial"/>
                <a:ea typeface="Arial"/>
                <a:cs typeface="Arial"/>
                <a:sym typeface="Arial"/>
              </a:rPr>
              <a:t>Des connaissances au service des compétences</a:t>
            </a:r>
            <a:endParaRPr sz="3400">
              <a:latin typeface="Arial"/>
              <a:ea typeface="Arial"/>
              <a:cs typeface="Arial"/>
              <a:sym typeface="Arial"/>
            </a:endParaRPr>
          </a:p>
        </p:txBody>
      </p:sp>
      <p:sp>
        <p:nvSpPr>
          <p:cNvPr id="417" name="Google Shape;417;p32"/>
          <p:cNvSpPr/>
          <p:nvPr/>
        </p:nvSpPr>
        <p:spPr>
          <a:xfrm>
            <a:off x="5170516" y="4643831"/>
            <a:ext cx="1948433" cy="194843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18" name="Google Shape;418;p32"/>
          <p:cNvSpPr txBox="1"/>
          <p:nvPr/>
        </p:nvSpPr>
        <p:spPr>
          <a:xfrm>
            <a:off x="5514937" y="5194915"/>
            <a:ext cx="1264920" cy="805815"/>
          </a:xfrm>
          <a:prstGeom prst="rect">
            <a:avLst/>
          </a:prstGeom>
          <a:noFill/>
          <a:ln>
            <a:noFill/>
          </a:ln>
        </p:spPr>
        <p:txBody>
          <a:bodyPr anchorCtr="0" anchor="t" bIns="0" lIns="0" spcFirstLastPara="1" rIns="0" wrap="square" tIns="0">
            <a:spAutoFit/>
          </a:bodyPr>
          <a:lstStyle/>
          <a:p>
            <a:pPr indent="-15875" lvl="0" marL="27940" marR="5080" rtl="0" algn="just">
              <a:lnSpc>
                <a:spcPct val="86300"/>
              </a:lnSpc>
              <a:spcBef>
                <a:spcPts val="0"/>
              </a:spcBef>
              <a:spcAft>
                <a:spcPts val="0"/>
              </a:spcAft>
              <a:buNone/>
            </a:pPr>
            <a:r>
              <a:rPr b="1" lang="en-US" sz="2000">
                <a:latin typeface="Arial"/>
                <a:ea typeface="Arial"/>
                <a:cs typeface="Arial"/>
                <a:sym typeface="Arial"/>
              </a:rPr>
              <a:t>Concevoir et réaliser des OST</a:t>
            </a:r>
            <a:endParaRPr sz="2000">
              <a:latin typeface="Arial"/>
              <a:ea typeface="Arial"/>
              <a:cs typeface="Arial"/>
              <a:sym typeface="Arial"/>
            </a:endParaRPr>
          </a:p>
        </p:txBody>
      </p:sp>
      <p:sp>
        <p:nvSpPr>
          <p:cNvPr id="419" name="Google Shape;419;p32"/>
          <p:cNvSpPr/>
          <p:nvPr/>
        </p:nvSpPr>
        <p:spPr>
          <a:xfrm>
            <a:off x="3369656" y="5309298"/>
            <a:ext cx="1788414" cy="61493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0" name="Google Shape;420;p32"/>
          <p:cNvSpPr/>
          <p:nvPr/>
        </p:nvSpPr>
        <p:spPr>
          <a:xfrm>
            <a:off x="3412836" y="5332158"/>
            <a:ext cx="1704339" cy="530860"/>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1" name="Google Shape;421;p32"/>
          <p:cNvSpPr/>
          <p:nvPr/>
        </p:nvSpPr>
        <p:spPr>
          <a:xfrm>
            <a:off x="2483196" y="4864798"/>
            <a:ext cx="1856994" cy="150393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2" name="Google Shape;422;p32"/>
          <p:cNvSpPr txBox="1"/>
          <p:nvPr/>
        </p:nvSpPr>
        <p:spPr>
          <a:xfrm>
            <a:off x="2864192" y="5471659"/>
            <a:ext cx="1095375" cy="2540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00">
                <a:latin typeface="Arial"/>
                <a:ea typeface="Arial"/>
                <a:cs typeface="Arial"/>
                <a:sym typeface="Arial"/>
              </a:rPr>
              <a:t>Simulation</a:t>
            </a:r>
            <a:endParaRPr sz="1800">
              <a:latin typeface="Arial"/>
              <a:ea typeface="Arial"/>
              <a:cs typeface="Arial"/>
              <a:sym typeface="Arial"/>
            </a:endParaRPr>
          </a:p>
        </p:txBody>
      </p:sp>
      <p:sp>
        <p:nvSpPr>
          <p:cNvPr id="423" name="Google Shape;423;p32"/>
          <p:cNvSpPr/>
          <p:nvPr/>
        </p:nvSpPr>
        <p:spPr>
          <a:xfrm>
            <a:off x="4057996" y="3528758"/>
            <a:ext cx="1402333" cy="140233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4" name="Google Shape;424;p32"/>
          <p:cNvSpPr/>
          <p:nvPr/>
        </p:nvSpPr>
        <p:spPr>
          <a:xfrm>
            <a:off x="4100541" y="3552634"/>
            <a:ext cx="1317625" cy="1317752"/>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5" name="Google Shape;425;p32"/>
          <p:cNvSpPr/>
          <p:nvPr/>
        </p:nvSpPr>
        <p:spPr>
          <a:xfrm>
            <a:off x="3283296" y="2931858"/>
            <a:ext cx="1856994" cy="1503933"/>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6" name="Google Shape;426;p32"/>
          <p:cNvSpPr txBox="1"/>
          <p:nvPr/>
        </p:nvSpPr>
        <p:spPr>
          <a:xfrm>
            <a:off x="3586188" y="3538084"/>
            <a:ext cx="1254760" cy="2540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00">
                <a:latin typeface="Arial"/>
                <a:ea typeface="Arial"/>
                <a:cs typeface="Arial"/>
                <a:sym typeface="Arial"/>
              </a:rPr>
              <a:t>Prototypage</a:t>
            </a:r>
            <a:endParaRPr sz="1800">
              <a:latin typeface="Arial"/>
              <a:ea typeface="Arial"/>
              <a:cs typeface="Arial"/>
              <a:sym typeface="Arial"/>
            </a:endParaRPr>
          </a:p>
        </p:txBody>
      </p:sp>
      <p:sp>
        <p:nvSpPr>
          <p:cNvPr id="427" name="Google Shape;427;p32"/>
          <p:cNvSpPr/>
          <p:nvPr/>
        </p:nvSpPr>
        <p:spPr>
          <a:xfrm>
            <a:off x="5838537" y="2840418"/>
            <a:ext cx="612381" cy="179095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8" name="Google Shape;428;p32"/>
          <p:cNvSpPr/>
          <p:nvPr/>
        </p:nvSpPr>
        <p:spPr>
          <a:xfrm>
            <a:off x="5881716" y="2863278"/>
            <a:ext cx="528320" cy="1706879"/>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29" name="Google Shape;429;p32"/>
          <p:cNvSpPr/>
          <p:nvPr/>
        </p:nvSpPr>
        <p:spPr>
          <a:xfrm>
            <a:off x="5216237" y="2131758"/>
            <a:ext cx="1856994" cy="1503933"/>
          </a:xfrm>
          <a:prstGeom prst="rect">
            <a:avLst/>
          </a:prstGeom>
          <a:blipFill rotWithShape="1">
            <a:blip r:embed="rId12">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0" name="Google Shape;430;p32"/>
          <p:cNvSpPr txBox="1"/>
          <p:nvPr/>
        </p:nvSpPr>
        <p:spPr>
          <a:xfrm>
            <a:off x="5580722" y="2618731"/>
            <a:ext cx="1130935" cy="490855"/>
          </a:xfrm>
          <a:prstGeom prst="rect">
            <a:avLst/>
          </a:prstGeom>
          <a:noFill/>
          <a:ln>
            <a:noFill/>
          </a:ln>
        </p:spPr>
        <p:txBody>
          <a:bodyPr anchorCtr="0" anchor="t" bIns="0" lIns="0" spcFirstLastPara="1" rIns="0" wrap="square" tIns="0">
            <a:spAutoFit/>
          </a:bodyPr>
          <a:lstStyle/>
          <a:p>
            <a:pPr indent="0" lvl="0" marL="0" marR="0" rtl="0" algn="ctr">
              <a:lnSpc>
                <a:spcPct val="111666"/>
              </a:lnSpc>
              <a:spcBef>
                <a:spcPts val="0"/>
              </a:spcBef>
              <a:spcAft>
                <a:spcPts val="0"/>
              </a:spcAft>
              <a:buNone/>
            </a:pPr>
            <a:r>
              <a:rPr lang="en-US" sz="1800">
                <a:latin typeface="Arial"/>
                <a:ea typeface="Arial"/>
                <a:cs typeface="Arial"/>
                <a:sym typeface="Arial"/>
              </a:rPr>
              <a:t>Travail</a:t>
            </a:r>
            <a:endParaRPr sz="1800">
              <a:latin typeface="Arial"/>
              <a:ea typeface="Arial"/>
              <a:cs typeface="Arial"/>
              <a:sym typeface="Arial"/>
            </a:endParaRPr>
          </a:p>
          <a:p>
            <a:pPr indent="0" lvl="0" marL="0" marR="0" rtl="0" algn="ctr">
              <a:lnSpc>
                <a:spcPct val="111666"/>
              </a:lnSpc>
              <a:spcBef>
                <a:spcPts val="0"/>
              </a:spcBef>
              <a:spcAft>
                <a:spcPts val="0"/>
              </a:spcAft>
              <a:buNone/>
            </a:pPr>
            <a:r>
              <a:rPr lang="en-US" sz="1800">
                <a:latin typeface="Arial"/>
                <a:ea typeface="Arial"/>
                <a:cs typeface="Arial"/>
                <a:sym typeface="Arial"/>
              </a:rPr>
              <a:t>collaboratif</a:t>
            </a:r>
            <a:endParaRPr sz="1800">
              <a:latin typeface="Arial"/>
              <a:ea typeface="Arial"/>
              <a:cs typeface="Arial"/>
              <a:sym typeface="Arial"/>
            </a:endParaRPr>
          </a:p>
        </p:txBody>
      </p:sp>
      <p:sp>
        <p:nvSpPr>
          <p:cNvPr id="431" name="Google Shape;431;p32"/>
          <p:cNvSpPr/>
          <p:nvPr/>
        </p:nvSpPr>
        <p:spPr>
          <a:xfrm>
            <a:off x="6829136" y="3528758"/>
            <a:ext cx="1402333" cy="1402333"/>
          </a:xfrm>
          <a:prstGeom prst="rect">
            <a:avLst/>
          </a:prstGeom>
          <a:blipFill rotWithShape="1">
            <a:blip r:embed="rId1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2" name="Google Shape;432;p32"/>
          <p:cNvSpPr/>
          <p:nvPr/>
        </p:nvSpPr>
        <p:spPr>
          <a:xfrm>
            <a:off x="6873586" y="3552634"/>
            <a:ext cx="1317625" cy="1317752"/>
          </a:xfrm>
          <a:prstGeom prst="rect">
            <a:avLst/>
          </a:prstGeom>
          <a:blipFill rotWithShape="1">
            <a:blip r:embed="rId1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3" name="Google Shape;433;p32"/>
          <p:cNvSpPr/>
          <p:nvPr/>
        </p:nvSpPr>
        <p:spPr>
          <a:xfrm>
            <a:off x="7103456" y="2931858"/>
            <a:ext cx="2004314" cy="1503933"/>
          </a:xfrm>
          <a:prstGeom prst="rect">
            <a:avLst/>
          </a:prstGeom>
          <a:blipFill rotWithShape="1">
            <a:blip r:embed="rId1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4" name="Google Shape;434;p32"/>
          <p:cNvSpPr txBox="1"/>
          <p:nvPr/>
        </p:nvSpPr>
        <p:spPr>
          <a:xfrm>
            <a:off x="7270203" y="3419720"/>
            <a:ext cx="1617980" cy="490220"/>
          </a:xfrm>
          <a:prstGeom prst="rect">
            <a:avLst/>
          </a:prstGeom>
          <a:noFill/>
          <a:ln>
            <a:noFill/>
          </a:ln>
        </p:spPr>
        <p:txBody>
          <a:bodyPr anchorCtr="0" anchor="t" bIns="0" lIns="0" spcFirstLastPara="1" rIns="0" wrap="square" tIns="0">
            <a:spAutoFit/>
          </a:bodyPr>
          <a:lstStyle/>
          <a:p>
            <a:pPr indent="-302260" lvl="0" marL="314960" marR="5080" rtl="0" algn="l">
              <a:lnSpc>
                <a:spcPct val="103333"/>
              </a:lnSpc>
              <a:spcBef>
                <a:spcPts val="0"/>
              </a:spcBef>
              <a:spcAft>
                <a:spcPts val="0"/>
              </a:spcAft>
              <a:buNone/>
            </a:pPr>
            <a:r>
              <a:rPr lang="en-US" sz="1800">
                <a:latin typeface="Arial"/>
                <a:ea typeface="Arial"/>
                <a:cs typeface="Arial"/>
                <a:sym typeface="Arial"/>
              </a:rPr>
              <a:t>Communication technique</a:t>
            </a:r>
            <a:endParaRPr sz="1800">
              <a:latin typeface="Arial"/>
              <a:ea typeface="Arial"/>
              <a:cs typeface="Arial"/>
              <a:sym typeface="Arial"/>
            </a:endParaRPr>
          </a:p>
        </p:txBody>
      </p:sp>
      <p:sp>
        <p:nvSpPr>
          <p:cNvPr id="435" name="Google Shape;435;p32"/>
          <p:cNvSpPr/>
          <p:nvPr/>
        </p:nvSpPr>
        <p:spPr>
          <a:xfrm>
            <a:off x="7131396" y="5309298"/>
            <a:ext cx="1788414" cy="614933"/>
          </a:xfrm>
          <a:prstGeom prst="rect">
            <a:avLst/>
          </a:prstGeom>
          <a:blipFill rotWithShape="1">
            <a:blip r:embed="rId1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6" name="Google Shape;436;p32"/>
          <p:cNvSpPr/>
          <p:nvPr/>
        </p:nvSpPr>
        <p:spPr>
          <a:xfrm>
            <a:off x="7174576" y="5332158"/>
            <a:ext cx="1704340" cy="530860"/>
          </a:xfrm>
          <a:prstGeom prst="rect">
            <a:avLst/>
          </a:prstGeom>
          <a:blipFill rotWithShape="1">
            <a:blip r:embed="rId1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7" name="Google Shape;437;p32"/>
          <p:cNvSpPr/>
          <p:nvPr/>
        </p:nvSpPr>
        <p:spPr>
          <a:xfrm>
            <a:off x="7946736" y="4864798"/>
            <a:ext cx="1862073" cy="1503933"/>
          </a:xfrm>
          <a:prstGeom prst="rect">
            <a:avLst/>
          </a:prstGeom>
          <a:blipFill rotWithShape="1">
            <a:blip r:embed="rId1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38" name="Google Shape;438;p32"/>
          <p:cNvSpPr txBox="1"/>
          <p:nvPr/>
        </p:nvSpPr>
        <p:spPr>
          <a:xfrm>
            <a:off x="8111578" y="5353295"/>
            <a:ext cx="1537335" cy="490855"/>
          </a:xfrm>
          <a:prstGeom prst="rect">
            <a:avLst/>
          </a:prstGeom>
          <a:noFill/>
          <a:ln>
            <a:noFill/>
          </a:ln>
        </p:spPr>
        <p:txBody>
          <a:bodyPr anchorCtr="0" anchor="t" bIns="0" lIns="0" spcFirstLastPara="1" rIns="0" wrap="square" tIns="0">
            <a:spAutoFit/>
          </a:bodyPr>
          <a:lstStyle/>
          <a:p>
            <a:pPr indent="0" lvl="0" marL="0" marR="0" rtl="0" algn="ctr">
              <a:lnSpc>
                <a:spcPct val="111666"/>
              </a:lnSpc>
              <a:spcBef>
                <a:spcPts val="0"/>
              </a:spcBef>
              <a:spcAft>
                <a:spcPts val="0"/>
              </a:spcAft>
              <a:buNone/>
            </a:pPr>
            <a:r>
              <a:rPr lang="en-US" sz="1800">
                <a:latin typeface="Arial"/>
                <a:ea typeface="Arial"/>
                <a:cs typeface="Arial"/>
                <a:sym typeface="Arial"/>
              </a:rPr>
              <a:t>Principe d’éco-</a:t>
            </a:r>
            <a:endParaRPr sz="1800">
              <a:latin typeface="Arial"/>
              <a:ea typeface="Arial"/>
              <a:cs typeface="Arial"/>
              <a:sym typeface="Arial"/>
            </a:endParaRPr>
          </a:p>
          <a:p>
            <a:pPr indent="0" lvl="0" marL="0" marR="0" rtl="0" algn="ctr">
              <a:lnSpc>
                <a:spcPct val="111666"/>
              </a:lnSpc>
              <a:spcBef>
                <a:spcPts val="0"/>
              </a:spcBef>
              <a:spcAft>
                <a:spcPts val="0"/>
              </a:spcAft>
              <a:buNone/>
            </a:pPr>
            <a:r>
              <a:rPr lang="en-US" sz="1800">
                <a:latin typeface="Arial"/>
                <a:ea typeface="Arial"/>
                <a:cs typeface="Arial"/>
                <a:sym typeface="Arial"/>
              </a:rPr>
              <a:t>conception</a:t>
            </a:r>
            <a:endParaRPr sz="1800">
              <a:latin typeface="Arial"/>
              <a:ea typeface="Arial"/>
              <a:cs typeface="Arial"/>
              <a:sym typeface="Arial"/>
            </a:endParaRPr>
          </a:p>
        </p:txBody>
      </p:sp>
      <p:sp>
        <p:nvSpPr>
          <p:cNvPr id="439" name="Google Shape;439;p32"/>
          <p:cNvSpPr txBox="1"/>
          <p:nvPr/>
        </p:nvSpPr>
        <p:spPr>
          <a:xfrm>
            <a:off x="1954237" y="3512859"/>
            <a:ext cx="1198880" cy="26162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Fabrication</a:t>
            </a:r>
            <a:endParaRPr sz="1850">
              <a:latin typeface="Arial"/>
              <a:ea typeface="Arial"/>
              <a:cs typeface="Arial"/>
              <a:sym typeface="Arial"/>
            </a:endParaRPr>
          </a:p>
        </p:txBody>
      </p:sp>
      <p:sp>
        <p:nvSpPr>
          <p:cNvPr id="440" name="Google Shape;440;p32"/>
          <p:cNvSpPr txBox="1"/>
          <p:nvPr/>
        </p:nvSpPr>
        <p:spPr>
          <a:xfrm>
            <a:off x="3184613" y="2439833"/>
            <a:ext cx="1742439" cy="26225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None/>
            </a:pPr>
            <a:r>
              <a:rPr lang="en-US" sz="1850">
                <a:latin typeface="Arial"/>
                <a:ea typeface="Arial"/>
                <a:cs typeface="Arial"/>
                <a:sym typeface="Arial"/>
              </a:rPr>
              <a:t>Expérimentation</a:t>
            </a:r>
            <a:endParaRPr sz="1850">
              <a:latin typeface="Arial"/>
              <a:ea typeface="Arial"/>
              <a:cs typeface="Arial"/>
              <a:sym typeface="Arial"/>
            </a:endParaRPr>
          </a:p>
        </p:txBody>
      </p:sp>
      <p:sp>
        <p:nvSpPr>
          <p:cNvPr id="441" name="Google Shape;441;p32"/>
          <p:cNvSpPr txBox="1"/>
          <p:nvPr/>
        </p:nvSpPr>
        <p:spPr>
          <a:xfrm>
            <a:off x="4691469" y="1471334"/>
            <a:ext cx="2904490" cy="520700"/>
          </a:xfrm>
          <a:prstGeom prst="rect">
            <a:avLst/>
          </a:prstGeom>
          <a:noFill/>
          <a:ln>
            <a:noFill/>
          </a:ln>
        </p:spPr>
        <p:txBody>
          <a:bodyPr anchorCtr="0" anchor="t" bIns="0" lIns="0" spcFirstLastPara="1" rIns="0" wrap="square" tIns="0">
            <a:spAutoFit/>
          </a:bodyPr>
          <a:lstStyle/>
          <a:p>
            <a:pPr indent="127000" lvl="0" marL="12700" marR="5080" rtl="0" algn="l">
              <a:lnSpc>
                <a:spcPct val="100899"/>
              </a:lnSpc>
              <a:spcBef>
                <a:spcPts val="0"/>
              </a:spcBef>
              <a:spcAft>
                <a:spcPts val="0"/>
              </a:spcAft>
              <a:buNone/>
            </a:pPr>
            <a:r>
              <a:rPr lang="en-US" sz="1850">
                <a:latin typeface="Arial"/>
                <a:ea typeface="Arial"/>
                <a:cs typeface="Arial"/>
                <a:sym typeface="Arial"/>
              </a:rPr>
              <a:t>Planification du travail de conception et de réalisation</a:t>
            </a:r>
            <a:endParaRPr sz="185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5" name="Shape 445"/>
        <p:cNvGrpSpPr/>
        <p:nvPr/>
      </p:nvGrpSpPr>
      <p:grpSpPr>
        <a:xfrm>
          <a:off x="0" y="0"/>
          <a:ext cx="0" cy="0"/>
          <a:chOff x="0" y="0"/>
          <a:chExt cx="0" cy="0"/>
        </a:xfrm>
      </p:grpSpPr>
      <p:sp>
        <p:nvSpPr>
          <p:cNvPr id="446" name="Google Shape;446;p33"/>
          <p:cNvSpPr txBox="1"/>
          <p:nvPr/>
        </p:nvSpPr>
        <p:spPr>
          <a:xfrm>
            <a:off x="827709" y="463413"/>
            <a:ext cx="8790300" cy="1089600"/>
          </a:xfrm>
          <a:prstGeom prst="rect">
            <a:avLst/>
          </a:prstGeom>
          <a:noFill/>
          <a:ln>
            <a:noFill/>
          </a:ln>
        </p:spPr>
        <p:txBody>
          <a:bodyPr anchorCtr="0" anchor="t" bIns="0" lIns="0" spcFirstLastPara="1" rIns="0" wrap="square" tIns="0">
            <a:spAutoFit/>
          </a:bodyPr>
          <a:lstStyle/>
          <a:p>
            <a:pPr indent="0" lvl="0" marL="12700" marR="5080" rtl="0" algn="l">
              <a:lnSpc>
                <a:spcPct val="108205"/>
              </a:lnSpc>
              <a:spcBef>
                <a:spcPts val="0"/>
              </a:spcBef>
              <a:spcAft>
                <a:spcPts val="0"/>
              </a:spcAft>
              <a:buNone/>
            </a:pPr>
            <a:r>
              <a:rPr b="1" lang="en-US" sz="3400">
                <a:latin typeface="Arial"/>
                <a:ea typeface="Arial"/>
                <a:cs typeface="Arial"/>
                <a:sym typeface="Arial"/>
              </a:rPr>
              <a:t>Les points de vigilance sur la construction didactique et pédagogique</a:t>
            </a:r>
            <a:endParaRPr sz="3400">
              <a:latin typeface="Arial"/>
              <a:ea typeface="Arial"/>
              <a:cs typeface="Arial"/>
              <a:sym typeface="Arial"/>
            </a:endParaRPr>
          </a:p>
        </p:txBody>
      </p:sp>
      <p:sp>
        <p:nvSpPr>
          <p:cNvPr id="447" name="Google Shape;447;p33"/>
          <p:cNvSpPr/>
          <p:nvPr/>
        </p:nvSpPr>
        <p:spPr>
          <a:xfrm>
            <a:off x="1185257" y="2432399"/>
            <a:ext cx="2108454" cy="1300733"/>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48" name="Google Shape;448;p33"/>
          <p:cNvSpPr txBox="1"/>
          <p:nvPr/>
        </p:nvSpPr>
        <p:spPr>
          <a:xfrm>
            <a:off x="1417286" y="2595036"/>
            <a:ext cx="1645920" cy="937894"/>
          </a:xfrm>
          <a:prstGeom prst="rect">
            <a:avLst/>
          </a:prstGeom>
          <a:noFill/>
          <a:ln>
            <a:noFill/>
          </a:ln>
        </p:spPr>
        <p:txBody>
          <a:bodyPr anchorCtr="0" anchor="t" bIns="0" lIns="0" spcFirstLastPara="1" rIns="0" wrap="square" tIns="0">
            <a:spAutoFit/>
          </a:bodyPr>
          <a:lstStyle/>
          <a:p>
            <a:pPr indent="-1905" lvl="0" marL="12700" marR="5080" rtl="0" algn="ctr">
              <a:lnSpc>
                <a:spcPct val="86100"/>
              </a:lnSpc>
              <a:spcBef>
                <a:spcPts val="0"/>
              </a:spcBef>
              <a:spcAft>
                <a:spcPts val="0"/>
              </a:spcAft>
              <a:buNone/>
            </a:pPr>
            <a:r>
              <a:rPr lang="en-US" sz="1400">
                <a:latin typeface="Arial"/>
                <a:ea typeface="Arial"/>
                <a:cs typeface="Arial"/>
                <a:sym typeface="Arial"/>
              </a:rPr>
              <a:t>Des activités qui servent les apprentissages essentiels qui seront évalués</a:t>
            </a:r>
            <a:endParaRPr sz="1400">
              <a:latin typeface="Arial"/>
              <a:ea typeface="Arial"/>
              <a:cs typeface="Arial"/>
              <a:sym typeface="Arial"/>
            </a:endParaRPr>
          </a:p>
        </p:txBody>
      </p:sp>
      <p:sp>
        <p:nvSpPr>
          <p:cNvPr id="449" name="Google Shape;449;p33"/>
          <p:cNvSpPr/>
          <p:nvPr/>
        </p:nvSpPr>
        <p:spPr>
          <a:xfrm>
            <a:off x="3384897" y="2432399"/>
            <a:ext cx="2199894" cy="1300733"/>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0" name="Google Shape;450;p33"/>
          <p:cNvSpPr txBox="1"/>
          <p:nvPr/>
        </p:nvSpPr>
        <p:spPr>
          <a:xfrm>
            <a:off x="3519513" y="2595036"/>
            <a:ext cx="1887855" cy="937894"/>
          </a:xfrm>
          <a:prstGeom prst="rect">
            <a:avLst/>
          </a:prstGeom>
          <a:noFill/>
          <a:ln>
            <a:noFill/>
          </a:ln>
        </p:spPr>
        <p:txBody>
          <a:bodyPr anchorCtr="0" anchor="t" bIns="0" lIns="0" spcFirstLastPara="1" rIns="0" wrap="square" tIns="0">
            <a:spAutoFit/>
          </a:bodyPr>
          <a:lstStyle/>
          <a:p>
            <a:pPr indent="0" lvl="0" marL="12065" marR="5080" rtl="0" algn="ctr">
              <a:lnSpc>
                <a:spcPct val="86100"/>
              </a:lnSpc>
              <a:spcBef>
                <a:spcPts val="0"/>
              </a:spcBef>
              <a:spcAft>
                <a:spcPts val="0"/>
              </a:spcAft>
              <a:buNone/>
            </a:pPr>
            <a:r>
              <a:rPr lang="en-US" sz="1400">
                <a:latin typeface="Arial"/>
                <a:ea typeface="Arial"/>
                <a:cs typeface="Arial"/>
                <a:sym typeface="Arial"/>
              </a:rPr>
              <a:t>Des activités mobilisant les compétences psychosociales des élèves par le travail de groupe</a:t>
            </a:r>
            <a:endParaRPr sz="1400">
              <a:latin typeface="Arial"/>
              <a:ea typeface="Arial"/>
              <a:cs typeface="Arial"/>
              <a:sym typeface="Arial"/>
            </a:endParaRPr>
          </a:p>
        </p:txBody>
      </p:sp>
      <p:sp>
        <p:nvSpPr>
          <p:cNvPr id="451" name="Google Shape;451;p33"/>
          <p:cNvSpPr/>
          <p:nvPr/>
        </p:nvSpPr>
        <p:spPr>
          <a:xfrm>
            <a:off x="1185257" y="3847179"/>
            <a:ext cx="2151633" cy="1300733"/>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2" name="Google Shape;452;p33"/>
          <p:cNvSpPr txBox="1"/>
          <p:nvPr/>
        </p:nvSpPr>
        <p:spPr>
          <a:xfrm>
            <a:off x="1328513" y="4009181"/>
            <a:ext cx="1826895" cy="937894"/>
          </a:xfrm>
          <a:prstGeom prst="rect">
            <a:avLst/>
          </a:prstGeom>
          <a:noFill/>
          <a:ln>
            <a:noFill/>
          </a:ln>
        </p:spPr>
        <p:txBody>
          <a:bodyPr anchorCtr="0" anchor="t" bIns="0" lIns="0" spcFirstLastPara="1" rIns="0" wrap="square" tIns="0">
            <a:spAutoFit/>
          </a:bodyPr>
          <a:lstStyle/>
          <a:p>
            <a:pPr indent="-3810" lvl="0" marL="12700" marR="5080" rtl="0" algn="ctr">
              <a:lnSpc>
                <a:spcPct val="86000"/>
              </a:lnSpc>
              <a:spcBef>
                <a:spcPts val="0"/>
              </a:spcBef>
              <a:spcAft>
                <a:spcPts val="0"/>
              </a:spcAft>
              <a:buNone/>
            </a:pPr>
            <a:r>
              <a:rPr lang="en-US" sz="1400">
                <a:latin typeface="Arial"/>
                <a:ea typeface="Arial"/>
                <a:cs typeface="Arial"/>
                <a:sym typeface="Arial"/>
              </a:rPr>
              <a:t>Des temps de structuration des et de consolidation des connaissances dans la séquence</a:t>
            </a:r>
            <a:endParaRPr sz="1400">
              <a:latin typeface="Arial"/>
              <a:ea typeface="Arial"/>
              <a:cs typeface="Arial"/>
              <a:sym typeface="Arial"/>
            </a:endParaRPr>
          </a:p>
        </p:txBody>
      </p:sp>
      <p:sp>
        <p:nvSpPr>
          <p:cNvPr id="453" name="Google Shape;453;p33"/>
          <p:cNvSpPr/>
          <p:nvPr/>
        </p:nvSpPr>
        <p:spPr>
          <a:xfrm>
            <a:off x="3405217" y="3847179"/>
            <a:ext cx="2159254" cy="1300733"/>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4" name="Google Shape;454;p33"/>
          <p:cNvSpPr txBox="1"/>
          <p:nvPr/>
        </p:nvSpPr>
        <p:spPr>
          <a:xfrm>
            <a:off x="3539832" y="4192820"/>
            <a:ext cx="1845945" cy="572135"/>
          </a:xfrm>
          <a:prstGeom prst="rect">
            <a:avLst/>
          </a:prstGeom>
          <a:noFill/>
          <a:ln>
            <a:noFill/>
          </a:ln>
        </p:spPr>
        <p:txBody>
          <a:bodyPr anchorCtr="0" anchor="t" bIns="0" lIns="0" spcFirstLastPara="1" rIns="0" wrap="square" tIns="0">
            <a:spAutoFit/>
          </a:bodyPr>
          <a:lstStyle/>
          <a:p>
            <a:pPr indent="-1905" lvl="0" marL="12700" marR="5080" rtl="0" algn="ctr">
              <a:lnSpc>
                <a:spcPct val="86400"/>
              </a:lnSpc>
              <a:spcBef>
                <a:spcPts val="0"/>
              </a:spcBef>
              <a:spcAft>
                <a:spcPts val="0"/>
              </a:spcAft>
              <a:buNone/>
            </a:pPr>
            <a:r>
              <a:rPr lang="en-US" sz="1400">
                <a:latin typeface="Arial"/>
                <a:ea typeface="Arial"/>
                <a:cs typeface="Arial"/>
                <a:sym typeface="Arial"/>
              </a:rPr>
              <a:t>Des retours sur les productions des élèves lors des activités</a:t>
            </a:r>
            <a:endParaRPr sz="1400">
              <a:latin typeface="Arial"/>
              <a:ea typeface="Arial"/>
              <a:cs typeface="Arial"/>
              <a:sym typeface="Arial"/>
            </a:endParaRPr>
          </a:p>
        </p:txBody>
      </p:sp>
      <p:sp>
        <p:nvSpPr>
          <p:cNvPr id="455" name="Google Shape;455;p33"/>
          <p:cNvSpPr/>
          <p:nvPr/>
        </p:nvSpPr>
        <p:spPr>
          <a:xfrm>
            <a:off x="2264757" y="5259432"/>
            <a:ext cx="2222754" cy="130073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6" name="Google Shape;456;p33"/>
          <p:cNvSpPr txBox="1"/>
          <p:nvPr/>
        </p:nvSpPr>
        <p:spPr>
          <a:xfrm>
            <a:off x="2401277" y="5607222"/>
            <a:ext cx="1902460" cy="572135"/>
          </a:xfrm>
          <a:prstGeom prst="rect">
            <a:avLst/>
          </a:prstGeom>
          <a:noFill/>
          <a:ln>
            <a:noFill/>
          </a:ln>
        </p:spPr>
        <p:txBody>
          <a:bodyPr anchorCtr="0" anchor="t" bIns="0" lIns="0" spcFirstLastPara="1" rIns="0" wrap="square" tIns="0">
            <a:spAutoFit/>
          </a:bodyPr>
          <a:lstStyle/>
          <a:p>
            <a:pPr indent="0" lvl="0" marL="12065" marR="5080" rtl="0" algn="ctr">
              <a:lnSpc>
                <a:spcPct val="86400"/>
              </a:lnSpc>
              <a:spcBef>
                <a:spcPts val="0"/>
              </a:spcBef>
              <a:spcAft>
                <a:spcPts val="0"/>
              </a:spcAft>
              <a:buNone/>
            </a:pPr>
            <a:r>
              <a:rPr lang="en-US" sz="1400">
                <a:latin typeface="Arial"/>
                <a:ea typeface="Arial"/>
                <a:cs typeface="Arial"/>
                <a:sym typeface="Arial"/>
              </a:rPr>
              <a:t>De la manipulation pour favoriser l’appropriation des concepts</a:t>
            </a:r>
            <a:endParaRPr sz="1400">
              <a:latin typeface="Arial"/>
              <a:ea typeface="Arial"/>
              <a:cs typeface="Arial"/>
              <a:sym typeface="Arial"/>
            </a:endParaRPr>
          </a:p>
        </p:txBody>
      </p:sp>
      <p:sp>
        <p:nvSpPr>
          <p:cNvPr id="457" name="Google Shape;457;p33"/>
          <p:cNvSpPr/>
          <p:nvPr/>
        </p:nvSpPr>
        <p:spPr>
          <a:xfrm>
            <a:off x="6150957" y="2785459"/>
            <a:ext cx="2824733" cy="1661414"/>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58" name="Google Shape;458;p33"/>
          <p:cNvSpPr txBox="1"/>
          <p:nvPr/>
        </p:nvSpPr>
        <p:spPr>
          <a:xfrm>
            <a:off x="6330657" y="2913144"/>
            <a:ext cx="2400935" cy="1332230"/>
          </a:xfrm>
          <a:prstGeom prst="rect">
            <a:avLst/>
          </a:prstGeom>
          <a:noFill/>
          <a:ln>
            <a:noFill/>
          </a:ln>
        </p:spPr>
        <p:txBody>
          <a:bodyPr anchorCtr="0" anchor="t" bIns="0" lIns="0" spcFirstLastPara="1" rIns="0" wrap="square" tIns="0">
            <a:spAutoFit/>
          </a:bodyPr>
          <a:lstStyle/>
          <a:p>
            <a:pPr indent="-4445" lvl="0" marL="12065" marR="5080" rtl="0" algn="ctr">
              <a:lnSpc>
                <a:spcPct val="86300"/>
              </a:lnSpc>
              <a:spcBef>
                <a:spcPts val="0"/>
              </a:spcBef>
              <a:spcAft>
                <a:spcPts val="0"/>
              </a:spcAft>
              <a:buNone/>
            </a:pPr>
            <a:r>
              <a:rPr lang="en-US" sz="2000">
                <a:latin typeface="Arial"/>
                <a:ea typeface="Arial"/>
                <a:cs typeface="Arial"/>
                <a:sym typeface="Arial"/>
              </a:rPr>
              <a:t>Utiliser des repères de progressivité pour réfléchir la progression des apprentissages</a:t>
            </a:r>
            <a:endParaRPr sz="2000">
              <a:latin typeface="Arial"/>
              <a:ea typeface="Arial"/>
              <a:cs typeface="Arial"/>
              <a:sym typeface="Arial"/>
            </a:endParaRPr>
          </a:p>
        </p:txBody>
      </p:sp>
      <p:sp>
        <p:nvSpPr>
          <p:cNvPr id="459" name="Google Shape;459;p33"/>
          <p:cNvSpPr/>
          <p:nvPr/>
        </p:nvSpPr>
        <p:spPr>
          <a:xfrm>
            <a:off x="8962737" y="2785459"/>
            <a:ext cx="2837433" cy="162839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0" name="Google Shape;460;p33"/>
          <p:cNvSpPr txBox="1"/>
          <p:nvPr/>
        </p:nvSpPr>
        <p:spPr>
          <a:xfrm>
            <a:off x="9143707" y="3176545"/>
            <a:ext cx="2413635" cy="805815"/>
          </a:xfrm>
          <a:prstGeom prst="rect">
            <a:avLst/>
          </a:prstGeom>
          <a:noFill/>
          <a:ln>
            <a:noFill/>
          </a:ln>
        </p:spPr>
        <p:txBody>
          <a:bodyPr anchorCtr="0" anchor="t" bIns="0" lIns="0" spcFirstLastPara="1" rIns="0" wrap="square" tIns="0">
            <a:spAutoFit/>
          </a:bodyPr>
          <a:lstStyle/>
          <a:p>
            <a:pPr indent="-317500" lvl="0" marL="330200" marR="5080" rtl="0" algn="l">
              <a:lnSpc>
                <a:spcPct val="86200"/>
              </a:lnSpc>
              <a:spcBef>
                <a:spcPts val="0"/>
              </a:spcBef>
              <a:spcAft>
                <a:spcPts val="0"/>
              </a:spcAft>
              <a:buNone/>
            </a:pPr>
            <a:r>
              <a:rPr lang="en-US" sz="2000">
                <a:latin typeface="Arial"/>
                <a:ea typeface="Arial"/>
                <a:cs typeface="Arial"/>
                <a:sym typeface="Arial"/>
              </a:rPr>
              <a:t>Construire à partir de l’évaluation des apprentissages</a:t>
            </a:r>
            <a:endParaRPr sz="2000">
              <a:latin typeface="Arial"/>
              <a:ea typeface="Arial"/>
              <a:cs typeface="Arial"/>
              <a:sym typeface="Arial"/>
            </a:endParaRPr>
          </a:p>
        </p:txBody>
      </p:sp>
      <p:sp>
        <p:nvSpPr>
          <p:cNvPr id="461" name="Google Shape;461;p33"/>
          <p:cNvSpPr/>
          <p:nvPr/>
        </p:nvSpPr>
        <p:spPr>
          <a:xfrm>
            <a:off x="6158577" y="4578711"/>
            <a:ext cx="2809494" cy="162839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2" name="Google Shape;462;p33"/>
          <p:cNvSpPr txBox="1"/>
          <p:nvPr/>
        </p:nvSpPr>
        <p:spPr>
          <a:xfrm>
            <a:off x="6338277" y="5103135"/>
            <a:ext cx="2383790" cy="544195"/>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None/>
            </a:pPr>
            <a:r>
              <a:rPr lang="en-US" sz="2000">
                <a:latin typeface="Arial"/>
                <a:ea typeface="Arial"/>
                <a:cs typeface="Arial"/>
                <a:sym typeface="Arial"/>
              </a:rPr>
              <a:t>Rendre accessible le</a:t>
            </a:r>
            <a:endParaRPr sz="2000">
              <a:latin typeface="Arial"/>
              <a:ea typeface="Arial"/>
              <a:cs typeface="Arial"/>
              <a:sym typeface="Arial"/>
            </a:endParaRPr>
          </a:p>
          <a:p>
            <a:pPr indent="0" lvl="0" marL="0" marR="0" rtl="0" algn="ctr">
              <a:lnSpc>
                <a:spcPct val="112000"/>
              </a:lnSpc>
              <a:spcBef>
                <a:spcPts val="0"/>
              </a:spcBef>
              <a:spcAft>
                <a:spcPts val="0"/>
              </a:spcAft>
              <a:buNone/>
            </a:pPr>
            <a:r>
              <a:rPr lang="en-US" sz="2000">
                <a:latin typeface="Arial"/>
                <a:ea typeface="Arial"/>
                <a:cs typeface="Arial"/>
                <a:sym typeface="Arial"/>
              </a:rPr>
              <a:t>contexte</a:t>
            </a:r>
            <a:endParaRPr sz="2000">
              <a:latin typeface="Arial"/>
              <a:ea typeface="Arial"/>
              <a:cs typeface="Arial"/>
              <a:sym typeface="Arial"/>
            </a:endParaRPr>
          </a:p>
        </p:txBody>
      </p:sp>
      <p:sp>
        <p:nvSpPr>
          <p:cNvPr id="463" name="Google Shape;463;p33"/>
          <p:cNvSpPr/>
          <p:nvPr/>
        </p:nvSpPr>
        <p:spPr>
          <a:xfrm>
            <a:off x="9021157" y="4578711"/>
            <a:ext cx="2654554" cy="1628394"/>
          </a:xfrm>
          <a:prstGeom prst="rect">
            <a:avLst/>
          </a:prstGeom>
          <a:blipFill rotWithShape="1">
            <a:blip r:embed="rId11">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64" name="Google Shape;464;p33"/>
          <p:cNvSpPr txBox="1"/>
          <p:nvPr/>
        </p:nvSpPr>
        <p:spPr>
          <a:xfrm>
            <a:off x="9397707" y="4840245"/>
            <a:ext cx="1905000" cy="1069975"/>
          </a:xfrm>
          <a:prstGeom prst="rect">
            <a:avLst/>
          </a:prstGeom>
          <a:noFill/>
          <a:ln>
            <a:noFill/>
          </a:ln>
        </p:spPr>
        <p:txBody>
          <a:bodyPr anchorCtr="0" anchor="t" bIns="0" lIns="0" spcFirstLastPara="1" rIns="0" wrap="square" tIns="0">
            <a:spAutoFit/>
          </a:bodyPr>
          <a:lstStyle/>
          <a:p>
            <a:pPr indent="0" lvl="0" marL="12700" marR="5080" rtl="0" algn="ctr">
              <a:lnSpc>
                <a:spcPct val="86400"/>
              </a:lnSpc>
              <a:spcBef>
                <a:spcPts val="0"/>
              </a:spcBef>
              <a:spcAft>
                <a:spcPts val="0"/>
              </a:spcAft>
              <a:buNone/>
            </a:pPr>
            <a:r>
              <a:rPr lang="en-US" sz="2000">
                <a:latin typeface="Arial"/>
                <a:ea typeface="Arial"/>
                <a:cs typeface="Arial"/>
                <a:sym typeface="Arial"/>
              </a:rPr>
              <a:t>Expliciter et faire expliciter les démarches de résolution</a:t>
            </a:r>
            <a:endParaRPr sz="2000">
              <a:latin typeface="Arial"/>
              <a:ea typeface="Arial"/>
              <a:cs typeface="Arial"/>
              <a:sym typeface="Arial"/>
            </a:endParaRPr>
          </a:p>
        </p:txBody>
      </p:sp>
      <p:sp>
        <p:nvSpPr>
          <p:cNvPr id="465" name="Google Shape;465;p33"/>
          <p:cNvSpPr txBox="1"/>
          <p:nvPr/>
        </p:nvSpPr>
        <p:spPr>
          <a:xfrm>
            <a:off x="2264750" y="1966475"/>
            <a:ext cx="9038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lang="en-US" sz="3600"/>
              <a:t>Des objectifs                                     Des points d’attention</a:t>
            </a:r>
            <a:endParaRPr sz="3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9" name="Shape 469"/>
        <p:cNvGrpSpPr/>
        <p:nvPr/>
      </p:nvGrpSpPr>
      <p:grpSpPr>
        <a:xfrm>
          <a:off x="0" y="0"/>
          <a:ext cx="0" cy="0"/>
          <a:chOff x="0" y="0"/>
          <a:chExt cx="0" cy="0"/>
        </a:xfrm>
      </p:grpSpPr>
      <p:sp>
        <p:nvSpPr>
          <p:cNvPr id="470" name="Google Shape;470;p34"/>
          <p:cNvSpPr txBox="1"/>
          <p:nvPr/>
        </p:nvSpPr>
        <p:spPr>
          <a:xfrm>
            <a:off x="1040447" y="221983"/>
            <a:ext cx="10296525" cy="925194"/>
          </a:xfrm>
          <a:prstGeom prst="rect">
            <a:avLst/>
          </a:prstGeom>
          <a:noFill/>
          <a:ln>
            <a:noFill/>
          </a:ln>
        </p:spPr>
        <p:txBody>
          <a:bodyPr anchorCtr="0" anchor="t" bIns="0" lIns="0" spcFirstLastPara="1" rIns="0" wrap="square" tIns="0">
            <a:spAutoFit/>
          </a:bodyPr>
          <a:lstStyle/>
          <a:p>
            <a:pPr indent="0" lvl="0" marL="12700" marR="0" rtl="0" algn="l">
              <a:lnSpc>
                <a:spcPct val="114088"/>
              </a:lnSpc>
              <a:spcBef>
                <a:spcPts val="0"/>
              </a:spcBef>
              <a:spcAft>
                <a:spcPts val="0"/>
              </a:spcAft>
              <a:buNone/>
            </a:pPr>
            <a:r>
              <a:rPr b="1" lang="en-US" sz="3400">
                <a:latin typeface="Arial"/>
                <a:ea typeface="Arial"/>
                <a:cs typeface="Arial"/>
                <a:sym typeface="Arial"/>
              </a:rPr>
              <a:t>Construction didactique et pédagogique : le choix</a:t>
            </a:r>
            <a:endParaRPr sz="3400">
              <a:latin typeface="Arial"/>
              <a:ea typeface="Arial"/>
              <a:cs typeface="Arial"/>
              <a:sym typeface="Arial"/>
            </a:endParaRPr>
          </a:p>
          <a:p>
            <a:pPr indent="0" lvl="0" marL="12700" marR="0" rtl="0" algn="l">
              <a:lnSpc>
                <a:spcPct val="114088"/>
              </a:lnSpc>
              <a:spcBef>
                <a:spcPts val="0"/>
              </a:spcBef>
              <a:spcAft>
                <a:spcPts val="0"/>
              </a:spcAft>
              <a:buNone/>
            </a:pPr>
            <a:r>
              <a:rPr b="1" lang="en-US" sz="3400">
                <a:latin typeface="Arial"/>
                <a:ea typeface="Arial"/>
                <a:cs typeface="Arial"/>
                <a:sym typeface="Arial"/>
              </a:rPr>
              <a:t>des objets technologiques étudiés</a:t>
            </a:r>
            <a:endParaRPr sz="3400">
              <a:latin typeface="Arial"/>
              <a:ea typeface="Arial"/>
              <a:cs typeface="Arial"/>
              <a:sym typeface="Arial"/>
            </a:endParaRPr>
          </a:p>
        </p:txBody>
      </p:sp>
      <p:sp>
        <p:nvSpPr>
          <p:cNvPr id="471" name="Google Shape;471;p34"/>
          <p:cNvSpPr/>
          <p:nvPr/>
        </p:nvSpPr>
        <p:spPr>
          <a:xfrm>
            <a:off x="792480" y="2148839"/>
            <a:ext cx="2591054" cy="1569974"/>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72" name="Google Shape;472;p34"/>
          <p:cNvSpPr txBox="1"/>
          <p:nvPr/>
        </p:nvSpPr>
        <p:spPr>
          <a:xfrm>
            <a:off x="1006792" y="2642155"/>
            <a:ext cx="2132330" cy="543560"/>
          </a:xfrm>
          <a:prstGeom prst="rect">
            <a:avLst/>
          </a:prstGeom>
          <a:noFill/>
          <a:ln>
            <a:noFill/>
          </a:ln>
        </p:spPr>
        <p:txBody>
          <a:bodyPr anchorCtr="0" anchor="t" bIns="0" lIns="0" spcFirstLastPara="1" rIns="0" wrap="square" tIns="0">
            <a:spAutoFit/>
          </a:bodyPr>
          <a:lstStyle/>
          <a:p>
            <a:pPr indent="-170180" lvl="0" marL="182245" marR="5080" rtl="0" algn="l">
              <a:lnSpc>
                <a:spcPct val="104000"/>
              </a:lnSpc>
              <a:spcBef>
                <a:spcPts val="0"/>
              </a:spcBef>
              <a:spcAft>
                <a:spcPts val="0"/>
              </a:spcAft>
              <a:buNone/>
            </a:pPr>
            <a:r>
              <a:rPr lang="en-US" sz="2000">
                <a:latin typeface="Arial"/>
                <a:ea typeface="Arial"/>
                <a:cs typeface="Arial"/>
                <a:sym typeface="Arial"/>
              </a:rPr>
              <a:t>Intégrant au mieux le triptyque MEI</a:t>
            </a:r>
            <a:endParaRPr sz="2000">
              <a:latin typeface="Arial"/>
              <a:ea typeface="Arial"/>
              <a:cs typeface="Arial"/>
              <a:sym typeface="Arial"/>
            </a:endParaRPr>
          </a:p>
        </p:txBody>
      </p:sp>
      <p:sp>
        <p:nvSpPr>
          <p:cNvPr id="473" name="Google Shape;473;p34"/>
          <p:cNvSpPr/>
          <p:nvPr/>
        </p:nvSpPr>
        <p:spPr>
          <a:xfrm>
            <a:off x="3507740" y="2125979"/>
            <a:ext cx="2555493" cy="1653794"/>
          </a:xfrm>
          <a:prstGeom prst="rect">
            <a:avLst/>
          </a:prstGeom>
          <a:blipFill rotWithShape="1">
            <a:blip r:embed="rId4">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74" name="Google Shape;474;p34"/>
          <p:cNvSpPr txBox="1"/>
          <p:nvPr/>
        </p:nvSpPr>
        <p:spPr>
          <a:xfrm>
            <a:off x="3830065" y="2247438"/>
            <a:ext cx="1908175" cy="1331595"/>
          </a:xfrm>
          <a:prstGeom prst="rect">
            <a:avLst/>
          </a:prstGeom>
          <a:noFill/>
          <a:ln>
            <a:noFill/>
          </a:ln>
        </p:spPr>
        <p:txBody>
          <a:bodyPr anchorCtr="0" anchor="t" bIns="0" lIns="0" spcFirstLastPara="1" rIns="0" wrap="square" tIns="0">
            <a:spAutoFit/>
          </a:bodyPr>
          <a:lstStyle/>
          <a:p>
            <a:pPr indent="1270" lvl="0" marL="12700" marR="5080" rtl="0" algn="ctr">
              <a:lnSpc>
                <a:spcPct val="86300"/>
              </a:lnSpc>
              <a:spcBef>
                <a:spcPts val="0"/>
              </a:spcBef>
              <a:spcAft>
                <a:spcPts val="0"/>
              </a:spcAft>
              <a:buNone/>
            </a:pPr>
            <a:r>
              <a:rPr lang="en-US" sz="2000">
                <a:latin typeface="Arial"/>
                <a:ea typeface="Arial"/>
                <a:cs typeface="Arial"/>
                <a:sym typeface="Arial"/>
              </a:rPr>
              <a:t>Répondant à un besoin sociétal et/ou environnemental contemporains</a:t>
            </a:r>
            <a:endParaRPr sz="2000">
              <a:latin typeface="Arial"/>
              <a:ea typeface="Arial"/>
              <a:cs typeface="Arial"/>
              <a:sym typeface="Arial"/>
            </a:endParaRPr>
          </a:p>
        </p:txBody>
      </p:sp>
      <p:sp>
        <p:nvSpPr>
          <p:cNvPr id="475" name="Google Shape;475;p34"/>
          <p:cNvSpPr/>
          <p:nvPr/>
        </p:nvSpPr>
        <p:spPr>
          <a:xfrm>
            <a:off x="792480" y="3876040"/>
            <a:ext cx="2598673" cy="1567434"/>
          </a:xfrm>
          <a:prstGeom prst="rect">
            <a:avLst/>
          </a:prstGeom>
          <a:blipFill rotWithShape="1">
            <a:blip r:embed="rId5">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76" name="Google Shape;476;p34"/>
          <p:cNvSpPr txBox="1"/>
          <p:nvPr/>
        </p:nvSpPr>
        <p:spPr>
          <a:xfrm>
            <a:off x="999172" y="4237652"/>
            <a:ext cx="2140585" cy="805815"/>
          </a:xfrm>
          <a:prstGeom prst="rect">
            <a:avLst/>
          </a:prstGeom>
          <a:noFill/>
          <a:ln>
            <a:noFill/>
          </a:ln>
        </p:spPr>
        <p:txBody>
          <a:bodyPr anchorCtr="0" anchor="t" bIns="0" lIns="0" spcFirstLastPara="1" rIns="0" wrap="square" tIns="0">
            <a:spAutoFit/>
          </a:bodyPr>
          <a:lstStyle/>
          <a:p>
            <a:pPr indent="635" lvl="0" marL="12700" marR="5080" rtl="0" algn="ctr">
              <a:lnSpc>
                <a:spcPct val="86300"/>
              </a:lnSpc>
              <a:spcBef>
                <a:spcPts val="0"/>
              </a:spcBef>
              <a:spcAft>
                <a:spcPts val="0"/>
              </a:spcAft>
              <a:buNone/>
            </a:pPr>
            <a:r>
              <a:rPr lang="en-US" sz="2000">
                <a:latin typeface="Arial"/>
                <a:ea typeface="Arial"/>
                <a:cs typeface="Arial"/>
                <a:sym typeface="Arial"/>
              </a:rPr>
              <a:t>Portant une attention à l’égalité filles / garçons</a:t>
            </a:r>
            <a:endParaRPr sz="2000">
              <a:latin typeface="Arial"/>
              <a:ea typeface="Arial"/>
              <a:cs typeface="Arial"/>
              <a:sym typeface="Arial"/>
            </a:endParaRPr>
          </a:p>
        </p:txBody>
      </p:sp>
      <p:sp>
        <p:nvSpPr>
          <p:cNvPr id="477" name="Google Shape;477;p34"/>
          <p:cNvSpPr/>
          <p:nvPr/>
        </p:nvSpPr>
        <p:spPr>
          <a:xfrm>
            <a:off x="3505200" y="3876040"/>
            <a:ext cx="2558033" cy="1567434"/>
          </a:xfrm>
          <a:prstGeom prst="rect">
            <a:avLst/>
          </a:prstGeom>
          <a:blipFill rotWithShape="1">
            <a:blip r:embed="rId6">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78" name="Google Shape;478;p34"/>
          <p:cNvSpPr txBox="1"/>
          <p:nvPr/>
        </p:nvSpPr>
        <p:spPr>
          <a:xfrm>
            <a:off x="3685285" y="4237652"/>
            <a:ext cx="2197100" cy="805815"/>
          </a:xfrm>
          <a:prstGeom prst="rect">
            <a:avLst/>
          </a:prstGeom>
          <a:noFill/>
          <a:ln>
            <a:noFill/>
          </a:ln>
        </p:spPr>
        <p:txBody>
          <a:bodyPr anchorCtr="0" anchor="t" bIns="0" lIns="0" spcFirstLastPara="1" rIns="0" wrap="square" tIns="0">
            <a:spAutoFit/>
          </a:bodyPr>
          <a:lstStyle/>
          <a:p>
            <a:pPr indent="0" lvl="0" marL="12700" marR="5080" rtl="0" algn="ctr">
              <a:lnSpc>
                <a:spcPct val="86300"/>
              </a:lnSpc>
              <a:spcBef>
                <a:spcPts val="0"/>
              </a:spcBef>
              <a:spcAft>
                <a:spcPts val="0"/>
              </a:spcAft>
              <a:buNone/>
            </a:pPr>
            <a:r>
              <a:rPr lang="en-US" sz="2000">
                <a:latin typeface="Arial"/>
                <a:ea typeface="Arial"/>
                <a:cs typeface="Arial"/>
                <a:sym typeface="Arial"/>
              </a:rPr>
              <a:t>Permettant d’interroger le quotidien de l’élève</a:t>
            </a:r>
            <a:endParaRPr sz="2000">
              <a:latin typeface="Arial"/>
              <a:ea typeface="Arial"/>
              <a:cs typeface="Arial"/>
              <a:sym typeface="Arial"/>
            </a:endParaRPr>
          </a:p>
        </p:txBody>
      </p:sp>
      <p:sp>
        <p:nvSpPr>
          <p:cNvPr id="479" name="Google Shape;479;p34"/>
          <p:cNvSpPr/>
          <p:nvPr/>
        </p:nvSpPr>
        <p:spPr>
          <a:xfrm>
            <a:off x="6449059" y="1353819"/>
            <a:ext cx="2248154" cy="1577593"/>
          </a:xfrm>
          <a:prstGeom prst="rect">
            <a:avLst/>
          </a:prstGeom>
          <a:blipFill rotWithShape="1">
            <a:blip r:embed="rId7">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80" name="Google Shape;480;p34"/>
          <p:cNvSpPr/>
          <p:nvPr/>
        </p:nvSpPr>
        <p:spPr>
          <a:xfrm>
            <a:off x="8826500" y="1353819"/>
            <a:ext cx="2248154" cy="1577593"/>
          </a:xfrm>
          <a:prstGeom prst="rect">
            <a:avLst/>
          </a:prstGeom>
          <a:blipFill rotWithShape="1">
            <a:blip r:embed="rId8">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81" name="Google Shape;481;p34"/>
          <p:cNvSpPr/>
          <p:nvPr/>
        </p:nvSpPr>
        <p:spPr>
          <a:xfrm>
            <a:off x="6449059" y="3860800"/>
            <a:ext cx="2248154" cy="1577594"/>
          </a:xfrm>
          <a:prstGeom prst="rect">
            <a:avLst/>
          </a:prstGeom>
          <a:blipFill rotWithShape="1">
            <a:blip r:embed="rId9">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482" name="Google Shape;482;p34"/>
          <p:cNvSpPr/>
          <p:nvPr/>
        </p:nvSpPr>
        <p:spPr>
          <a:xfrm>
            <a:off x="8826500" y="3860800"/>
            <a:ext cx="2248154" cy="1577594"/>
          </a:xfrm>
          <a:prstGeom prst="rect">
            <a:avLst/>
          </a:prstGeom>
          <a:blipFill rotWithShape="1">
            <a:blip r:embed="rId10">
              <a:alphaModFix/>
            </a:blip>
            <a:stretch>
              <a:fillRect b="0" l="0" r="0" t="0"/>
            </a:stretch>
          </a:blip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